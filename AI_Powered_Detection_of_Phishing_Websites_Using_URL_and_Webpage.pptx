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embeddedFontLst>
    <p:embeddedFont>
      <p:font typeface="Source Sans 3"/>
      <p:regular r:id="rId201314"/>
    </p:embeddedFont>
    <p:embeddedFont>
      <p:font typeface="Source Sans 3 Bold"/>
      <p:regular r:id="rId201315"/>
    </p:embeddedFont>
    <p:embeddedFont>
      <p:font typeface="Source Serif 4 SemiBold"/>
      <p:regular r:id="rId201316"/>
    </p:embeddedFont>
    <p:embeddedFont>
      <p:font typeface="Source Serif 4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3-2.png"/><Relationship Id="rId3" Type="http://schemas.openxmlformats.org/officeDocument/2006/relationships/image" Target="../media/image-1003-3.jpeg"/><Relationship Id="rId4" Type="http://schemas.openxmlformats.org/officeDocument/2006/relationships/image" Target="../media/image-1002-2.png"/><Relationship Id="rId6"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FFF">
              <a:alpha val="85000"/>
            </a:srgbClr>
          </a:solidFill>
          <a:ln/>
        </p:spPr>
      </p:sp>
      <p:sp>
        <p:nvSpPr>
          <p:cNvPr id="6" name="Shape 2"/>
          <p:cNvSpPr/>
          <p:nvPr/>
        </p:nvSpPr>
        <p:spPr>
          <a:xfrm>
            <a:off x="0" y="0"/>
            <a:ext cx="12191695" cy="6858000"/>
          </a:xfrm>
          <a:prstGeom prst="rect">
            <a:avLst/>
          </a:prstGeom>
          <a:solidFill>
            <a:srgbClr val="DFDFE0"/>
          </a:solidFill>
          <a:ln/>
        </p:spPr>
      </p:sp>
      <p:pic>
        <p:nvPicPr>
          <p:cNvPr id="7" name="Image 2" descr="preencoded.png">    </p:cNvPr>
          <p:cNvPicPr>
            <a:picLocks noChangeAspect="1"/>
          </p:cNvPicPr>
          <p:nvPr/>
        </p:nvPicPr>
        <p:blipFill>
          <a:blip r:embed="rId3"/>
          <a:stretch>
            <a:fillRect/>
          </a:stretch>
        </p:blipFill>
        <p:spPr>
          <a:xfrm>
            <a:off x="0" y="0"/>
            <a:ext cx="12191695" cy="6858000"/>
          </a:xfrm>
          <a:prstGeom prst="rect">
            <a:avLst/>
          </a:prstGeom>
        </p:spPr>
      </p:pic>
      <p:pic>
        <p:nvPicPr>
          <p:cNvPr id="8" name="Image 3" descr="preencoded.png">
            <a:hlinkClick r:id="rId5" tooltip=""/>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7.png"/><Relationship Id="rId10" Type="http://schemas.openxmlformats.org/officeDocument/2006/relationships/image" Target="../media/image-3-8.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5.png"/><Relationship Id="rId8" Type="http://schemas.openxmlformats.org/officeDocument/2006/relationships/image" Target="../media/image-6-6.sv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1.png"/><Relationship Id="rId4" Type="http://schemas.openxmlformats.org/officeDocument/2006/relationships/image" Target="../media/image-15-2.svg"/><Relationship Id="rId5" Type="http://schemas.openxmlformats.org/officeDocument/2006/relationships/image" Target="../media/image-15-1.png"/><Relationship Id="rId6" Type="http://schemas.openxmlformats.org/officeDocument/2006/relationships/image" Target="../media/image-15-2.svg"/><Relationship Id="rId7" Type="http://schemas.openxmlformats.org/officeDocument/2006/relationships/image" Target="../media/image-15-1.png"/><Relationship Id="rId8" Type="http://schemas.openxmlformats.org/officeDocument/2006/relationships/image" Target="../media/image-15-2.svg"/><Relationship Id="rId9" Type="http://schemas.openxmlformats.org/officeDocument/2006/relationships/image" Target="../media/image-15-9.jpeg"/><Relationship Id="rId10" Type="http://schemas.openxmlformats.org/officeDocument/2006/relationships/image" Target="../media/image-15-10.jpeg"/><Relationship Id="rId11" Type="http://schemas.openxmlformats.org/officeDocument/2006/relationships/slideLayout" Target="../slideLayouts/slideLayout2.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3.png"/><Relationship Id="rId6" Type="http://schemas.openxmlformats.org/officeDocument/2006/relationships/image" Target="../media/image-16-4.sv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1.png"/><Relationship Id="rId4" Type="http://schemas.openxmlformats.org/officeDocument/2006/relationships/image" Target="../media/image-17-2.svg"/><Relationship Id="rId5" Type="http://schemas.openxmlformats.org/officeDocument/2006/relationships/image" Target="../media/image-17-1.png"/><Relationship Id="rId6" Type="http://schemas.openxmlformats.org/officeDocument/2006/relationships/image" Target="../media/image-17-2.svg"/><Relationship Id="rId7" Type="http://schemas.openxmlformats.org/officeDocument/2006/relationships/image" Target="../media/image-17-1.png"/><Relationship Id="rId8" Type="http://schemas.openxmlformats.org/officeDocument/2006/relationships/image" Target="../media/image-17-2.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image" Target="../media/image-17-9.png"/><Relationship Id="rId12" Type="http://schemas.openxmlformats.org/officeDocument/2006/relationships/image" Target="../media/image-17-10.svg"/><Relationship Id="rId13" Type="http://schemas.openxmlformats.org/officeDocument/2006/relationships/slideLayout" Target="../slideLayouts/slideLayout2.xml"/><Relationship Id="rId1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pic>
        <p:nvPicPr>
          <p:cNvPr id="3" name="Image 1" descr="preencoded.png">    </p:cNvPr>
          <p:cNvPicPr>
            <a:picLocks noChangeAspect="1"/>
          </p:cNvPicPr>
          <p:nvPr/>
        </p:nvPicPr>
        <p:blipFill>
          <a:blip r:embed="rId2"/>
          <a:stretch>
            <a:fillRect/>
          </a:stretch>
        </p:blipFill>
        <p:spPr>
          <a:xfrm>
            <a:off x="698086" y="769838"/>
            <a:ext cx="1219368" cy="633115"/>
          </a:xfrm>
          <a:prstGeom prst="rect">
            <a:avLst/>
          </a:prstGeom>
        </p:spPr>
      </p:pic>
      <p:sp>
        <p:nvSpPr>
          <p:cNvPr id="4" name="Text 0"/>
          <p:cNvSpPr/>
          <p:nvPr/>
        </p:nvSpPr>
        <p:spPr>
          <a:xfrm>
            <a:off x="698086" y="1847949"/>
            <a:ext cx="6223638" cy="1622524"/>
          </a:xfrm>
          <a:prstGeom prst="rect">
            <a:avLst/>
          </a:prstGeom>
          <a:noFill/>
          <a:ln/>
        </p:spPr>
        <p:txBody>
          <a:bodyPr wrap="square" lIns="0" tIns="0" rIns="0" bIns="0" rtlCol="0" anchor="t">
            <a:normAutofit/>
          </a:bodyPr>
          <a:lstStyle/>
          <a:p>
            <a:pPr algn="l" indent="0" marL="0">
              <a:lnSpc>
                <a:spcPct val="104000"/>
              </a:lnSpc>
              <a:buNone/>
            </a:pPr>
            <a:r>
              <a:rPr lang="en-US" sz="3400" spc="-68" kern="0" dirty="0">
                <a:solidFill>
                  <a:srgbClr val="000000"/>
                </a:solidFill>
                <a:latin typeface="Source Serif 4 SemiBold" pitchFamily="34" charset="0"/>
                <a:ea typeface="Source Serif 4 SemiBold" pitchFamily="34" charset="-122"/>
                <a:cs typeface="Source Serif 4 SemiBold" pitchFamily="34" charset="-120"/>
              </a:rPr>
              <a:t>AI-Powered Detection of Phishing Websites Using URL and Webpage Features</a:t>
            </a:r>
            <a:endParaRPr lang="en-US" sz="3400" dirty="0"/>
          </a:p>
        </p:txBody>
      </p:sp>
      <p:sp>
        <p:nvSpPr>
          <p:cNvPr id="5" name="Text 1"/>
          <p:cNvSpPr/>
          <p:nvPr/>
        </p:nvSpPr>
        <p:spPr>
          <a:xfrm>
            <a:off x="698086" y="3724771"/>
            <a:ext cx="6223638" cy="847725"/>
          </a:xfrm>
          <a:prstGeom prst="rect">
            <a:avLst/>
          </a:prstGeom>
          <a:noFill/>
          <a:ln/>
        </p:spPr>
        <p:txBody>
          <a:bodyPr wrap="square" lIns="0" tIns="0" rIns="0" bIns="0" rtlCol="0" anchor="t">
            <a:normAutofit/>
          </a:bodyPr>
          <a:lstStyle/>
          <a:p>
            <a:pPr algn="l" indent="0" marL="0">
              <a:lnSpc>
                <a:spcPct val="128000"/>
              </a:lnSpc>
              <a:buNone/>
            </a:pPr>
            <a:r>
              <a:rPr lang="en-US" sz="1400" b="1" spc="-29" kern="0" dirty="0">
                <a:solidFill>
                  <a:srgbClr val="272525"/>
                </a:solidFill>
                <a:latin typeface="Source Sans 3 Bold" pitchFamily="34" charset="0"/>
                <a:ea typeface="Source Sans 3 Bold" pitchFamily="34" charset="-122"/>
                <a:cs typeface="Source Sans 3 Bold" pitchFamily="34" charset="-120"/>
              </a:rPr>
              <a:t>Research proposal and implementation plan:</a:t>
            </a:r>
            <a:pPr algn="l" indent="0" marL="0">
              <a:lnSpc>
                <a:spcPct val="128000"/>
              </a:lnSpc>
              <a:buNone/>
            </a:pPr>
            <a:r>
              <a:rPr lang="en-US" sz="1400" spc="-29" kern="0" dirty="0">
                <a:solidFill>
                  <a:srgbClr val="272525"/>
                </a:solidFill>
                <a:latin typeface="Source Sans 3" pitchFamily="34" charset="0"/>
                <a:ea typeface="Source Sans 3" pitchFamily="34" charset="-122"/>
                <a:cs typeface="Source Sans 3" pitchFamily="34" charset="-120"/>
              </a:rPr>
              <a:t> a resilient, explainable, incremental learning framework that detects visually deceptive and content-driven phishing attacks while providing per-decision explanations and operational dashboards.</a:t>
            </a:r>
            <a:endParaRPr lang="en-US" sz="1400" dirty="0"/>
          </a:p>
        </p:txBody>
      </p:sp>
      <p:sp>
        <p:nvSpPr>
          <p:cNvPr id="6" name="Shape 2"/>
          <p:cNvSpPr/>
          <p:nvPr/>
        </p:nvSpPr>
        <p:spPr>
          <a:xfrm>
            <a:off x="698086" y="4809133"/>
            <a:ext cx="6223638" cy="25400"/>
          </a:xfrm>
          <a:prstGeom prst="roundRect">
            <a:avLst>
              <a:gd name="adj" fmla="val 49999"/>
            </a:avLst>
          </a:prstGeom>
          <a:solidFill>
            <a:srgbClr val="272525">
              <a:alpha val="50000"/>
            </a:srgbClr>
          </a:solidFill>
          <a:ln/>
        </p:spPr>
      </p:sp>
      <p:sp>
        <p:nvSpPr>
          <p:cNvPr id="7" name="Text 3"/>
          <p:cNvSpPr/>
          <p:nvPr/>
        </p:nvSpPr>
        <p:spPr>
          <a:xfrm>
            <a:off x="698086" y="5134769"/>
            <a:ext cx="6223638" cy="324545"/>
          </a:xfrm>
          <a:prstGeom prst="rect">
            <a:avLst/>
          </a:prstGeom>
          <a:noFill/>
          <a:ln/>
        </p:spPr>
        <p:txBody>
          <a:bodyPr wrap="none" lIns="0" tIns="0" rIns="0" bIns="0" rtlCol="0" anchor="t"/>
          <a:lstStyle/>
          <a:p>
            <a:pPr algn="l" indent="0" marL="0">
              <a:lnSpc>
                <a:spcPct val="104000"/>
              </a:lnSpc>
              <a:buNone/>
            </a:pPr>
            <a:r>
              <a:rPr lang="en-US" sz="2000" spc="-41" kern="0" dirty="0">
                <a:solidFill>
                  <a:srgbClr val="000000"/>
                </a:solidFill>
                <a:latin typeface="Source Serif 4 SemiBold" pitchFamily="34" charset="0"/>
                <a:ea typeface="Source Serif 4 SemiBold" pitchFamily="34" charset="-122"/>
                <a:cs typeface="Source Serif 4 SemiBold" pitchFamily="34" charset="-120"/>
              </a:rPr>
              <a:t>Team Members</a:t>
            </a:r>
            <a:endParaRPr lang="en-US" sz="2000" dirty="0"/>
          </a:p>
        </p:txBody>
      </p:sp>
      <p:sp>
        <p:nvSpPr>
          <p:cNvPr id="8" name="Text 4"/>
          <p:cNvSpPr/>
          <p:nvPr/>
        </p:nvSpPr>
        <p:spPr>
          <a:xfrm>
            <a:off x="698086" y="5713611"/>
            <a:ext cx="6223638" cy="565150"/>
          </a:xfrm>
          <a:prstGeom prst="rect">
            <a:avLst/>
          </a:prstGeom>
          <a:noFill/>
          <a:ln/>
        </p:spPr>
        <p:txBody>
          <a:bodyPr wrap="square" lIns="0" tIns="0" rIns="0" bIns="0" rtlCol="0" anchor="t">
            <a:normAutofit/>
          </a:bodyPr>
          <a:lstStyle/>
          <a:p>
            <a:pPr algn="l" indent="0" marL="0">
              <a:lnSpc>
                <a:spcPct val="128000"/>
              </a:lnSpc>
              <a:buNone/>
            </a:pPr>
            <a:r>
              <a:rPr lang="en-US" sz="1400" spc="-29" kern="0" dirty="0">
                <a:solidFill>
                  <a:srgbClr val="6C63FF"/>
                </a:solidFill>
                <a:latin typeface="Source Sans 3" pitchFamily="34" charset="0"/>
                <a:ea typeface="Source Sans 3" pitchFamily="34" charset="-122"/>
                <a:cs typeface="Source Sans 3" pitchFamily="34" charset="-120"/>
              </a:rPr>
              <a:t>M. Aruna Grace</a:t>
            </a:r>
            <a:pPr algn="l" indent="0" marL="0">
              <a:lnSpc>
                <a:spcPct val="128000"/>
              </a:lnSpc>
              <a:buNone/>
            </a:pPr>
            <a:r>
              <a:rPr lang="en-US" sz="1400" spc="-29" kern="0" dirty="0">
                <a:solidFill>
                  <a:srgbClr val="272525"/>
                </a:solidFill>
                <a:latin typeface="Source Sans 3" pitchFamily="34" charset="0"/>
                <a:ea typeface="Source Sans 3" pitchFamily="34" charset="-122"/>
                <a:cs typeface="Source Sans 3" pitchFamily="34" charset="-120"/>
              </a:rPr>
              <a:t> - 2420030100</a:t>
            </a:r>
            <a:endParaRPr lang="en-US" sz="1400" dirty="0"/>
          </a:p>
          <a:p>
            <a:pPr algn="l" indent="0" marL="0">
              <a:lnSpc>
                <a:spcPct val="128000"/>
              </a:lnSpc>
              <a:buNone/>
            </a:pPr>
            <a:r>
              <a:rPr lang="en-US" sz="1400" spc="-29" kern="0" dirty="0">
                <a:solidFill>
                  <a:srgbClr val="6C63FF"/>
                </a:solidFill>
                <a:latin typeface="Source Sans 3" pitchFamily="34" charset="0"/>
                <a:ea typeface="Source Sans 3" pitchFamily="34" charset="-122"/>
                <a:cs typeface="Source Sans 3" pitchFamily="34" charset="-120"/>
              </a:rPr>
              <a:t>G. Manaswi</a:t>
            </a:r>
            <a:pPr algn="l" indent="0" marL="0">
              <a:lnSpc>
                <a:spcPct val="128000"/>
              </a:lnSpc>
              <a:buNone/>
            </a:pPr>
            <a:r>
              <a:rPr lang="en-US" sz="1400" spc="-29" kern="0" dirty="0">
                <a:solidFill>
                  <a:srgbClr val="272525"/>
                </a:solidFill>
                <a:latin typeface="Source Sans 3" pitchFamily="34" charset="0"/>
                <a:ea typeface="Source Sans 3" pitchFamily="34" charset="-122"/>
                <a:cs typeface="Source Sans 3" pitchFamily="34" charset="-120"/>
              </a:rPr>
              <a:t> - 2420030182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Shape 0"/>
          <p:cNvSpPr/>
          <p:nvPr/>
        </p:nvSpPr>
        <p:spPr>
          <a:xfrm>
            <a:off x="5269971" y="1326059"/>
            <a:ext cx="1645204" cy="303113"/>
          </a:xfrm>
          <a:prstGeom prst="roundRect">
            <a:avLst>
              <a:gd name="adj" fmla="val 22112"/>
            </a:avLst>
          </a:prstGeom>
          <a:noFill/>
          <a:ln w="6350">
            <a:solidFill>
              <a:srgbClr val="BE49DF"/>
            </a:solidFill>
            <a:prstDash val="solid"/>
          </a:ln>
        </p:spPr>
      </p:sp>
      <p:sp>
        <p:nvSpPr>
          <p:cNvPr id="4" name="Text 1"/>
          <p:cNvSpPr/>
          <p:nvPr/>
        </p:nvSpPr>
        <p:spPr>
          <a:xfrm>
            <a:off x="5389626" y="1385887"/>
            <a:ext cx="2015479" cy="183455"/>
          </a:xfrm>
          <a:prstGeom prst="rect">
            <a:avLst/>
          </a:prstGeom>
          <a:noFill/>
          <a:ln/>
        </p:spPr>
        <p:txBody>
          <a:bodyPr wrap="none" lIns="0" tIns="0" rIns="0" bIns="0" rtlCol="0" anchor="t"/>
          <a:lstStyle/>
          <a:p>
            <a:pPr algn="l" indent="0" marL="0">
              <a:lnSpc>
                <a:spcPct val="96000"/>
              </a:lnSpc>
              <a:buNone/>
            </a:pPr>
            <a:r>
              <a:rPr lang="en-US" sz="1250" spc="-31" kern="0" dirty="0">
                <a:solidFill>
                  <a:srgbClr val="BE49DF"/>
                </a:solidFill>
                <a:latin typeface="Source Sans 3" pitchFamily="34" charset="0"/>
                <a:ea typeface="Source Sans 3" pitchFamily="34" charset="-122"/>
                <a:cs typeface="Source Sans 3" pitchFamily="34" charset="-120"/>
              </a:rPr>
              <a:t>PHISHING DETECTION</a:t>
            </a:r>
            <a:endParaRPr lang="en-US" sz="1250" dirty="0"/>
          </a:p>
        </p:txBody>
      </p:sp>
      <p:sp>
        <p:nvSpPr>
          <p:cNvPr id="5" name="Shape 2"/>
          <p:cNvSpPr/>
          <p:nvPr/>
        </p:nvSpPr>
        <p:spPr>
          <a:xfrm>
            <a:off x="7014888" y="1326059"/>
            <a:ext cx="1659194" cy="303113"/>
          </a:xfrm>
          <a:prstGeom prst="roundRect">
            <a:avLst>
              <a:gd name="adj" fmla="val 22112"/>
            </a:avLst>
          </a:prstGeom>
          <a:solidFill>
            <a:srgbClr val="F0D4F7"/>
          </a:solidFill>
          <a:ln/>
        </p:spPr>
      </p:sp>
      <p:sp>
        <p:nvSpPr>
          <p:cNvPr id="6" name="Text 3"/>
          <p:cNvSpPr/>
          <p:nvPr/>
        </p:nvSpPr>
        <p:spPr>
          <a:xfrm>
            <a:off x="7134543" y="1385887"/>
            <a:ext cx="2029469" cy="183455"/>
          </a:xfrm>
          <a:prstGeom prst="rect">
            <a:avLst/>
          </a:prstGeom>
          <a:noFill/>
          <a:ln/>
        </p:spPr>
        <p:txBody>
          <a:bodyPr wrap="none" lIns="0" tIns="0" rIns="0" bIns="0" rtlCol="0" anchor="t"/>
          <a:lstStyle/>
          <a:p>
            <a:pPr algn="l" indent="0" marL="0">
              <a:lnSpc>
                <a:spcPct val="96000"/>
              </a:lnSpc>
              <a:buNone/>
            </a:pPr>
            <a:r>
              <a:rPr lang="en-US" sz="1250" spc="-31" kern="0" dirty="0">
                <a:solidFill>
                  <a:srgbClr val="272525"/>
                </a:solidFill>
                <a:latin typeface="Source Sans 3" pitchFamily="34" charset="0"/>
                <a:ea typeface="Source Sans 3" pitchFamily="34" charset="-122"/>
                <a:cs typeface="Source Sans 3" pitchFamily="34" charset="-120"/>
              </a:rPr>
              <a:t>PROBLEM STATEMENT</a:t>
            </a:r>
            <a:endParaRPr lang="en-US" sz="1250" dirty="0"/>
          </a:p>
        </p:txBody>
      </p:sp>
      <p:sp>
        <p:nvSpPr>
          <p:cNvPr id="7" name="Text 4"/>
          <p:cNvSpPr/>
          <p:nvPr/>
        </p:nvSpPr>
        <p:spPr>
          <a:xfrm>
            <a:off x="5269971" y="1708944"/>
            <a:ext cx="6223638" cy="586680"/>
          </a:xfrm>
          <a:prstGeom prst="rect">
            <a:avLst/>
          </a:prstGeom>
          <a:noFill/>
          <a:ln/>
        </p:spPr>
        <p:txBody>
          <a:bodyPr wrap="none" lIns="0" tIns="0" rIns="0" bIns="0" rtlCol="0" anchor="t"/>
          <a:lstStyle/>
          <a:p>
            <a:pPr algn="l" indent="0" marL="0">
              <a:lnSpc>
                <a:spcPct val="104000"/>
              </a:lnSpc>
              <a:buNone/>
            </a:pPr>
            <a:r>
              <a:rPr lang="en-US" sz="3650" b="1" spc="-74" kern="0" dirty="0">
                <a:solidFill>
                  <a:srgbClr val="000000"/>
                </a:solidFill>
                <a:latin typeface="Source Serif 4 Bold" pitchFamily="34" charset="0"/>
                <a:ea typeface="Source Serif 4 Bold" pitchFamily="34" charset="-122"/>
                <a:cs typeface="Source Serif 4 Bold" pitchFamily="34" charset="-120"/>
              </a:rPr>
              <a:t>Problem Statement</a:t>
            </a:r>
            <a:endParaRPr lang="en-US" sz="3650" dirty="0"/>
          </a:p>
        </p:txBody>
      </p:sp>
      <p:sp>
        <p:nvSpPr>
          <p:cNvPr id="8" name="Text 5"/>
          <p:cNvSpPr/>
          <p:nvPr/>
        </p:nvSpPr>
        <p:spPr>
          <a:xfrm>
            <a:off x="5269971" y="2594769"/>
            <a:ext cx="6223638" cy="1595934"/>
          </a:xfrm>
          <a:prstGeom prst="rect">
            <a:avLst/>
          </a:prstGeom>
          <a:noFill/>
          <a:ln/>
        </p:spPr>
        <p:txBody>
          <a:bodyPr wrap="square" lIns="0" tIns="0" rIns="0" bIns="0" rtlCol="0" anchor="t">
            <a:normAutofit/>
          </a:bodyPr>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Phishing sites evolve quickly and exploit </a:t>
            </a:r>
            <a:pPr algn="l" indent="0" marL="0">
              <a:lnSpc>
                <a:spcPct val="133000"/>
              </a:lnSpc>
              <a:buNone/>
            </a:pPr>
            <a:r>
              <a:rPr lang="en-US" sz="1550" b="1" spc="-31" kern="0" dirty="0">
                <a:solidFill>
                  <a:srgbClr val="272525"/>
                </a:solidFill>
                <a:latin typeface="Source Sans 3 Bold" pitchFamily="34" charset="0"/>
                <a:ea typeface="Source Sans 3 Bold" pitchFamily="34" charset="-122"/>
                <a:cs typeface="Source Sans 3 Bold" pitchFamily="34" charset="-120"/>
              </a:rPr>
              <a:t>visual deception</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 (</a:t>
            </a:r>
            <a:pPr algn="l" indent="0" marL="0">
              <a:lnSpc>
                <a:spcPct val="133000"/>
              </a:lnSpc>
              <a:buNone/>
            </a:pPr>
            <a:r>
              <a:rPr lang="en-US" sz="1550" i="1" spc="-31" kern="0" dirty="0">
                <a:solidFill>
                  <a:srgbClr val="272525"/>
                </a:solidFill>
                <a:latin typeface="Source Sans 3" pitchFamily="34" charset="0"/>
                <a:ea typeface="Source Sans 3" pitchFamily="34" charset="-122"/>
                <a:cs typeface="Source Sans 3" pitchFamily="34" charset="-120"/>
              </a:rPr>
              <a:t>homographs, punycode, zero-width characters</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 </a:t>
            </a:r>
            <a:pPr algn="l" indent="0" marL="0">
              <a:lnSpc>
                <a:spcPct val="133000"/>
              </a:lnSpc>
              <a:buNone/>
            </a:pPr>
            <a:r>
              <a:rPr lang="en-US" sz="1550" b="1" spc="-31" kern="0" dirty="0">
                <a:solidFill>
                  <a:srgbClr val="272525"/>
                </a:solidFill>
                <a:latin typeface="Source Sans 3 Bold" pitchFamily="34" charset="0"/>
                <a:ea typeface="Source Sans 3 Bold" pitchFamily="34" charset="-122"/>
                <a:cs typeface="Source Sans 3 Bold" pitchFamily="34" charset="-120"/>
              </a:rPr>
              <a:t>domain perturbations</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 (</a:t>
            </a:r>
            <a:pPr algn="l" indent="0" marL="0">
              <a:lnSpc>
                <a:spcPct val="133000"/>
              </a:lnSpc>
              <a:buNone/>
            </a:pPr>
            <a:r>
              <a:rPr lang="en-US" sz="1550" i="1" spc="-31" kern="0" dirty="0">
                <a:solidFill>
                  <a:srgbClr val="272525"/>
                </a:solidFill>
                <a:latin typeface="Source Sans 3" pitchFamily="34" charset="0"/>
                <a:ea typeface="Source Sans 3" pitchFamily="34" charset="-122"/>
                <a:cs typeface="Source Sans 3" pitchFamily="34" charset="-120"/>
              </a:rPr>
              <a:t>bit‑squatting, combo‑squatting</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 and </a:t>
            </a:r>
            <a:pPr algn="l" indent="0" marL="0">
              <a:lnSpc>
                <a:spcPct val="133000"/>
              </a:lnSpc>
              <a:buNone/>
            </a:pPr>
            <a:r>
              <a:rPr lang="en-US" sz="1550" b="1" spc="-31" kern="0" dirty="0">
                <a:solidFill>
                  <a:srgbClr val="272525"/>
                </a:solidFill>
                <a:latin typeface="Source Sans 3 Bold" pitchFamily="34" charset="0"/>
                <a:ea typeface="Source Sans 3 Bold" pitchFamily="34" charset="-122"/>
                <a:cs typeface="Source Sans 3 Bold" pitchFamily="34" charset="-120"/>
              </a:rPr>
              <a:t>content tricks</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 to bypass static detectors and blacklists. Existing systems either stale out or lack explainability and real‑time adaptability.</a:t>
            </a:r>
            <a:endParaRPr lang="en-US" sz="1550" dirty="0"/>
          </a:p>
        </p:txBody>
      </p:sp>
      <p:sp>
        <p:nvSpPr>
          <p:cNvPr id="9" name="Shape 6"/>
          <p:cNvSpPr/>
          <p:nvPr/>
        </p:nvSpPr>
        <p:spPr>
          <a:xfrm>
            <a:off x="5269971" y="4415036"/>
            <a:ext cx="6223638" cy="1116905"/>
          </a:xfrm>
          <a:prstGeom prst="roundRect">
            <a:avLst>
              <a:gd name="adj" fmla="val 7501"/>
            </a:avLst>
          </a:prstGeom>
          <a:solidFill>
            <a:srgbClr val="F0D4F7"/>
          </a:solidFill>
          <a:ln/>
        </p:spPr>
      </p:sp>
      <p:pic>
        <p:nvPicPr>
          <p:cNvPr id="10" name="Image 1" descr="preencoded.png">    </p:cNvPr>
          <p:cNvPicPr>
            <a:picLocks noChangeAspect="1"/>
          </p:cNvPicPr>
          <p:nvPr/>
        </p:nvPicPr>
        <p:blipFill>
          <a:blip r:embed="rId2"/>
          <a:stretch>
            <a:fillRect/>
          </a:stretch>
        </p:blipFill>
        <p:spPr>
          <a:xfrm>
            <a:off x="5469396" y="4705648"/>
            <a:ext cx="249330" cy="199430"/>
          </a:xfrm>
          <a:prstGeom prst="rect">
            <a:avLst/>
          </a:prstGeom>
        </p:spPr>
      </p:pic>
      <p:sp>
        <p:nvSpPr>
          <p:cNvPr id="11" name="Text 7"/>
          <p:cNvSpPr/>
          <p:nvPr/>
        </p:nvSpPr>
        <p:spPr>
          <a:xfrm>
            <a:off x="5918151" y="4664273"/>
            <a:ext cx="5376033" cy="638373"/>
          </a:xfrm>
          <a:prstGeom prst="rect">
            <a:avLst/>
          </a:prstGeom>
          <a:noFill/>
          <a:ln/>
        </p:spPr>
        <p:txBody>
          <a:bodyPr wrap="square" lIns="0" tIns="0" rIns="0" bIns="0" rtlCol="0" anchor="t">
            <a:normAutofit/>
          </a:bodyPr>
          <a:lstStyle/>
          <a:p>
            <a:pPr algn="l" indent="0" marL="0">
              <a:lnSpc>
                <a:spcPct val="133000"/>
              </a:lnSpc>
              <a:buNone/>
            </a:pPr>
            <a:r>
              <a:rPr lang="en-US" sz="1550" b="1" spc="-31" kern="0" dirty="0">
                <a:solidFill>
                  <a:srgbClr val="000000"/>
                </a:solidFill>
                <a:latin typeface="Source Sans 3 Bold" pitchFamily="34" charset="0"/>
                <a:ea typeface="Source Sans 3 Bold" pitchFamily="34" charset="-122"/>
                <a:cs typeface="Source Sans 3 Bold" pitchFamily="34" charset="-120"/>
              </a:rPr>
              <a:t>Goal:</a:t>
            </a:r>
            <a:pPr algn="l" indent="0" marL="0">
              <a:lnSpc>
                <a:spcPct val="133000"/>
              </a:lnSpc>
              <a:buNone/>
            </a:pPr>
            <a:r>
              <a:rPr lang="en-US" sz="1550" spc="-31" kern="0" dirty="0">
                <a:solidFill>
                  <a:srgbClr val="000000"/>
                </a:solidFill>
                <a:latin typeface="Source Sans 3" pitchFamily="34" charset="0"/>
                <a:ea typeface="Source Sans 3" pitchFamily="34" charset="-122"/>
                <a:cs typeface="Source Sans 3" pitchFamily="34" charset="-120"/>
              </a:rPr>
              <a:t> detect new and visually deceptive phishing attacks with explainable, adaptive ML.</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98086" y="591046"/>
            <a:ext cx="1301618" cy="227211"/>
          </a:xfrm>
          <a:prstGeom prst="roundRect">
            <a:avLst>
              <a:gd name="adj" fmla="val 22124"/>
            </a:avLst>
          </a:prstGeom>
          <a:solidFill>
            <a:srgbClr val="F0D4F7"/>
          </a:solidFill>
          <a:ln/>
        </p:spPr>
      </p:sp>
      <p:sp>
        <p:nvSpPr>
          <p:cNvPr id="3" name="Text 1"/>
          <p:cNvSpPr/>
          <p:nvPr/>
        </p:nvSpPr>
        <p:spPr>
          <a:xfrm>
            <a:off x="787777" y="635893"/>
            <a:ext cx="1731820" cy="137517"/>
          </a:xfrm>
          <a:prstGeom prst="rect">
            <a:avLst/>
          </a:prstGeom>
          <a:noFill/>
          <a:ln/>
        </p:spPr>
        <p:txBody>
          <a:bodyPr wrap="none" lIns="0" tIns="0" rIns="0" bIns="0" rtlCol="0" anchor="t"/>
          <a:lstStyle/>
          <a:p>
            <a:pPr algn="l" indent="0" marL="0">
              <a:lnSpc>
                <a:spcPct val="96000"/>
              </a:lnSpc>
              <a:buNone/>
            </a:pPr>
            <a:r>
              <a:rPr lang="en-US" sz="900" spc="-24" kern="0" dirty="0">
                <a:solidFill>
                  <a:srgbClr val="272525"/>
                </a:solidFill>
                <a:latin typeface="Source Sans 3" pitchFamily="34" charset="0"/>
                <a:ea typeface="Source Sans 3" pitchFamily="34" charset="-122"/>
                <a:cs typeface="Source Sans 3" pitchFamily="34" charset="-120"/>
              </a:rPr>
              <a:t>RESEARCH OBJECTIVES</a:t>
            </a:r>
            <a:endParaRPr lang="en-US" sz="900" dirty="0"/>
          </a:p>
        </p:txBody>
      </p:sp>
      <p:sp>
        <p:nvSpPr>
          <p:cNvPr id="4" name="Text 2"/>
          <p:cNvSpPr/>
          <p:nvPr/>
        </p:nvSpPr>
        <p:spPr>
          <a:xfrm>
            <a:off x="698086" y="863104"/>
            <a:ext cx="10795524" cy="440035"/>
          </a:xfrm>
          <a:prstGeom prst="rect">
            <a:avLst/>
          </a:prstGeom>
          <a:noFill/>
          <a:ln/>
        </p:spPr>
        <p:txBody>
          <a:bodyPr wrap="none" lIns="0" tIns="0" rIns="0" bIns="0" rtlCol="0" anchor="t"/>
          <a:lstStyle/>
          <a:p>
            <a:pPr algn="l" indent="0" marL="0">
              <a:lnSpc>
                <a:spcPct val="104000"/>
              </a:lnSpc>
              <a:buNone/>
            </a:pPr>
            <a:r>
              <a:rPr lang="en-US" sz="2750" spc="-55" kern="0" dirty="0">
                <a:solidFill>
                  <a:srgbClr val="000000"/>
                </a:solidFill>
                <a:latin typeface="Source Serif 4 SemiBold" pitchFamily="34" charset="0"/>
                <a:ea typeface="Source Serif 4 SemiBold" pitchFamily="34" charset="-122"/>
                <a:cs typeface="Source Serif 4 SemiBold" pitchFamily="34" charset="-120"/>
              </a:rPr>
              <a:t>Research Objectives</a:t>
            </a:r>
            <a:endParaRPr lang="en-US" sz="2750" dirty="0"/>
          </a:p>
        </p:txBody>
      </p:sp>
      <p:sp>
        <p:nvSpPr>
          <p:cNvPr id="5" name="Text 3"/>
          <p:cNvSpPr/>
          <p:nvPr/>
        </p:nvSpPr>
        <p:spPr>
          <a:xfrm>
            <a:off x="698086" y="1471414"/>
            <a:ext cx="11405108" cy="209451"/>
          </a:xfrm>
          <a:prstGeom prst="rect">
            <a:avLst/>
          </a:prstGeom>
          <a:noFill/>
          <a:ln/>
        </p:spPr>
        <p:txBody>
          <a:bodyPr wrap="none" lIns="0" tIns="0" rIns="0" bIns="0" rtlCol="0" anchor="t"/>
          <a:lstStyle/>
          <a:p>
            <a:pPr algn="l" indent="0" marL="0">
              <a:lnSpc>
                <a:spcPct val="117000"/>
              </a:lnSpc>
              <a:buNone/>
            </a:pPr>
            <a:r>
              <a:rPr lang="en-US" sz="1150" spc="-24" kern="0" dirty="0">
                <a:solidFill>
                  <a:srgbClr val="272525"/>
                </a:solidFill>
                <a:latin typeface="Source Sans 3" pitchFamily="34" charset="0"/>
                <a:ea typeface="Source Sans 3" pitchFamily="34" charset="-122"/>
                <a:cs typeface="Source Sans 3" pitchFamily="34" charset="-120"/>
              </a:rPr>
              <a:t>Our research focuses on addressing critical challenges in phishing detection through a comprehensive approach outlined by the following key objectives.</a:t>
            </a:r>
            <a:endParaRPr lang="en-US" sz="11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807071"/>
            <a:ext cx="3523765" cy="2388592"/>
          </a:xfrm>
          <a:prstGeom prst="rect">
            <a:avLst/>
          </a:prstGeom>
        </p:spPr>
      </p:pic>
      <p:sp>
        <p:nvSpPr>
          <p:cNvPr id="7" name="Text 4"/>
          <p:cNvSpPr/>
          <p:nvPr/>
        </p:nvSpPr>
        <p:spPr>
          <a:xfrm>
            <a:off x="2370227" y="1919288"/>
            <a:ext cx="179482" cy="224334"/>
          </a:xfrm>
          <a:prstGeom prst="rect">
            <a:avLst/>
          </a:prstGeom>
          <a:noFill/>
          <a:ln/>
        </p:spPr>
        <p:txBody>
          <a:bodyPr wrap="none" lIns="0" tIns="0" rIns="0" bIns="0" rtlCol="0" anchor="ctr"/>
          <a:lstStyle/>
          <a:p>
            <a:pPr algn="ctr" indent="0" marL="0">
              <a:lnSpc>
                <a:spcPct val="100000"/>
              </a:lnSpc>
              <a:buNone/>
            </a:pPr>
            <a:r>
              <a:rPr lang="en-US" sz="1400" spc="-24" kern="0" dirty="0">
                <a:solidFill>
                  <a:srgbClr val="FFFFFF"/>
                </a:solidFill>
                <a:latin typeface="Source Serif 4 SemiBold" pitchFamily="34" charset="0"/>
                <a:ea typeface="Source Serif 4 SemiBold" pitchFamily="34" charset="-122"/>
                <a:cs typeface="Source Serif 4 SemiBold" pitchFamily="34" charset="-120"/>
              </a:rPr>
              <a:t>1</a:t>
            </a:r>
            <a:endParaRPr lang="en-US" sz="1400" dirty="0"/>
          </a:p>
        </p:txBody>
      </p:sp>
      <p:sp>
        <p:nvSpPr>
          <p:cNvPr id="8" name="Text 5"/>
          <p:cNvSpPr/>
          <p:nvPr/>
        </p:nvSpPr>
        <p:spPr>
          <a:xfrm>
            <a:off x="866654" y="2405360"/>
            <a:ext cx="3186628" cy="219968"/>
          </a:xfrm>
          <a:prstGeom prst="rect">
            <a:avLst/>
          </a:prstGeom>
          <a:noFill/>
          <a:ln/>
        </p:spPr>
        <p:txBody>
          <a:bodyPr wrap="none" lIns="0" tIns="0" rIns="0" bIns="0" rtlCol="0" anchor="t"/>
          <a:lstStyle/>
          <a:p>
            <a:pPr algn="l" indent="0" marL="0">
              <a:lnSpc>
                <a:spcPct val="104000"/>
              </a:lnSpc>
              <a:buNone/>
            </a:pPr>
            <a:r>
              <a:rPr lang="en-US" sz="1350" spc="-28" kern="0" dirty="0">
                <a:solidFill>
                  <a:srgbClr val="272525"/>
                </a:solidFill>
                <a:latin typeface="Source Serif 4 SemiBold" pitchFamily="34" charset="0"/>
                <a:ea typeface="Source Serif 4 SemiBold" pitchFamily="34" charset="-122"/>
                <a:cs typeface="Source Serif 4 SemiBold" pitchFamily="34" charset="-120"/>
              </a:rPr>
              <a:t>Heterogeneous Feature Integration</a:t>
            </a:r>
            <a:endParaRPr lang="en-US" sz="1350" dirty="0"/>
          </a:p>
        </p:txBody>
      </p:sp>
      <p:sp>
        <p:nvSpPr>
          <p:cNvPr id="9" name="Text 6"/>
          <p:cNvSpPr/>
          <p:nvPr/>
        </p:nvSpPr>
        <p:spPr>
          <a:xfrm>
            <a:off x="866654" y="2692598"/>
            <a:ext cx="3186628" cy="1114524"/>
          </a:xfrm>
          <a:prstGeom prst="rect">
            <a:avLst/>
          </a:prstGeom>
          <a:noFill/>
          <a:ln/>
        </p:spPr>
        <p:txBody>
          <a:bodyPr wrap="square" lIns="0" tIns="0" rIns="0" bIns="0" rtlCol="0" anchor="t">
            <a:normAutofit/>
          </a:bodyPr>
          <a:lstStyle/>
          <a:p>
            <a:pPr algn="l" indent="0" marL="0">
              <a:lnSpc>
                <a:spcPct val="117000"/>
              </a:lnSpc>
              <a:spcAft>
                <a:spcPts val="500"/>
              </a:spcAft>
              <a:buNone/>
            </a:pPr>
            <a:r>
              <a:rPr lang="en-US" sz="1150" spc="-24" kern="0" dirty="0">
                <a:solidFill>
                  <a:srgbClr val="272525"/>
                </a:solidFill>
                <a:latin typeface="Source Sans 3" pitchFamily="34" charset="0"/>
                <a:ea typeface="Source Sans 3" pitchFamily="34" charset="-122"/>
                <a:cs typeface="Source Sans 3" pitchFamily="34" charset="-120"/>
              </a:rPr>
              <a:t>To develop PhishXpert, a neural evidence-fusion architecture that independently learns URL-level and HTML-level representations and integrates them for phishing website detection.</a:t>
            </a:r>
            <a:endParaRPr lang="en-US" sz="11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3965" y="1807071"/>
            <a:ext cx="3523765" cy="2388592"/>
          </a:xfrm>
          <a:prstGeom prst="rect">
            <a:avLst/>
          </a:prstGeom>
        </p:spPr>
      </p:pic>
      <p:sp>
        <p:nvSpPr>
          <p:cNvPr id="11" name="Text 7"/>
          <p:cNvSpPr/>
          <p:nvPr/>
        </p:nvSpPr>
        <p:spPr>
          <a:xfrm>
            <a:off x="6006106" y="1919288"/>
            <a:ext cx="179482" cy="224334"/>
          </a:xfrm>
          <a:prstGeom prst="rect">
            <a:avLst/>
          </a:prstGeom>
          <a:noFill/>
          <a:ln/>
        </p:spPr>
        <p:txBody>
          <a:bodyPr wrap="none" lIns="0" tIns="0" rIns="0" bIns="0" rtlCol="0" anchor="ctr"/>
          <a:lstStyle/>
          <a:p>
            <a:pPr algn="ctr" indent="0" marL="0">
              <a:lnSpc>
                <a:spcPct val="100000"/>
              </a:lnSpc>
              <a:buNone/>
            </a:pPr>
            <a:r>
              <a:rPr lang="en-US" sz="1400" spc="-24" kern="0" dirty="0">
                <a:solidFill>
                  <a:srgbClr val="FFFFFF"/>
                </a:solidFill>
                <a:latin typeface="Source Serif 4 SemiBold" pitchFamily="34" charset="0"/>
                <a:ea typeface="Source Serif 4 SemiBold" pitchFamily="34" charset="-122"/>
                <a:cs typeface="Source Serif 4 SemiBold" pitchFamily="34" charset="-120"/>
              </a:rPr>
              <a:t>2</a:t>
            </a:r>
            <a:endParaRPr lang="en-US" sz="1400" dirty="0"/>
          </a:p>
        </p:txBody>
      </p:sp>
      <p:sp>
        <p:nvSpPr>
          <p:cNvPr id="12" name="Text 8"/>
          <p:cNvSpPr/>
          <p:nvPr/>
        </p:nvSpPr>
        <p:spPr>
          <a:xfrm>
            <a:off x="4502533" y="2405360"/>
            <a:ext cx="3186628" cy="439936"/>
          </a:xfrm>
          <a:prstGeom prst="rect">
            <a:avLst/>
          </a:prstGeom>
          <a:noFill/>
          <a:ln/>
        </p:spPr>
        <p:txBody>
          <a:bodyPr wrap="square" lIns="0" tIns="0" rIns="0" bIns="0" rtlCol="0" anchor="t">
            <a:normAutofit/>
          </a:bodyPr>
          <a:lstStyle/>
          <a:p>
            <a:pPr algn="l" indent="0" marL="0">
              <a:lnSpc>
                <a:spcPct val="104000"/>
              </a:lnSpc>
              <a:buNone/>
            </a:pPr>
            <a:r>
              <a:rPr lang="en-US" sz="1350" spc="-28" kern="0" dirty="0">
                <a:solidFill>
                  <a:srgbClr val="272525"/>
                </a:solidFill>
                <a:latin typeface="Source Serif 4 SemiBold" pitchFamily="34" charset="0"/>
                <a:ea typeface="Source Serif 4 SemiBold" pitchFamily="34" charset="-122"/>
                <a:cs typeface="Source Serif 4 SemiBold" pitchFamily="34" charset="-120"/>
              </a:rPr>
              <a:t>Cross-Dataset and Unseen-Domain Generalization</a:t>
            </a:r>
            <a:endParaRPr lang="en-US" sz="1350" dirty="0"/>
          </a:p>
        </p:txBody>
      </p:sp>
      <p:sp>
        <p:nvSpPr>
          <p:cNvPr id="13" name="Text 9"/>
          <p:cNvSpPr/>
          <p:nvPr/>
        </p:nvSpPr>
        <p:spPr>
          <a:xfrm>
            <a:off x="4502533" y="2912566"/>
            <a:ext cx="3186628" cy="1114524"/>
          </a:xfrm>
          <a:prstGeom prst="rect">
            <a:avLst/>
          </a:prstGeom>
          <a:noFill/>
          <a:ln/>
        </p:spPr>
        <p:txBody>
          <a:bodyPr wrap="square" lIns="0" tIns="0" rIns="0" bIns="0" rtlCol="0" anchor="t">
            <a:normAutofit/>
          </a:bodyPr>
          <a:lstStyle/>
          <a:p>
            <a:pPr algn="l" indent="0" marL="0">
              <a:lnSpc>
                <a:spcPct val="117000"/>
              </a:lnSpc>
              <a:spcAft>
                <a:spcPts val="500"/>
              </a:spcAft>
              <a:buNone/>
            </a:pPr>
            <a:r>
              <a:rPr lang="en-US" sz="1150" spc="-24" kern="0" dirty="0">
                <a:solidFill>
                  <a:srgbClr val="272525"/>
                </a:solidFill>
                <a:latin typeface="Source Sans 3" pitchFamily="34" charset="0"/>
                <a:ea typeface="Source Sans 3" pitchFamily="34" charset="-122"/>
                <a:cs typeface="Source Sans 3" pitchFamily="34" charset="-120"/>
              </a:rPr>
              <a:t>To evaluate the proposed framework across D1 and CompPhish datasets, including domain-separated evaluation, to assess its ability to generalize to previously unseen phishing and legitimate domains.</a:t>
            </a:r>
            <a:endParaRPr lang="en-US" sz="115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69844" y="1807071"/>
            <a:ext cx="3523765" cy="2388592"/>
          </a:xfrm>
          <a:prstGeom prst="rect">
            <a:avLst/>
          </a:prstGeom>
        </p:spPr>
      </p:pic>
      <p:sp>
        <p:nvSpPr>
          <p:cNvPr id="15" name="Text 10"/>
          <p:cNvSpPr/>
          <p:nvPr/>
        </p:nvSpPr>
        <p:spPr>
          <a:xfrm>
            <a:off x="9641986" y="1919288"/>
            <a:ext cx="179482" cy="224334"/>
          </a:xfrm>
          <a:prstGeom prst="rect">
            <a:avLst/>
          </a:prstGeom>
          <a:noFill/>
          <a:ln/>
        </p:spPr>
        <p:txBody>
          <a:bodyPr wrap="none" lIns="0" tIns="0" rIns="0" bIns="0" rtlCol="0" anchor="ctr"/>
          <a:lstStyle/>
          <a:p>
            <a:pPr algn="ctr" indent="0" marL="0">
              <a:lnSpc>
                <a:spcPct val="100000"/>
              </a:lnSpc>
              <a:buNone/>
            </a:pPr>
            <a:r>
              <a:rPr lang="en-US" sz="1400" spc="-24" kern="0" dirty="0">
                <a:solidFill>
                  <a:srgbClr val="FFFFFF"/>
                </a:solidFill>
                <a:latin typeface="Source Serif 4 SemiBold" pitchFamily="34" charset="0"/>
                <a:ea typeface="Source Serif 4 SemiBold" pitchFamily="34" charset="-122"/>
                <a:cs typeface="Source Serif 4 SemiBold" pitchFamily="34" charset="-120"/>
              </a:rPr>
              <a:t>3</a:t>
            </a:r>
            <a:endParaRPr lang="en-US" sz="1400" dirty="0"/>
          </a:p>
        </p:txBody>
      </p:sp>
      <p:sp>
        <p:nvSpPr>
          <p:cNvPr id="16" name="Text 11"/>
          <p:cNvSpPr/>
          <p:nvPr/>
        </p:nvSpPr>
        <p:spPr>
          <a:xfrm>
            <a:off x="8138413" y="2405360"/>
            <a:ext cx="3186628" cy="439936"/>
          </a:xfrm>
          <a:prstGeom prst="rect">
            <a:avLst/>
          </a:prstGeom>
          <a:noFill/>
          <a:ln/>
        </p:spPr>
        <p:txBody>
          <a:bodyPr wrap="square" lIns="0" tIns="0" rIns="0" bIns="0" rtlCol="0" anchor="t">
            <a:normAutofit/>
          </a:bodyPr>
          <a:lstStyle/>
          <a:p>
            <a:pPr algn="l" indent="0" marL="0">
              <a:lnSpc>
                <a:spcPct val="104000"/>
              </a:lnSpc>
              <a:buNone/>
            </a:pPr>
            <a:r>
              <a:rPr lang="en-US" sz="1350" spc="-28" kern="0" dirty="0">
                <a:solidFill>
                  <a:srgbClr val="272525"/>
                </a:solidFill>
                <a:latin typeface="Source Serif 4 SemiBold" pitchFamily="34" charset="0"/>
                <a:ea typeface="Source Serif 4 SemiBold" pitchFamily="34" charset="-122"/>
                <a:cs typeface="Source Serif 4 SemiBold" pitchFamily="34" charset="-120"/>
              </a:rPr>
              <a:t>Explainable and Knowledge-Grounded Detection</a:t>
            </a:r>
            <a:endParaRPr lang="en-US" sz="1350" dirty="0"/>
          </a:p>
        </p:txBody>
      </p:sp>
      <p:sp>
        <p:nvSpPr>
          <p:cNvPr id="17" name="Text 12"/>
          <p:cNvSpPr/>
          <p:nvPr/>
        </p:nvSpPr>
        <p:spPr>
          <a:xfrm>
            <a:off x="8138413" y="2912566"/>
            <a:ext cx="3186628" cy="1114524"/>
          </a:xfrm>
          <a:prstGeom prst="rect">
            <a:avLst/>
          </a:prstGeom>
          <a:noFill/>
          <a:ln/>
        </p:spPr>
        <p:txBody>
          <a:bodyPr wrap="square" lIns="0" tIns="0" rIns="0" bIns="0" rtlCol="0" anchor="t">
            <a:normAutofit/>
          </a:bodyPr>
          <a:lstStyle/>
          <a:p>
            <a:pPr algn="l" indent="0" marL="0">
              <a:lnSpc>
                <a:spcPct val="117000"/>
              </a:lnSpc>
              <a:spcAft>
                <a:spcPts val="500"/>
              </a:spcAft>
              <a:buNone/>
            </a:pPr>
            <a:r>
              <a:rPr lang="en-US" sz="1150" spc="-24" kern="0" dirty="0">
                <a:solidFill>
                  <a:srgbClr val="272525"/>
                </a:solidFill>
                <a:latin typeface="Source Sans 3" pitchFamily="34" charset="0"/>
                <a:ea typeface="Source Sans 3" pitchFamily="34" charset="-122"/>
                <a:cs typeface="Source Sans 3" pitchFamily="34" charset="-120"/>
              </a:rPr>
              <a:t>To integrate evidence analysis, RAG-based cybersecurity knowledge retrieval, and Gemini-generated explanations to provide transparent and understandable reasons behind phishing predictions.</a:t>
            </a:r>
            <a:endParaRPr lang="en-US" sz="115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8086" y="4307780"/>
            <a:ext cx="5341705" cy="1959173"/>
          </a:xfrm>
          <a:prstGeom prst="rect">
            <a:avLst/>
          </a:prstGeom>
        </p:spPr>
      </p:pic>
      <p:sp>
        <p:nvSpPr>
          <p:cNvPr id="19" name="Text 13"/>
          <p:cNvSpPr/>
          <p:nvPr/>
        </p:nvSpPr>
        <p:spPr>
          <a:xfrm>
            <a:off x="3279147" y="4419997"/>
            <a:ext cx="179482" cy="224334"/>
          </a:xfrm>
          <a:prstGeom prst="rect">
            <a:avLst/>
          </a:prstGeom>
          <a:noFill/>
          <a:ln/>
        </p:spPr>
        <p:txBody>
          <a:bodyPr wrap="none" lIns="0" tIns="0" rIns="0" bIns="0" rtlCol="0" anchor="ctr"/>
          <a:lstStyle/>
          <a:p>
            <a:pPr algn="ctr" indent="0" marL="0">
              <a:lnSpc>
                <a:spcPct val="100000"/>
              </a:lnSpc>
              <a:buNone/>
            </a:pPr>
            <a:r>
              <a:rPr lang="en-US" sz="1400" spc="-24" kern="0" dirty="0">
                <a:solidFill>
                  <a:srgbClr val="FFFFFF"/>
                </a:solidFill>
                <a:latin typeface="Source Serif 4 SemiBold" pitchFamily="34" charset="0"/>
                <a:ea typeface="Source Serif 4 SemiBold" pitchFamily="34" charset="-122"/>
                <a:cs typeface="Source Serif 4 SemiBold" pitchFamily="34" charset="-120"/>
              </a:rPr>
              <a:t>4</a:t>
            </a:r>
            <a:endParaRPr lang="en-US" sz="1400" dirty="0"/>
          </a:p>
        </p:txBody>
      </p:sp>
      <p:sp>
        <p:nvSpPr>
          <p:cNvPr id="20" name="Text 14"/>
          <p:cNvSpPr/>
          <p:nvPr/>
        </p:nvSpPr>
        <p:spPr>
          <a:xfrm>
            <a:off x="866654" y="4906070"/>
            <a:ext cx="5004568" cy="219968"/>
          </a:xfrm>
          <a:prstGeom prst="rect">
            <a:avLst/>
          </a:prstGeom>
          <a:noFill/>
          <a:ln/>
        </p:spPr>
        <p:txBody>
          <a:bodyPr wrap="none" lIns="0" tIns="0" rIns="0" bIns="0" rtlCol="0" anchor="t"/>
          <a:lstStyle/>
          <a:p>
            <a:pPr algn="l" indent="0" marL="0">
              <a:lnSpc>
                <a:spcPct val="104000"/>
              </a:lnSpc>
              <a:buNone/>
            </a:pPr>
            <a:r>
              <a:rPr lang="en-US" sz="1350" spc="-28" kern="0" dirty="0">
                <a:solidFill>
                  <a:srgbClr val="272525"/>
                </a:solidFill>
                <a:latin typeface="Source Serif 4 SemiBold" pitchFamily="34" charset="0"/>
                <a:ea typeface="Source Serif 4 SemiBold" pitchFamily="34" charset="-122"/>
                <a:cs typeface="Source Serif 4 SemiBold" pitchFamily="34" charset="-120"/>
              </a:rPr>
              <a:t>Real-World and Inaccessible-Webpage Handling</a:t>
            </a:r>
            <a:endParaRPr lang="en-US" sz="1350" dirty="0"/>
          </a:p>
        </p:txBody>
      </p:sp>
      <p:sp>
        <p:nvSpPr>
          <p:cNvPr id="21" name="Text 15"/>
          <p:cNvSpPr/>
          <p:nvPr/>
        </p:nvSpPr>
        <p:spPr>
          <a:xfrm>
            <a:off x="866654" y="5193308"/>
            <a:ext cx="5004568" cy="905073"/>
          </a:xfrm>
          <a:prstGeom prst="rect">
            <a:avLst/>
          </a:prstGeom>
          <a:noFill/>
          <a:ln/>
        </p:spPr>
        <p:txBody>
          <a:bodyPr wrap="square" lIns="0" tIns="0" rIns="0" bIns="0" rtlCol="0" anchor="t">
            <a:normAutofit/>
          </a:bodyPr>
          <a:lstStyle/>
          <a:p>
            <a:pPr algn="l" indent="0" marL="0">
              <a:lnSpc>
                <a:spcPct val="117000"/>
              </a:lnSpc>
              <a:spcAft>
                <a:spcPts val="500"/>
              </a:spcAft>
              <a:buNone/>
            </a:pPr>
            <a:r>
              <a:rPr lang="en-US" sz="1150" spc="-24" kern="0" dirty="0">
                <a:solidFill>
                  <a:srgbClr val="272525"/>
                </a:solidFill>
                <a:latin typeface="Source Sans 3" pitchFamily="34" charset="0"/>
                <a:ea typeface="Source Sans 3" pitchFamily="34" charset="-122"/>
                <a:cs typeface="Source Sans 3" pitchFamily="34" charset="-120"/>
              </a:rPr>
              <a:t>To develop an adaptive analysis workflow that supports URL + HTML analysis when webpage content is accessible and URL-only analysis when HTML retrieval is unavailable, while maintaining evidence-aware classification.</a:t>
            </a:r>
            <a:endParaRPr lang="en-US" sz="1150" dirty="0"/>
          </a:p>
        </p:txBody>
      </p:sp>
      <p:pic>
        <p:nvPicPr>
          <p:cNvPr id="2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51905" y="4307780"/>
            <a:ext cx="5341705" cy="1959173"/>
          </a:xfrm>
          <a:prstGeom prst="rect">
            <a:avLst/>
          </a:prstGeom>
        </p:spPr>
      </p:pic>
      <p:sp>
        <p:nvSpPr>
          <p:cNvPr id="23" name="Text 16"/>
          <p:cNvSpPr/>
          <p:nvPr/>
        </p:nvSpPr>
        <p:spPr>
          <a:xfrm>
            <a:off x="8732966" y="4419997"/>
            <a:ext cx="179482" cy="224334"/>
          </a:xfrm>
          <a:prstGeom prst="rect">
            <a:avLst/>
          </a:prstGeom>
          <a:noFill/>
          <a:ln/>
        </p:spPr>
        <p:txBody>
          <a:bodyPr wrap="none" lIns="0" tIns="0" rIns="0" bIns="0" rtlCol="0" anchor="ctr"/>
          <a:lstStyle/>
          <a:p>
            <a:pPr algn="ctr" indent="0" marL="0">
              <a:lnSpc>
                <a:spcPct val="100000"/>
              </a:lnSpc>
              <a:buNone/>
            </a:pPr>
            <a:r>
              <a:rPr lang="en-US" sz="1400" spc="-24" kern="0" dirty="0">
                <a:solidFill>
                  <a:srgbClr val="FFFFFF"/>
                </a:solidFill>
                <a:latin typeface="Source Serif 4 SemiBold" pitchFamily="34" charset="0"/>
                <a:ea typeface="Source Serif 4 SemiBold" pitchFamily="34" charset="-122"/>
                <a:cs typeface="Source Serif 4 SemiBold" pitchFamily="34" charset="-120"/>
              </a:rPr>
              <a:t>5</a:t>
            </a:r>
            <a:endParaRPr lang="en-US" sz="1400" dirty="0"/>
          </a:p>
        </p:txBody>
      </p:sp>
      <p:sp>
        <p:nvSpPr>
          <p:cNvPr id="24" name="Text 17"/>
          <p:cNvSpPr/>
          <p:nvPr/>
        </p:nvSpPr>
        <p:spPr>
          <a:xfrm>
            <a:off x="6320473" y="4906070"/>
            <a:ext cx="5004568" cy="219968"/>
          </a:xfrm>
          <a:prstGeom prst="rect">
            <a:avLst/>
          </a:prstGeom>
          <a:noFill/>
          <a:ln/>
        </p:spPr>
        <p:txBody>
          <a:bodyPr wrap="none" lIns="0" tIns="0" rIns="0" bIns="0" rtlCol="0" anchor="t"/>
          <a:lstStyle/>
          <a:p>
            <a:pPr algn="l" indent="0" marL="0">
              <a:lnSpc>
                <a:spcPct val="104000"/>
              </a:lnSpc>
              <a:buNone/>
            </a:pPr>
            <a:r>
              <a:rPr lang="en-US" sz="1350" spc="-28" kern="0" dirty="0">
                <a:solidFill>
                  <a:srgbClr val="272525"/>
                </a:solidFill>
                <a:latin typeface="Source Serif 4 SemiBold" pitchFamily="34" charset="0"/>
                <a:ea typeface="Source Serif 4 SemiBold" pitchFamily="34" charset="-122"/>
                <a:cs typeface="Source Serif 4 SemiBold" pitchFamily="34" charset="-120"/>
              </a:rPr>
              <a:t>Integrated Practical Detection Framework</a:t>
            </a:r>
            <a:endParaRPr lang="en-US" sz="1350" dirty="0"/>
          </a:p>
        </p:txBody>
      </p:sp>
      <p:sp>
        <p:nvSpPr>
          <p:cNvPr id="25" name="Text 18"/>
          <p:cNvSpPr/>
          <p:nvPr/>
        </p:nvSpPr>
        <p:spPr>
          <a:xfrm>
            <a:off x="6320473" y="5193308"/>
            <a:ext cx="5004568" cy="905073"/>
          </a:xfrm>
          <a:prstGeom prst="rect">
            <a:avLst/>
          </a:prstGeom>
          <a:noFill/>
          <a:ln/>
        </p:spPr>
        <p:txBody>
          <a:bodyPr wrap="square" lIns="0" tIns="0" rIns="0" bIns="0" rtlCol="0" anchor="t">
            <a:normAutofit/>
          </a:bodyPr>
          <a:lstStyle/>
          <a:p>
            <a:pPr algn="l" indent="0" marL="0">
              <a:lnSpc>
                <a:spcPct val="117000"/>
              </a:lnSpc>
              <a:spcAft>
                <a:spcPts val="500"/>
              </a:spcAft>
              <a:buNone/>
            </a:pPr>
            <a:r>
              <a:rPr lang="en-US" sz="1150" spc="-24" kern="0" dirty="0">
                <a:solidFill>
                  <a:srgbClr val="272525"/>
                </a:solidFill>
                <a:latin typeface="Source Sans 3" pitchFamily="34" charset="0"/>
                <a:ea typeface="Source Sans 3" pitchFamily="34" charset="-122"/>
                <a:cs typeface="Source Sans 3" pitchFamily="34" charset="-120"/>
              </a:rPr>
              <a:t>To implement an end-to-end phishing detection framework combining neural prediction, domain verification, evidence analysis, explainability, and web-based deployment for practical real-world testing.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603052"/>
            <a:ext cx="10795524" cy="449163"/>
          </a:xfrm>
          <a:prstGeom prst="rect">
            <a:avLst/>
          </a:prstGeom>
          <a:noFill/>
          <a:ln/>
        </p:spPr>
        <p:txBody>
          <a:bodyPr wrap="none" lIns="0" tIns="0" rIns="0" bIns="0" rtlCol="0" anchor="t"/>
          <a:lstStyle/>
          <a:p>
            <a:pPr algn="l" indent="0" marL="0">
              <a:lnSpc>
                <a:spcPct val="104000"/>
              </a:lnSpc>
              <a:buNone/>
            </a:pPr>
            <a:r>
              <a:rPr lang="en-US" sz="2800" spc="-57" kern="0" dirty="0">
                <a:solidFill>
                  <a:srgbClr val="000000"/>
                </a:solidFill>
                <a:latin typeface="Source Serif 4 SemiBold" pitchFamily="34" charset="0"/>
                <a:ea typeface="Source Serif 4 SemiBold" pitchFamily="34" charset="-122"/>
                <a:cs typeface="Source Serif 4 SemiBold" pitchFamily="34" charset="-120"/>
              </a:rPr>
              <a:t>Related Work: Comparative Analysis (Part 1)</a:t>
            </a:r>
            <a:endParaRPr lang="en-US" sz="2800" dirty="0"/>
          </a:p>
        </p:txBody>
      </p:sp>
      <p:sp>
        <p:nvSpPr>
          <p:cNvPr id="3" name="Text 1"/>
          <p:cNvSpPr/>
          <p:nvPr/>
        </p:nvSpPr>
        <p:spPr>
          <a:xfrm>
            <a:off x="698086" y="1098947"/>
            <a:ext cx="10795524" cy="224532"/>
          </a:xfrm>
          <a:prstGeom prst="rect">
            <a:avLst/>
          </a:prstGeom>
          <a:noFill/>
          <a:ln/>
        </p:spPr>
        <p:txBody>
          <a:bodyPr wrap="none" lIns="0" tIns="0" rIns="0" bIns="0" rtlCol="0" anchor="t"/>
          <a:lstStyle/>
          <a:p>
            <a:pPr algn="l" indent="0" marL="0">
              <a:lnSpc>
                <a:spcPct val="104000"/>
              </a:lnSpc>
              <a:buNone/>
            </a:pPr>
            <a:r>
              <a:rPr lang="en-US" sz="1400" spc="-28" kern="0" dirty="0">
                <a:solidFill>
                  <a:srgbClr val="000000"/>
                </a:solidFill>
                <a:latin typeface="Source Serif 4 SemiBold" pitchFamily="34" charset="0"/>
                <a:ea typeface="Source Serif 4 SemiBold" pitchFamily="34" charset="-122"/>
                <a:cs typeface="Source Serif 4 SemiBold" pitchFamily="34" charset="-120"/>
              </a:rPr>
              <a:t>Comparative analysis of phishing detection methods - Part 1</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086" y="1498798"/>
          <a:ext cx="9143771" cy="914400"/>
        </p:xfrm>
        <a:graphic>
          <a:graphicData uri="http://schemas.openxmlformats.org/drawingml/2006/table">
            <a:tbl>
              <a:tblPr/>
              <a:tblGrid>
                <a:gridCol w="863642"/>
                <a:gridCol w="3346612"/>
                <a:gridCol w="2051150"/>
                <a:gridCol w="2051150"/>
                <a:gridCol w="2482970"/>
              </a:tblGrid>
              <a:tr h="328604">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S.No.</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Research Paper</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Models Used</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Outcomes</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Main Drawbacks / Research Gap</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49093">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1</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Look Before You Leap: Detecting Phishing Web Pages by Exploiting Raw URL and HTML Characteristics (WebPhish)</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CNN-based deep learning</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Learns phishing patterns from raw URL and HTML characteristics</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Limited explainability; URL and HTML information is not explicitly modeled through a dedicated evidence-fusion framework; limited practical decision support</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49093">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2</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An Effective Detection Approach for Phishing Websites Using URL and HTML Features</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XGBoost, Random Forest, Logistic Regression, Naïve Bayes, Decision Tree</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Demonstrates that combining URL and HTML features can improve phishing detection</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Primarily conventional ML; limited explainability and evidence-grounded reasoning; no integrated real-time decision framework</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1021531">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3</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A Sophisticated Framework for the Accurate Detection of Phishing Websites (2024)</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Stacking ensemble, feature selection, cross-validation, deep learning</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Combines multiple learning approaches and feature-selection techniques for phishing detection</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Complex ensemble design; limited knowledge-grounded explanation; generalization to unseen domains and real-world webpage conditions requires further investigation</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49093">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4</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PhiUSI: A Diverse Security Profile Empowered Phishing URL Detection Framework Based on Similarity Index and Incremental Learning (2024)</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Incremental learning, URL Similarity Index (USI)</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Detects diverse phishing URLs using similarity analysis and incremental learning</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Primarily URL-focused; limited HTML/webpage-content integration; limited explainable evidence and complete webpage-level analysis</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45918">
                <a:tc>
                  <a:txBody>
                    <a:bodyPr/>
                    <a:lstStyle/>
                    <a:p>
                      <a:pPr indent="0" marL="0">
                        <a:buNone/>
                      </a:pPr>
                      <a:r>
                        <a:rPr lang="en-US" sz="950" b="1" spc="-24" kern="0" dirty="0">
                          <a:solidFill>
                            <a:srgbClr val="272525"/>
                          </a:solidFill>
                          <a:latin typeface="Source Sans 3" pitchFamily="34" charset="0"/>
                          <a:ea typeface="Source Sans 3" pitchFamily="34" charset="-122"/>
                          <a:cs typeface="Source Sans 3" pitchFamily="34" charset="-120"/>
                        </a:rPr>
                        <a:t>5</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A High-Accuracy Phishing Website Detection Method Based on Machine Learning</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Logistic Regression, KNN, Naïve Bayes, Random Forest, SVM, XGBoost</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Compares multiple ML algorithms and identifies high-performing classifiers</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50" spc="-24" kern="0" dirty="0">
                          <a:solidFill>
                            <a:srgbClr val="272525"/>
                          </a:solidFill>
                          <a:latin typeface="Source Sans 3" pitchFamily="34" charset="0"/>
                          <a:ea typeface="Source Sans 3" pitchFamily="34" charset="-122"/>
                          <a:cs typeface="Source Sans 3" pitchFamily="34" charset="-120"/>
                        </a:rPr>
                        <a:t>Performance-focused approach; limited explainability and knowledge-grounded reasoning; limited integrated deployment and adaptive webpage analysis</a:t>
                      </a:r>
                      <a:endParaRPr lang="en-US" sz="950" dirty="0">
                        <a:latin typeface="Source Sans 3" charset="0"/>
                        <a:ea typeface="Source Sans 3" charset="0"/>
                        <a:cs typeface="Source Sans 3" charset="0"/>
                      </a:endParaRPr>
                    </a:p>
                  </a:txBody>
                  <a:tcPr marL="152726" marR="152726"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86" y="602456"/>
            <a:ext cx="10795524" cy="440035"/>
          </a:xfrm>
          <a:prstGeom prst="rect">
            <a:avLst/>
          </a:prstGeom>
          <a:noFill/>
          <a:ln/>
        </p:spPr>
        <p:txBody>
          <a:bodyPr wrap="none" lIns="0" tIns="0" rIns="0" bIns="0" rtlCol="0" anchor="t"/>
          <a:lstStyle/>
          <a:p>
            <a:pPr algn="l" indent="0" marL="0">
              <a:lnSpc>
                <a:spcPct val="104000"/>
              </a:lnSpc>
              <a:buNone/>
            </a:pPr>
            <a:r>
              <a:rPr lang="en-US" sz="2750" spc="-55" kern="0" dirty="0">
                <a:solidFill>
                  <a:srgbClr val="000000"/>
                </a:solidFill>
                <a:latin typeface="Source Serif 4 SemiBold" pitchFamily="34" charset="0"/>
                <a:ea typeface="Source Serif 4 SemiBold" pitchFamily="34" charset="-122"/>
                <a:cs typeface="Source Serif 4 SemiBold" pitchFamily="34" charset="-120"/>
              </a:rPr>
              <a:t>Related Work: Comparative Analysis (Part 2)</a:t>
            </a:r>
            <a:endParaRPr lang="en-US" sz="2750" dirty="0"/>
          </a:p>
        </p:txBody>
      </p:sp>
      <p:sp>
        <p:nvSpPr>
          <p:cNvPr id="3" name="Text 1"/>
          <p:cNvSpPr/>
          <p:nvPr/>
        </p:nvSpPr>
        <p:spPr>
          <a:xfrm>
            <a:off x="698086" y="1087338"/>
            <a:ext cx="10795524" cy="219968"/>
          </a:xfrm>
          <a:prstGeom prst="rect">
            <a:avLst/>
          </a:prstGeom>
          <a:noFill/>
          <a:ln/>
        </p:spPr>
        <p:txBody>
          <a:bodyPr wrap="none" lIns="0" tIns="0" rIns="0" bIns="0" rtlCol="0" anchor="t"/>
          <a:lstStyle/>
          <a:p>
            <a:pPr algn="l" indent="0" marL="0">
              <a:lnSpc>
                <a:spcPct val="104000"/>
              </a:lnSpc>
              <a:buNone/>
            </a:pPr>
            <a:r>
              <a:rPr lang="en-US" sz="1350" spc="-28" kern="0" dirty="0">
                <a:solidFill>
                  <a:srgbClr val="000000"/>
                </a:solidFill>
                <a:latin typeface="Source Serif 4 SemiBold" pitchFamily="34" charset="0"/>
                <a:ea typeface="Source Serif 4 SemiBold" pitchFamily="34" charset="-122"/>
                <a:cs typeface="Source Serif 4 SemiBold" pitchFamily="34" charset="-120"/>
              </a:rPr>
              <a:t>Comparative analysis of phishing detection methods - Part 2</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8086" y="1475581"/>
          <a:ext cx="9143771" cy="914400"/>
        </p:xfrm>
        <a:graphic>
          <a:graphicData uri="http://schemas.openxmlformats.org/drawingml/2006/table">
            <a:tbl>
              <a:tblPr/>
              <a:tblGrid>
                <a:gridCol w="863642"/>
                <a:gridCol w="3346612"/>
                <a:gridCol w="2051150"/>
                <a:gridCol w="2051150"/>
                <a:gridCol w="2482970"/>
              </a:tblGrid>
              <a:tr h="485366">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S.No.</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Research Paper</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Models Used</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Outcomes</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Main Drawbacks / Research Gap</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23495">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6</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Phishing Website Detection Based on Deep Convolutional Neural Network and Random Forest Ensemble Learning</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Deep CNN, Random Forest Ensemble</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Combines deep learning and ensemble learning for phishing classification</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Higher computational complexity; limited interpretability; does not provide an integrated evidence and knowledge-grounded explanation mechanism</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990972">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7</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Improved Phishing Attack Detection with Machine Learning: A Comprehensive Evaluation of Classifiers and Features</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KNN, SVM, Naïve Bayes, Decision Tree, MLP, SGD</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Evaluates multiple classifiers and feature groups for phishing detection</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Limited dataset scale and advanced explainability; focuses mainly on classifier comparison rather than cross-domain generalization and integrated decision support</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23495">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8</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GramBeddings: A New Neural Network for URL-Based Identification of Phishing Web Pages Through N-Gram Embeddings</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Deep Neural Network, N-Gram Embeddings, Attention Mechanism</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Learns URL patterns automatically using embeddings and neural networks</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Primarily URL-focused; lacks integrated HTML/webpage-content analysis; does not address multimodal URL–HTML evidence fusion</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23495">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9</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Phishing URL Detection Generalisation Using Unsupervised Domain Adaptation</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Unsupervised Domain Adaptation, Machine Learning</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Investigates model performance across different datasets/domains</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Focuses primarily on URL generalization; limited HTML/webpage evidence; explainability and knowledge-grounded reasoning are not central</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20320">
                <a:tc>
                  <a:txBody>
                    <a:bodyPr/>
                    <a:lstStyle/>
                    <a:p>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10</a:t>
                      </a:r>
                      <a:pPr indent="0" marL="0">
                        <a:buNone/>
                      </a:pPr>
                      <a:r>
                        <a:rPr lang="en-US" sz="900" b="1" spc="-24" kern="0" dirty="0">
                          <a:solidFill>
                            <a:srgbClr val="272525"/>
                          </a:solidFill>
                          <a:latin typeface="Source Sans 3" pitchFamily="34" charset="0"/>
                          <a:ea typeface="Source Sans 3" pitchFamily="34" charset="-122"/>
                          <a:cs typeface="Source Sans 3" pitchFamily="34" charset="-120"/>
                        </a:rPr>
                        <a:t>             </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A Machine Learning-Based Phishing Detection Approach Using URL and Website Features</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Random Forest, SVM, Decision Tree, Gradient Boosting</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Uses URL and website characteristics to classify phishing and legitimate websites</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900" spc="-24" kern="0" dirty="0">
                          <a:solidFill>
                            <a:srgbClr val="272525"/>
                          </a:solidFill>
                          <a:latin typeface="Source Sans 3" pitchFamily="34" charset="0"/>
                          <a:ea typeface="Source Sans 3" pitchFamily="34" charset="-122"/>
                          <a:cs typeface="Source Sans 3" pitchFamily="34" charset="-120"/>
                        </a:rPr>
                        <a:t>Performance depends on engineered features; limited explainability; lacks integrated domain verification, evidence retrieval, and natural-language reasoning</a:t>
                      </a:r>
                      <a:endParaRPr lang="en-US" sz="900" dirty="0">
                        <a:latin typeface="Source Sans 3" charset="0"/>
                        <a:ea typeface="Source Sans 3" charset="0"/>
                        <a:cs typeface="Source Sans 3" charset="0"/>
                      </a:endParaRPr>
                    </a:p>
                  </a:txBody>
                  <a:tcPr marL="149609" marR="149609"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602456"/>
            <a:ext cx="10795524" cy="430808"/>
          </a:xfrm>
          <a:prstGeom prst="rect">
            <a:avLst/>
          </a:prstGeom>
          <a:noFill/>
          <a:ln/>
        </p:spPr>
        <p:txBody>
          <a:bodyPr wrap="none" lIns="0" tIns="0" rIns="0" bIns="0" rtlCol="0" anchor="t"/>
          <a:lstStyle/>
          <a:p>
            <a:pPr algn="l" indent="0" marL="0">
              <a:lnSpc>
                <a:spcPct val="104000"/>
              </a:lnSpc>
              <a:buNone/>
            </a:pPr>
            <a:r>
              <a:rPr lang="en-US" sz="2700" spc="-54" kern="0" dirty="0">
                <a:solidFill>
                  <a:srgbClr val="000000"/>
                </a:solidFill>
                <a:latin typeface="Source Serif 4 SemiBold" pitchFamily="34" charset="0"/>
                <a:ea typeface="Source Serif 4 SemiBold" pitchFamily="34" charset="-122"/>
                <a:cs typeface="Source Serif 4 SemiBold" pitchFamily="34" charset="-120"/>
              </a:rPr>
              <a:t>Dataset Selection</a:t>
            </a:r>
            <a:endParaRPr lang="en-US" sz="2700" dirty="0"/>
          </a:p>
        </p:txBody>
      </p:sp>
      <p:sp>
        <p:nvSpPr>
          <p:cNvPr id="3" name="Text 1"/>
          <p:cNvSpPr/>
          <p:nvPr/>
        </p:nvSpPr>
        <p:spPr>
          <a:xfrm>
            <a:off x="698086" y="1248370"/>
            <a:ext cx="11405108" cy="203101"/>
          </a:xfrm>
          <a:prstGeom prst="rect">
            <a:avLst/>
          </a:prstGeom>
          <a:noFill/>
          <a:ln/>
        </p:spPr>
        <p:txBody>
          <a:bodyPr wrap="none" lIns="0" tIns="0" rIns="0" bIns="0" rtlCol="0" anchor="t"/>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The </a:t>
            </a:r>
            <a:pPr algn="l" indent="0" marL="0">
              <a:lnSpc>
                <a:spcPct val="116000"/>
              </a:lnSpc>
              <a:buNone/>
            </a:pPr>
            <a:r>
              <a:rPr lang="en-US" sz="1150" b="1" spc="-23" kern="0" dirty="0">
                <a:solidFill>
                  <a:srgbClr val="272525"/>
                </a:solidFill>
                <a:latin typeface="Source Sans 3 Bold" pitchFamily="34" charset="0"/>
                <a:ea typeface="Source Sans 3 Bold" pitchFamily="34" charset="-122"/>
                <a:cs typeface="Source Sans 3 Bold" pitchFamily="34" charset="-120"/>
              </a:rPr>
              <a:t>D1 Phishing Webpage Dataset</a:t>
            </a:r>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 provides the main training and evaluation base for </a:t>
            </a:r>
            <a:pPr algn="l" indent="0" marL="0">
              <a:lnSpc>
                <a:spcPct val="116000"/>
              </a:lnSpc>
              <a:buNone/>
            </a:pPr>
            <a:r>
              <a:rPr lang="en-US" sz="1150" b="1" spc="-23" kern="0" dirty="0">
                <a:solidFill>
                  <a:srgbClr val="272525"/>
                </a:solidFill>
                <a:latin typeface="Source Sans 3 Bold" pitchFamily="34" charset="0"/>
                <a:ea typeface="Source Sans 3 Bold" pitchFamily="34" charset="-122"/>
                <a:cs typeface="Source Sans 3 Bold" pitchFamily="34" charset="-120"/>
              </a:rPr>
              <a:t>PhishXpert</a:t>
            </a:r>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 with URL and archived HTML information.</a:t>
            </a:r>
            <a:endParaRPr lang="en-US" sz="1150" dirty="0"/>
          </a:p>
        </p:txBody>
      </p:sp>
      <p:sp>
        <p:nvSpPr>
          <p:cNvPr id="4" name="Text 2"/>
          <p:cNvSpPr/>
          <p:nvPr/>
        </p:nvSpPr>
        <p:spPr>
          <a:xfrm>
            <a:off x="698086" y="1645642"/>
            <a:ext cx="3508883" cy="483394"/>
          </a:xfrm>
          <a:prstGeom prst="rect">
            <a:avLst/>
          </a:prstGeom>
          <a:noFill/>
          <a:ln/>
        </p:spPr>
        <p:txBody>
          <a:bodyPr wrap="none" lIns="0" tIns="0" rIns="0" bIns="0" rtlCol="0" anchor="t"/>
          <a:lstStyle/>
          <a:p>
            <a:pPr algn="ctr" indent="0" marL="0">
              <a:lnSpc>
                <a:spcPct val="83000"/>
              </a:lnSpc>
              <a:buNone/>
            </a:pPr>
            <a:r>
              <a:rPr lang="en-US" sz="3800" spc="-76" kern="0" dirty="0">
                <a:solidFill>
                  <a:srgbClr val="272525"/>
                </a:solidFill>
                <a:latin typeface="Source Serif 4 SemiBold" pitchFamily="34" charset="0"/>
                <a:ea typeface="Source Serif 4 SemiBold" pitchFamily="34" charset="-122"/>
                <a:cs typeface="Source Serif 4 SemiBold" pitchFamily="34" charset="-120"/>
              </a:rPr>
              <a:t>60,252</a:t>
            </a:r>
            <a:endParaRPr lang="en-US" sz="3800" dirty="0"/>
          </a:p>
        </p:txBody>
      </p:sp>
      <p:sp>
        <p:nvSpPr>
          <p:cNvPr id="5" name="Text 3"/>
          <p:cNvSpPr/>
          <p:nvPr/>
        </p:nvSpPr>
        <p:spPr>
          <a:xfrm>
            <a:off x="698086" y="2282924"/>
            <a:ext cx="3508883" cy="215404"/>
          </a:xfrm>
          <a:prstGeom prst="rect">
            <a:avLst/>
          </a:prstGeom>
          <a:noFill/>
          <a:ln/>
        </p:spPr>
        <p:txBody>
          <a:bodyPr wrap="none" lIns="0" tIns="0" rIns="0" bIns="0" rtlCol="0" anchor="t"/>
          <a:lstStyle/>
          <a:p>
            <a:pPr algn="ctr"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Total Webpages</a:t>
            </a:r>
            <a:endParaRPr lang="en-US" sz="1350" dirty="0"/>
          </a:p>
        </p:txBody>
      </p:sp>
      <p:sp>
        <p:nvSpPr>
          <p:cNvPr id="6" name="Text 4"/>
          <p:cNvSpPr/>
          <p:nvPr/>
        </p:nvSpPr>
        <p:spPr>
          <a:xfrm>
            <a:off x="4341406" y="1645642"/>
            <a:ext cx="3508883" cy="483394"/>
          </a:xfrm>
          <a:prstGeom prst="rect">
            <a:avLst/>
          </a:prstGeom>
          <a:noFill/>
          <a:ln/>
        </p:spPr>
        <p:txBody>
          <a:bodyPr wrap="none" lIns="0" tIns="0" rIns="0" bIns="0" rtlCol="0" anchor="t"/>
          <a:lstStyle/>
          <a:p>
            <a:pPr algn="ctr" indent="0" marL="0">
              <a:lnSpc>
                <a:spcPct val="83000"/>
              </a:lnSpc>
              <a:buNone/>
            </a:pPr>
            <a:r>
              <a:rPr lang="en-US" sz="3800" spc="-76" kern="0" dirty="0">
                <a:solidFill>
                  <a:srgbClr val="272525"/>
                </a:solidFill>
                <a:latin typeface="Source Serif 4 SemiBold" pitchFamily="34" charset="0"/>
                <a:ea typeface="Source Serif 4 SemiBold" pitchFamily="34" charset="-122"/>
                <a:cs typeface="Source Serif 4 SemiBold" pitchFamily="34" charset="-120"/>
              </a:rPr>
              <a:t>27,280</a:t>
            </a:r>
            <a:endParaRPr lang="en-US" sz="3800" dirty="0"/>
          </a:p>
        </p:txBody>
      </p:sp>
      <p:sp>
        <p:nvSpPr>
          <p:cNvPr id="7" name="Text 5"/>
          <p:cNvSpPr/>
          <p:nvPr/>
        </p:nvSpPr>
        <p:spPr>
          <a:xfrm>
            <a:off x="4341406" y="2282924"/>
            <a:ext cx="3508883" cy="215404"/>
          </a:xfrm>
          <a:prstGeom prst="rect">
            <a:avLst/>
          </a:prstGeom>
          <a:noFill/>
          <a:ln/>
        </p:spPr>
        <p:txBody>
          <a:bodyPr wrap="none" lIns="0" tIns="0" rIns="0" bIns="0" rtlCol="0" anchor="t"/>
          <a:lstStyle/>
          <a:p>
            <a:pPr algn="ctr"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Phishing</a:t>
            </a:r>
            <a:endParaRPr lang="en-US" sz="1350" dirty="0"/>
          </a:p>
        </p:txBody>
      </p:sp>
      <p:sp>
        <p:nvSpPr>
          <p:cNvPr id="8" name="Text 6"/>
          <p:cNvSpPr/>
          <p:nvPr/>
        </p:nvSpPr>
        <p:spPr>
          <a:xfrm>
            <a:off x="4341406" y="2562820"/>
            <a:ext cx="3508883" cy="203101"/>
          </a:xfrm>
          <a:prstGeom prst="rect">
            <a:avLst/>
          </a:prstGeom>
          <a:noFill/>
          <a:ln/>
        </p:spPr>
        <p:txBody>
          <a:bodyPr wrap="none" lIns="0" tIns="0" rIns="0" bIns="0" rtlCol="0" anchor="t"/>
          <a:lstStyle/>
          <a:p>
            <a:pPr algn="ctr"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45.3%</a:t>
            </a:r>
            <a:endParaRPr lang="en-US" sz="1150" dirty="0"/>
          </a:p>
        </p:txBody>
      </p:sp>
      <p:sp>
        <p:nvSpPr>
          <p:cNvPr id="9" name="Text 7"/>
          <p:cNvSpPr/>
          <p:nvPr/>
        </p:nvSpPr>
        <p:spPr>
          <a:xfrm>
            <a:off x="7984727" y="1645642"/>
            <a:ext cx="3508883" cy="483394"/>
          </a:xfrm>
          <a:prstGeom prst="rect">
            <a:avLst/>
          </a:prstGeom>
          <a:noFill/>
          <a:ln/>
        </p:spPr>
        <p:txBody>
          <a:bodyPr wrap="none" lIns="0" tIns="0" rIns="0" bIns="0" rtlCol="0" anchor="t"/>
          <a:lstStyle/>
          <a:p>
            <a:pPr algn="ctr" indent="0" marL="0">
              <a:lnSpc>
                <a:spcPct val="83000"/>
              </a:lnSpc>
              <a:buNone/>
            </a:pPr>
            <a:r>
              <a:rPr lang="en-US" sz="3800" spc="-76" kern="0" dirty="0">
                <a:solidFill>
                  <a:srgbClr val="272525"/>
                </a:solidFill>
                <a:latin typeface="Source Serif 4 SemiBold" pitchFamily="34" charset="0"/>
                <a:ea typeface="Source Serif 4 SemiBold" pitchFamily="34" charset="-122"/>
                <a:cs typeface="Source Serif 4 SemiBold" pitchFamily="34" charset="-120"/>
              </a:rPr>
              <a:t>32,972</a:t>
            </a:r>
            <a:endParaRPr lang="en-US" sz="3800" dirty="0"/>
          </a:p>
        </p:txBody>
      </p:sp>
      <p:sp>
        <p:nvSpPr>
          <p:cNvPr id="10" name="Text 8"/>
          <p:cNvSpPr/>
          <p:nvPr/>
        </p:nvSpPr>
        <p:spPr>
          <a:xfrm>
            <a:off x="7984727" y="2282924"/>
            <a:ext cx="3508883" cy="215404"/>
          </a:xfrm>
          <a:prstGeom prst="rect">
            <a:avLst/>
          </a:prstGeom>
          <a:noFill/>
          <a:ln/>
        </p:spPr>
        <p:txBody>
          <a:bodyPr wrap="none" lIns="0" tIns="0" rIns="0" bIns="0" rtlCol="0" anchor="t"/>
          <a:lstStyle/>
          <a:p>
            <a:pPr algn="ctr"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Benign</a:t>
            </a:r>
            <a:endParaRPr lang="en-US" sz="1350" dirty="0"/>
          </a:p>
        </p:txBody>
      </p:sp>
      <p:sp>
        <p:nvSpPr>
          <p:cNvPr id="11" name="Text 9"/>
          <p:cNvSpPr/>
          <p:nvPr/>
        </p:nvSpPr>
        <p:spPr>
          <a:xfrm>
            <a:off x="7984727" y="2562820"/>
            <a:ext cx="3508883" cy="203101"/>
          </a:xfrm>
          <a:prstGeom prst="rect">
            <a:avLst/>
          </a:prstGeom>
          <a:noFill/>
          <a:ln/>
        </p:spPr>
        <p:txBody>
          <a:bodyPr wrap="none" lIns="0" tIns="0" rIns="0" bIns="0" rtlCol="0" anchor="t"/>
          <a:lstStyle/>
          <a:p>
            <a:pPr algn="ctr"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54.7%</a:t>
            </a:r>
            <a:endParaRPr lang="en-US" sz="1150" dirty="0"/>
          </a:p>
        </p:txBody>
      </p:sp>
      <p:sp>
        <p:nvSpPr>
          <p:cNvPr id="12" name="Text 10"/>
          <p:cNvSpPr/>
          <p:nvPr/>
        </p:nvSpPr>
        <p:spPr>
          <a:xfrm>
            <a:off x="698086" y="2927251"/>
            <a:ext cx="10795524" cy="344587"/>
          </a:xfrm>
          <a:prstGeom prst="rect">
            <a:avLst/>
          </a:prstGeom>
          <a:noFill/>
          <a:ln/>
        </p:spPr>
        <p:txBody>
          <a:bodyPr wrap="none" lIns="0" tIns="0" rIns="0" bIns="0" rtlCol="0" anchor="t"/>
          <a:lstStyle/>
          <a:p>
            <a:pPr algn="l" indent="0" marL="0">
              <a:lnSpc>
                <a:spcPct val="104000"/>
              </a:lnSpc>
              <a:buNone/>
            </a:pPr>
            <a:r>
              <a:rPr lang="en-US" sz="2150" spc="-43" kern="0" dirty="0">
                <a:solidFill>
                  <a:srgbClr val="000000"/>
                </a:solidFill>
                <a:latin typeface="Source Serif 4 SemiBold" pitchFamily="34" charset="0"/>
                <a:ea typeface="Source Serif 4 SemiBold" pitchFamily="34" charset="-122"/>
                <a:cs typeface="Source Serif 4 SemiBold" pitchFamily="34" charset="-120"/>
              </a:rPr>
              <a:t>Features</a:t>
            </a:r>
            <a:endParaRPr lang="en-US" sz="2150" dirty="0"/>
          </a:p>
        </p:txBody>
      </p:sp>
      <p:sp>
        <p:nvSpPr>
          <p:cNvPr id="13" name="Text 11"/>
          <p:cNvSpPr/>
          <p:nvPr/>
        </p:nvSpPr>
        <p:spPr>
          <a:xfrm>
            <a:off x="698086" y="3433167"/>
            <a:ext cx="11405108" cy="203101"/>
          </a:xfrm>
          <a:prstGeom prst="rect">
            <a:avLst/>
          </a:prstGeom>
          <a:noFill/>
          <a:ln/>
        </p:spPr>
        <p:txBody>
          <a:bodyPr wrap="none" lIns="0" tIns="0" rIns="0" bIns="0" rtlCol="0" anchor="t"/>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The feature set combines </a:t>
            </a:r>
            <a:pPr algn="l" indent="0" marL="0">
              <a:lnSpc>
                <a:spcPct val="116000"/>
              </a:lnSpc>
              <a:buNone/>
            </a:pPr>
            <a:r>
              <a:rPr lang="en-US" sz="1150" b="1" spc="-23" kern="0" dirty="0">
                <a:solidFill>
                  <a:srgbClr val="272525"/>
                </a:solidFill>
                <a:latin typeface="Source Sans 3 Bold" pitchFamily="34" charset="0"/>
                <a:ea typeface="Source Sans 3 Bold" pitchFamily="34" charset="-122"/>
                <a:cs typeface="Source Sans 3 Bold" pitchFamily="34" charset="-120"/>
              </a:rPr>
              <a:t>23 engineered features</a:t>
            </a:r>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 7 URL-based and 8 HTML/webpage-based signals.</a:t>
            </a:r>
            <a:endParaRPr lang="en-US" sz="1150" dirty="0"/>
          </a:p>
        </p:txBody>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3757216"/>
            <a:ext cx="5343987" cy="1017091"/>
          </a:xfrm>
          <a:prstGeom prst="rect">
            <a:avLst/>
          </a:prstGeom>
        </p:spPr>
      </p:pic>
      <p:sp>
        <p:nvSpPr>
          <p:cNvPr id="15" name="Text 12"/>
          <p:cNvSpPr/>
          <p:nvPr/>
        </p:nvSpPr>
        <p:spPr>
          <a:xfrm>
            <a:off x="939776" y="3922713"/>
            <a:ext cx="4936803"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URL Features</a:t>
            </a:r>
            <a:endParaRPr lang="en-US" sz="1350" dirty="0"/>
          </a:p>
        </p:txBody>
      </p:sp>
      <p:sp>
        <p:nvSpPr>
          <p:cNvPr id="16" name="Text 13"/>
          <p:cNvSpPr/>
          <p:nvPr/>
        </p:nvSpPr>
        <p:spPr>
          <a:xfrm>
            <a:off x="939776" y="4202609"/>
            <a:ext cx="4936803" cy="406202"/>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7 types: length, domain/path/query length, dots/hyphens/underscores/digits, special characters, entropy, HTTPS/IP, suspicious keywords.</a:t>
            </a:r>
            <a:endParaRPr lang="en-US" sz="11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49623" y="3757216"/>
            <a:ext cx="5343987" cy="1017091"/>
          </a:xfrm>
          <a:prstGeom prst="rect">
            <a:avLst/>
          </a:prstGeom>
        </p:spPr>
      </p:pic>
      <p:sp>
        <p:nvSpPr>
          <p:cNvPr id="18" name="Text 14"/>
          <p:cNvSpPr/>
          <p:nvPr/>
        </p:nvSpPr>
        <p:spPr>
          <a:xfrm>
            <a:off x="6391314" y="3922713"/>
            <a:ext cx="4936803"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HTML &amp; Webpage Features</a:t>
            </a:r>
            <a:endParaRPr lang="en-US" sz="1350" dirty="0"/>
          </a:p>
        </p:txBody>
      </p:sp>
      <p:sp>
        <p:nvSpPr>
          <p:cNvPr id="19" name="Text 15"/>
          <p:cNvSpPr/>
          <p:nvPr/>
        </p:nvSpPr>
        <p:spPr>
          <a:xfrm>
            <a:off x="6391314" y="4202609"/>
            <a:ext cx="4936803" cy="406202"/>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8 types: HTML length, text length, hyperlinks, external links/ratio, forms, password fields, login indicators, external form count/ratio.</a:t>
            </a:r>
            <a:endParaRPr lang="en-US" sz="1150" dirty="0"/>
          </a:p>
        </p:txBody>
      </p:sp>
      <p:sp>
        <p:nvSpPr>
          <p:cNvPr id="20" name="Text 16"/>
          <p:cNvSpPr/>
          <p:nvPr/>
        </p:nvSpPr>
        <p:spPr>
          <a:xfrm>
            <a:off x="698086" y="4935637"/>
            <a:ext cx="10795524" cy="344587"/>
          </a:xfrm>
          <a:prstGeom prst="rect">
            <a:avLst/>
          </a:prstGeom>
          <a:noFill/>
          <a:ln/>
        </p:spPr>
        <p:txBody>
          <a:bodyPr wrap="none" lIns="0" tIns="0" rIns="0" bIns="0" rtlCol="0" anchor="t"/>
          <a:lstStyle/>
          <a:p>
            <a:pPr algn="l" indent="0" marL="0">
              <a:lnSpc>
                <a:spcPct val="104000"/>
              </a:lnSpc>
              <a:buNone/>
            </a:pPr>
            <a:r>
              <a:rPr lang="en-US" sz="2150" spc="-43" kern="0" dirty="0">
                <a:solidFill>
                  <a:srgbClr val="000000"/>
                </a:solidFill>
                <a:latin typeface="Source Serif 4 SemiBold" pitchFamily="34" charset="0"/>
                <a:ea typeface="Source Serif 4 SemiBold" pitchFamily="34" charset="-122"/>
                <a:cs typeface="Source Serif 4 SemiBold" pitchFamily="34" charset="-120"/>
              </a:rPr>
              <a:t>Validation Dataset</a:t>
            </a:r>
            <a:endParaRPr lang="en-US" sz="21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5441553"/>
            <a:ext cx="5343987" cy="813991"/>
          </a:xfrm>
          <a:prstGeom prst="rect">
            <a:avLst/>
          </a:prstGeom>
        </p:spPr>
      </p:pic>
      <p:sp>
        <p:nvSpPr>
          <p:cNvPr id="22" name="Text 17"/>
          <p:cNvSpPr/>
          <p:nvPr/>
        </p:nvSpPr>
        <p:spPr>
          <a:xfrm>
            <a:off x="939776" y="5607050"/>
            <a:ext cx="4936803"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CompPhish</a:t>
            </a:r>
            <a:endParaRPr lang="en-US" sz="1350" dirty="0"/>
          </a:p>
        </p:txBody>
      </p:sp>
      <p:sp>
        <p:nvSpPr>
          <p:cNvPr id="23" name="Text 18"/>
          <p:cNvSpPr/>
          <p:nvPr/>
        </p:nvSpPr>
        <p:spPr>
          <a:xfrm>
            <a:off x="939776" y="5886946"/>
            <a:ext cx="4936803" cy="203101"/>
          </a:xfrm>
          <a:prstGeom prst="rect">
            <a:avLst/>
          </a:prstGeom>
          <a:noFill/>
          <a:ln/>
        </p:spPr>
        <p:txBody>
          <a:bodyPr wrap="none" lIns="0" tIns="0" rIns="0" bIns="0" rtlCol="0" anchor="t"/>
          <a:lstStyle/>
          <a:p>
            <a:pPr algn="l" indent="0" marL="0">
              <a:lnSpc>
                <a:spcPct val="116000"/>
              </a:lnSpc>
              <a:buNone/>
            </a:pPr>
            <a:r>
              <a:rPr lang="en-US" sz="1150" b="1" spc="-23" kern="0" dirty="0">
                <a:solidFill>
                  <a:srgbClr val="272525"/>
                </a:solidFill>
                <a:latin typeface="Source Sans 3 Bold" pitchFamily="34" charset="0"/>
                <a:ea typeface="Source Sans 3 Bold" pitchFamily="34" charset="-122"/>
                <a:cs typeface="Source Sans 3 Bold" pitchFamily="34" charset="-120"/>
              </a:rPr>
              <a:t>15,358 webpages</a:t>
            </a:r>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 — </a:t>
            </a:r>
            <a:pPr algn="l" indent="0" marL="0">
              <a:lnSpc>
                <a:spcPct val="116000"/>
              </a:lnSpc>
              <a:buNone/>
            </a:pPr>
            <a:r>
              <a:rPr lang="en-US" sz="1150" b="1" spc="-23" kern="0" dirty="0">
                <a:solidFill>
                  <a:srgbClr val="272525"/>
                </a:solidFill>
                <a:latin typeface="Source Sans 3 Bold" pitchFamily="34" charset="0"/>
                <a:ea typeface="Source Sans 3 Bold" pitchFamily="34" charset="-122"/>
                <a:cs typeface="Source Sans 3 Bold" pitchFamily="34" charset="-120"/>
              </a:rPr>
              <a:t>7,204 phishing</a:t>
            </a:r>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 / </a:t>
            </a:r>
            <a:pPr algn="l" indent="0" marL="0">
              <a:lnSpc>
                <a:spcPct val="116000"/>
              </a:lnSpc>
              <a:buNone/>
            </a:pPr>
            <a:r>
              <a:rPr lang="en-US" sz="1150" b="1" spc="-23" kern="0" dirty="0">
                <a:solidFill>
                  <a:srgbClr val="272525"/>
                </a:solidFill>
                <a:latin typeface="Source Sans 3 Bold" pitchFamily="34" charset="0"/>
                <a:ea typeface="Source Sans 3 Bold" pitchFamily="34" charset="-122"/>
                <a:cs typeface="Source Sans 3 Bold" pitchFamily="34" charset="-120"/>
              </a:rPr>
              <a:t>8,154 benign</a:t>
            </a:r>
            <a:endParaRPr lang="en-US" sz="1150" dirty="0"/>
          </a:p>
        </p:txBody>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49623" y="5441553"/>
            <a:ext cx="5343987" cy="813991"/>
          </a:xfrm>
          <a:prstGeom prst="rect">
            <a:avLst/>
          </a:prstGeom>
        </p:spPr>
      </p:pic>
      <p:sp>
        <p:nvSpPr>
          <p:cNvPr id="25" name="Text 19"/>
          <p:cNvSpPr/>
          <p:nvPr/>
        </p:nvSpPr>
        <p:spPr>
          <a:xfrm>
            <a:off x="6391314" y="5607050"/>
            <a:ext cx="4936803"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Purpose</a:t>
            </a:r>
            <a:endParaRPr lang="en-US" sz="1350" dirty="0"/>
          </a:p>
        </p:txBody>
      </p:sp>
      <p:sp>
        <p:nvSpPr>
          <p:cNvPr id="26" name="Text 20"/>
          <p:cNvSpPr/>
          <p:nvPr/>
        </p:nvSpPr>
        <p:spPr>
          <a:xfrm>
            <a:off x="6391314" y="5886946"/>
            <a:ext cx="4936803" cy="203101"/>
          </a:xfrm>
          <a:prstGeom prst="rect">
            <a:avLst/>
          </a:prstGeom>
          <a:noFill/>
          <a:ln/>
        </p:spPr>
        <p:txBody>
          <a:bodyPr wrap="none" lIns="0" tIns="0" rIns="0" bIns="0" rtlCol="0" anchor="t"/>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Cross-dataset generalization and domain-unseen evaluation.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595213"/>
            <a:ext cx="6223638" cy="412452"/>
          </a:xfrm>
          <a:prstGeom prst="rect">
            <a:avLst/>
          </a:prstGeom>
          <a:noFill/>
          <a:ln/>
        </p:spPr>
        <p:txBody>
          <a:bodyPr wrap="none" lIns="0" tIns="0" rIns="0" bIns="0" rtlCol="0" anchor="t"/>
          <a:lstStyle/>
          <a:p>
            <a:pPr algn="l" indent="0" marL="0">
              <a:lnSpc>
                <a:spcPct val="104000"/>
              </a:lnSpc>
              <a:buNone/>
            </a:pPr>
            <a:r>
              <a:rPr lang="en-US" sz="2550" spc="-52" kern="0" dirty="0">
                <a:solidFill>
                  <a:srgbClr val="000000"/>
                </a:solidFill>
                <a:latin typeface="Source Serif 4 SemiBold" pitchFamily="34" charset="0"/>
                <a:ea typeface="Source Serif 4 SemiBold" pitchFamily="34" charset="-122"/>
                <a:cs typeface="Source Serif 4 SemiBold" pitchFamily="34" charset="-120"/>
              </a:rPr>
              <a:t>Research Gap &amp; Value Proposition</a:t>
            </a:r>
            <a:endParaRPr lang="en-US" sz="2550" dirty="0"/>
          </a:p>
        </p:txBody>
      </p:sp>
      <p:sp>
        <p:nvSpPr>
          <p:cNvPr id="4" name="Text 1"/>
          <p:cNvSpPr/>
          <p:nvPr/>
        </p:nvSpPr>
        <p:spPr>
          <a:xfrm>
            <a:off x="698086" y="1155502"/>
            <a:ext cx="280484" cy="175320"/>
          </a:xfrm>
          <a:prstGeom prst="rect">
            <a:avLst/>
          </a:prstGeom>
          <a:noFill/>
          <a:ln/>
        </p:spPr>
        <p:txBody>
          <a:bodyPr wrap="none" lIns="0" tIns="0" rIns="0" bIns="0" rtlCol="0" anchor="ctr"/>
          <a:lstStyle/>
          <a:p>
            <a:pPr algn="l" indent="0" marL="0">
              <a:lnSpc>
                <a:spcPct val="100000"/>
              </a:lnSpc>
              <a:buNone/>
            </a:pPr>
            <a:r>
              <a:rPr lang="en-US" sz="1100" spc="-22" kern="0" dirty="0">
                <a:solidFill>
                  <a:srgbClr val="272525"/>
                </a:solidFill>
                <a:latin typeface="Source Serif 4 Light" pitchFamily="34" charset="0"/>
                <a:ea typeface="Source Serif 4 Light" pitchFamily="34" charset="-122"/>
                <a:cs typeface="Source Serif 4 Light" pitchFamily="34" charset="-120"/>
              </a:rPr>
              <a:t>01</a:t>
            </a:r>
            <a:endParaRPr lang="en-US" sz="1100" dirty="0"/>
          </a:p>
        </p:txBody>
      </p:sp>
      <p:sp>
        <p:nvSpPr>
          <p:cNvPr id="5" name="Shape 2"/>
          <p:cNvSpPr/>
          <p:nvPr/>
        </p:nvSpPr>
        <p:spPr>
          <a:xfrm>
            <a:off x="698086" y="1374775"/>
            <a:ext cx="3062509" cy="19050"/>
          </a:xfrm>
          <a:prstGeom prst="rect">
            <a:avLst/>
          </a:prstGeom>
          <a:solidFill>
            <a:srgbClr val="BE49DF"/>
          </a:solidFill>
          <a:ln/>
        </p:spPr>
      </p:sp>
      <p:sp>
        <p:nvSpPr>
          <p:cNvPr id="6" name="Text 3"/>
          <p:cNvSpPr/>
          <p:nvPr/>
        </p:nvSpPr>
        <p:spPr>
          <a:xfrm>
            <a:off x="698086" y="1482923"/>
            <a:ext cx="3062509" cy="412353"/>
          </a:xfrm>
          <a:prstGeom prst="rect">
            <a:avLst/>
          </a:prstGeom>
          <a:noFill/>
          <a:ln/>
        </p:spPr>
        <p:txBody>
          <a:bodyPr wrap="square" lIns="0" tIns="0" rIns="0" bIns="0" rtlCol="0" anchor="t">
            <a:normAutofit/>
          </a:bodyPr>
          <a:lstStyle/>
          <a:p>
            <a:pPr algn="l" indent="0" marL="0">
              <a:lnSpc>
                <a:spcPct val="104000"/>
              </a:lnSpc>
              <a:buNone/>
            </a:pPr>
            <a:r>
              <a:rPr lang="en-US" sz="1250" spc="-26" kern="0" dirty="0">
                <a:solidFill>
                  <a:srgbClr val="272525"/>
                </a:solidFill>
                <a:latin typeface="Source Serif 4 SemiBold" pitchFamily="34" charset="0"/>
                <a:ea typeface="Source Serif 4 SemiBold" pitchFamily="34" charset="-122"/>
                <a:cs typeface="Source Serif 4 SemiBold" pitchFamily="34" charset="-120"/>
              </a:rPr>
              <a:t>Gap 1 — Limited URL–HTML Evidence Fusion</a:t>
            </a:r>
            <a:endParaRPr lang="en-US" sz="1250" dirty="0"/>
          </a:p>
        </p:txBody>
      </p:sp>
      <p:sp>
        <p:nvSpPr>
          <p:cNvPr id="7" name="Text 4"/>
          <p:cNvSpPr/>
          <p:nvPr/>
        </p:nvSpPr>
        <p:spPr>
          <a:xfrm>
            <a:off x="698086" y="1954411"/>
            <a:ext cx="3062509" cy="764381"/>
          </a:xfrm>
          <a:prstGeom prst="rect">
            <a:avLst/>
          </a:prstGeom>
          <a:noFill/>
          <a:ln/>
        </p:spPr>
        <p:txBody>
          <a:bodyPr wrap="square" lIns="0" tIns="0" rIns="0" bIns="0" rtlCol="0" anchor="t">
            <a:normAutofit/>
          </a:bodyPr>
          <a:lstStyle/>
          <a:p>
            <a:pPr algn="l" indent="0" marL="0">
              <a:lnSpc>
                <a:spcPct val="114000"/>
              </a:lnSpc>
              <a:buNone/>
            </a:pPr>
            <a:r>
              <a:rPr lang="en-US" sz="1100" spc="-22" kern="0" dirty="0">
                <a:solidFill>
                  <a:srgbClr val="272525"/>
                </a:solidFill>
                <a:latin typeface="Source Sans 3" pitchFamily="34" charset="0"/>
                <a:ea typeface="Source Sans 3" pitchFamily="34" charset="-122"/>
                <a:cs typeface="Source Sans 3" pitchFamily="34" charset="-120"/>
              </a:rPr>
              <a:t>Existing approaches often use URL and webpage features, but there is limited use of a dedicated neural architecture that learns URL and HTML representations separately and fuses them.</a:t>
            </a:r>
            <a:endParaRPr lang="en-US" sz="1100" dirty="0"/>
          </a:p>
        </p:txBody>
      </p:sp>
      <p:sp>
        <p:nvSpPr>
          <p:cNvPr id="8" name="Text 5"/>
          <p:cNvSpPr/>
          <p:nvPr/>
        </p:nvSpPr>
        <p:spPr>
          <a:xfrm>
            <a:off x="3859116" y="1155502"/>
            <a:ext cx="280484" cy="175320"/>
          </a:xfrm>
          <a:prstGeom prst="rect">
            <a:avLst/>
          </a:prstGeom>
          <a:noFill/>
          <a:ln/>
        </p:spPr>
        <p:txBody>
          <a:bodyPr wrap="none" lIns="0" tIns="0" rIns="0" bIns="0" rtlCol="0" anchor="ctr"/>
          <a:lstStyle/>
          <a:p>
            <a:pPr algn="l" indent="0" marL="0">
              <a:lnSpc>
                <a:spcPct val="100000"/>
              </a:lnSpc>
              <a:buNone/>
            </a:pPr>
            <a:r>
              <a:rPr lang="en-US" sz="1100" spc="-22" kern="0" dirty="0">
                <a:solidFill>
                  <a:srgbClr val="272525"/>
                </a:solidFill>
                <a:latin typeface="Source Serif 4 Light" pitchFamily="34" charset="0"/>
                <a:ea typeface="Source Serif 4 Light" pitchFamily="34" charset="-122"/>
                <a:cs typeface="Source Serif 4 Light" pitchFamily="34" charset="-120"/>
              </a:rPr>
              <a:t>02</a:t>
            </a:r>
            <a:endParaRPr lang="en-US" sz="1100" dirty="0"/>
          </a:p>
        </p:txBody>
      </p:sp>
      <p:sp>
        <p:nvSpPr>
          <p:cNvPr id="9" name="Shape 6"/>
          <p:cNvSpPr/>
          <p:nvPr/>
        </p:nvSpPr>
        <p:spPr>
          <a:xfrm>
            <a:off x="3859116" y="1374775"/>
            <a:ext cx="3062608" cy="19050"/>
          </a:xfrm>
          <a:prstGeom prst="rect">
            <a:avLst/>
          </a:prstGeom>
          <a:solidFill>
            <a:srgbClr val="BE49DF"/>
          </a:solidFill>
          <a:ln/>
        </p:spPr>
      </p:sp>
      <p:sp>
        <p:nvSpPr>
          <p:cNvPr id="10" name="Text 7"/>
          <p:cNvSpPr/>
          <p:nvPr/>
        </p:nvSpPr>
        <p:spPr>
          <a:xfrm>
            <a:off x="3859116" y="1482923"/>
            <a:ext cx="3062608" cy="412353"/>
          </a:xfrm>
          <a:prstGeom prst="rect">
            <a:avLst/>
          </a:prstGeom>
          <a:noFill/>
          <a:ln/>
        </p:spPr>
        <p:txBody>
          <a:bodyPr wrap="square" lIns="0" tIns="0" rIns="0" bIns="0" rtlCol="0" anchor="t">
            <a:normAutofit/>
          </a:bodyPr>
          <a:lstStyle/>
          <a:p>
            <a:pPr algn="l" indent="0" marL="0">
              <a:lnSpc>
                <a:spcPct val="104000"/>
              </a:lnSpc>
              <a:buNone/>
            </a:pPr>
            <a:r>
              <a:rPr lang="en-US" sz="1250" spc="-26" kern="0" dirty="0">
                <a:solidFill>
                  <a:srgbClr val="272525"/>
                </a:solidFill>
                <a:latin typeface="Source Serif 4 SemiBold" pitchFamily="34" charset="0"/>
                <a:ea typeface="Source Serif 4 SemiBold" pitchFamily="34" charset="-122"/>
                <a:cs typeface="Source Serif 4 SemiBold" pitchFamily="34" charset="-120"/>
              </a:rPr>
              <a:t>Gap 2 — Limited Unseen-Domain Generalization</a:t>
            </a:r>
            <a:endParaRPr lang="en-US" sz="1250" dirty="0"/>
          </a:p>
        </p:txBody>
      </p:sp>
      <p:sp>
        <p:nvSpPr>
          <p:cNvPr id="11" name="Text 8"/>
          <p:cNvSpPr/>
          <p:nvPr/>
        </p:nvSpPr>
        <p:spPr>
          <a:xfrm>
            <a:off x="3859116" y="1954411"/>
            <a:ext cx="3062608" cy="573286"/>
          </a:xfrm>
          <a:prstGeom prst="rect">
            <a:avLst/>
          </a:prstGeom>
          <a:noFill/>
          <a:ln/>
        </p:spPr>
        <p:txBody>
          <a:bodyPr wrap="square" lIns="0" tIns="0" rIns="0" bIns="0" rtlCol="0" anchor="t">
            <a:normAutofit/>
          </a:bodyPr>
          <a:lstStyle/>
          <a:p>
            <a:pPr algn="l" indent="0" marL="0">
              <a:lnSpc>
                <a:spcPct val="114000"/>
              </a:lnSpc>
              <a:buNone/>
            </a:pPr>
            <a:r>
              <a:rPr lang="en-US" sz="1100" spc="-22" kern="0" dirty="0">
                <a:solidFill>
                  <a:srgbClr val="272525"/>
                </a:solidFill>
                <a:latin typeface="Source Sans 3" pitchFamily="34" charset="0"/>
                <a:ea typeface="Source Sans 3" pitchFamily="34" charset="-122"/>
                <a:cs typeface="Source Sans 3" pitchFamily="34" charset="-120"/>
              </a:rPr>
              <a:t>Many evaluations rely on random dataset splits. Their performance may not fully reflect how models behave on previously unseen domains and datasets.</a:t>
            </a:r>
            <a:endParaRPr lang="en-US" sz="1100" dirty="0"/>
          </a:p>
        </p:txBody>
      </p:sp>
      <p:sp>
        <p:nvSpPr>
          <p:cNvPr id="12" name="Text 9"/>
          <p:cNvSpPr/>
          <p:nvPr/>
        </p:nvSpPr>
        <p:spPr>
          <a:xfrm>
            <a:off x="698086" y="2922488"/>
            <a:ext cx="280484" cy="175320"/>
          </a:xfrm>
          <a:prstGeom prst="rect">
            <a:avLst/>
          </a:prstGeom>
          <a:noFill/>
          <a:ln/>
        </p:spPr>
        <p:txBody>
          <a:bodyPr wrap="none" lIns="0" tIns="0" rIns="0" bIns="0" rtlCol="0" anchor="ctr"/>
          <a:lstStyle/>
          <a:p>
            <a:pPr algn="l" indent="0" marL="0">
              <a:lnSpc>
                <a:spcPct val="100000"/>
              </a:lnSpc>
              <a:buNone/>
            </a:pPr>
            <a:r>
              <a:rPr lang="en-US" sz="1100" spc="-22" kern="0" dirty="0">
                <a:solidFill>
                  <a:srgbClr val="272525"/>
                </a:solidFill>
                <a:latin typeface="Source Serif 4 Light" pitchFamily="34" charset="0"/>
                <a:ea typeface="Source Serif 4 Light" pitchFamily="34" charset="-122"/>
                <a:cs typeface="Source Serif 4 Light" pitchFamily="34" charset="-120"/>
              </a:rPr>
              <a:t>03</a:t>
            </a:r>
            <a:endParaRPr lang="en-US" sz="1100" dirty="0"/>
          </a:p>
        </p:txBody>
      </p:sp>
      <p:sp>
        <p:nvSpPr>
          <p:cNvPr id="13" name="Shape 10"/>
          <p:cNvSpPr/>
          <p:nvPr/>
        </p:nvSpPr>
        <p:spPr>
          <a:xfrm>
            <a:off x="698086" y="3141762"/>
            <a:ext cx="3062509" cy="19050"/>
          </a:xfrm>
          <a:prstGeom prst="rect">
            <a:avLst/>
          </a:prstGeom>
          <a:solidFill>
            <a:srgbClr val="BE49DF"/>
          </a:solidFill>
          <a:ln/>
        </p:spPr>
      </p:sp>
      <p:sp>
        <p:nvSpPr>
          <p:cNvPr id="14" name="Text 11"/>
          <p:cNvSpPr/>
          <p:nvPr/>
        </p:nvSpPr>
        <p:spPr>
          <a:xfrm>
            <a:off x="698086" y="3249910"/>
            <a:ext cx="3062509" cy="206177"/>
          </a:xfrm>
          <a:prstGeom prst="rect">
            <a:avLst/>
          </a:prstGeom>
          <a:noFill/>
          <a:ln/>
        </p:spPr>
        <p:txBody>
          <a:bodyPr wrap="none" lIns="0" tIns="0" rIns="0" bIns="0" rtlCol="0" anchor="t"/>
          <a:lstStyle/>
          <a:p>
            <a:pPr algn="l" indent="0" marL="0">
              <a:lnSpc>
                <a:spcPct val="104000"/>
              </a:lnSpc>
              <a:buNone/>
            </a:pPr>
            <a:r>
              <a:rPr lang="en-US" sz="1250" spc="-26" kern="0" dirty="0">
                <a:solidFill>
                  <a:srgbClr val="272525"/>
                </a:solidFill>
                <a:latin typeface="Source Serif 4 SemiBold" pitchFamily="34" charset="0"/>
                <a:ea typeface="Source Serif 4 SemiBold" pitchFamily="34" charset="-122"/>
                <a:cs typeface="Source Serif 4 SemiBold" pitchFamily="34" charset="-120"/>
              </a:rPr>
              <a:t>Gap 3 — Limited Explainability</a:t>
            </a:r>
            <a:endParaRPr lang="en-US" sz="1250" dirty="0"/>
          </a:p>
        </p:txBody>
      </p:sp>
      <p:sp>
        <p:nvSpPr>
          <p:cNvPr id="15" name="Text 12"/>
          <p:cNvSpPr/>
          <p:nvPr/>
        </p:nvSpPr>
        <p:spPr>
          <a:xfrm>
            <a:off x="698086" y="3515221"/>
            <a:ext cx="3062509" cy="573286"/>
          </a:xfrm>
          <a:prstGeom prst="rect">
            <a:avLst/>
          </a:prstGeom>
          <a:noFill/>
          <a:ln/>
        </p:spPr>
        <p:txBody>
          <a:bodyPr wrap="square" lIns="0" tIns="0" rIns="0" bIns="0" rtlCol="0" anchor="t">
            <a:normAutofit/>
          </a:bodyPr>
          <a:lstStyle/>
          <a:p>
            <a:pPr algn="l" indent="0" marL="0">
              <a:lnSpc>
                <a:spcPct val="114000"/>
              </a:lnSpc>
              <a:buNone/>
            </a:pPr>
            <a:r>
              <a:rPr lang="en-US" sz="1100" spc="-22" kern="0" dirty="0">
                <a:solidFill>
                  <a:srgbClr val="272525"/>
                </a:solidFill>
                <a:latin typeface="Source Sans 3" pitchFamily="34" charset="0"/>
                <a:ea typeface="Source Sans 3" pitchFamily="34" charset="-122"/>
                <a:cs typeface="Source Sans 3" pitchFamily="34" charset="-120"/>
              </a:rPr>
              <a:t>High-performing phishing classifiers often provide a prediction without sufficiently explaining the evidence contributing to the decision.</a:t>
            </a:r>
            <a:endParaRPr lang="en-US" sz="1100" dirty="0"/>
          </a:p>
        </p:txBody>
      </p:sp>
      <p:sp>
        <p:nvSpPr>
          <p:cNvPr id="16" name="Text 13"/>
          <p:cNvSpPr/>
          <p:nvPr/>
        </p:nvSpPr>
        <p:spPr>
          <a:xfrm>
            <a:off x="3859116" y="2922488"/>
            <a:ext cx="280484" cy="175320"/>
          </a:xfrm>
          <a:prstGeom prst="rect">
            <a:avLst/>
          </a:prstGeom>
          <a:noFill/>
          <a:ln/>
        </p:spPr>
        <p:txBody>
          <a:bodyPr wrap="none" lIns="0" tIns="0" rIns="0" bIns="0" rtlCol="0" anchor="ctr"/>
          <a:lstStyle/>
          <a:p>
            <a:pPr algn="l" indent="0" marL="0">
              <a:lnSpc>
                <a:spcPct val="100000"/>
              </a:lnSpc>
              <a:buNone/>
            </a:pPr>
            <a:r>
              <a:rPr lang="en-US" sz="1100" spc="-22" kern="0" dirty="0">
                <a:solidFill>
                  <a:srgbClr val="272525"/>
                </a:solidFill>
                <a:latin typeface="Source Serif 4 Light" pitchFamily="34" charset="0"/>
                <a:ea typeface="Source Serif 4 Light" pitchFamily="34" charset="-122"/>
                <a:cs typeface="Source Serif 4 Light" pitchFamily="34" charset="-120"/>
              </a:rPr>
              <a:t>04</a:t>
            </a:r>
            <a:endParaRPr lang="en-US" sz="1100" dirty="0"/>
          </a:p>
        </p:txBody>
      </p:sp>
      <p:sp>
        <p:nvSpPr>
          <p:cNvPr id="17" name="Shape 14"/>
          <p:cNvSpPr/>
          <p:nvPr/>
        </p:nvSpPr>
        <p:spPr>
          <a:xfrm>
            <a:off x="3859116" y="3141762"/>
            <a:ext cx="3062608" cy="19050"/>
          </a:xfrm>
          <a:prstGeom prst="rect">
            <a:avLst/>
          </a:prstGeom>
          <a:solidFill>
            <a:srgbClr val="BE49DF"/>
          </a:solidFill>
          <a:ln/>
        </p:spPr>
      </p:sp>
      <p:sp>
        <p:nvSpPr>
          <p:cNvPr id="18" name="Text 15"/>
          <p:cNvSpPr/>
          <p:nvPr/>
        </p:nvSpPr>
        <p:spPr>
          <a:xfrm>
            <a:off x="3859116" y="3249910"/>
            <a:ext cx="3062608" cy="412353"/>
          </a:xfrm>
          <a:prstGeom prst="rect">
            <a:avLst/>
          </a:prstGeom>
          <a:noFill/>
          <a:ln/>
        </p:spPr>
        <p:txBody>
          <a:bodyPr wrap="square" lIns="0" tIns="0" rIns="0" bIns="0" rtlCol="0" anchor="t">
            <a:normAutofit/>
          </a:bodyPr>
          <a:lstStyle/>
          <a:p>
            <a:pPr algn="l" indent="0" marL="0">
              <a:lnSpc>
                <a:spcPct val="104000"/>
              </a:lnSpc>
              <a:buNone/>
            </a:pPr>
            <a:r>
              <a:rPr lang="en-US" sz="1250" spc="-26" kern="0" dirty="0">
                <a:solidFill>
                  <a:srgbClr val="272525"/>
                </a:solidFill>
                <a:latin typeface="Source Serif 4 SemiBold" pitchFamily="34" charset="0"/>
                <a:ea typeface="Source Serif 4 SemiBold" pitchFamily="34" charset="-122"/>
                <a:cs typeface="Source Serif 4 SemiBold" pitchFamily="34" charset="-120"/>
              </a:rPr>
              <a:t>Gap 4 — Limited Knowledge-Grounded Reasoning</a:t>
            </a:r>
            <a:endParaRPr lang="en-US" sz="1250" dirty="0"/>
          </a:p>
        </p:txBody>
      </p:sp>
      <p:sp>
        <p:nvSpPr>
          <p:cNvPr id="19" name="Text 16"/>
          <p:cNvSpPr/>
          <p:nvPr/>
        </p:nvSpPr>
        <p:spPr>
          <a:xfrm>
            <a:off x="3859116" y="3721398"/>
            <a:ext cx="3062608" cy="573286"/>
          </a:xfrm>
          <a:prstGeom prst="rect">
            <a:avLst/>
          </a:prstGeom>
          <a:noFill/>
          <a:ln/>
        </p:spPr>
        <p:txBody>
          <a:bodyPr wrap="square" lIns="0" tIns="0" rIns="0" bIns="0" rtlCol="0" anchor="t">
            <a:normAutofit/>
          </a:bodyPr>
          <a:lstStyle/>
          <a:p>
            <a:pPr algn="l" indent="0" marL="0">
              <a:lnSpc>
                <a:spcPct val="114000"/>
              </a:lnSpc>
              <a:buNone/>
            </a:pPr>
            <a:r>
              <a:rPr lang="en-US" sz="1100" spc="-22" kern="0" dirty="0">
                <a:solidFill>
                  <a:srgbClr val="272525"/>
                </a:solidFill>
                <a:latin typeface="Source Sans 3" pitchFamily="34" charset="0"/>
                <a:ea typeface="Source Sans 3" pitchFamily="34" charset="-122"/>
                <a:cs typeface="Source Sans 3" pitchFamily="34" charset="-120"/>
              </a:rPr>
              <a:t>Existing detection systems generally do not combine model predictions with retrieved cybersecurity knowledge to produce grounded explanations.</a:t>
            </a:r>
            <a:endParaRPr lang="en-US" sz="1100" dirty="0"/>
          </a:p>
        </p:txBody>
      </p:sp>
      <p:sp>
        <p:nvSpPr>
          <p:cNvPr id="20" name="Text 17"/>
          <p:cNvSpPr/>
          <p:nvPr/>
        </p:nvSpPr>
        <p:spPr>
          <a:xfrm>
            <a:off x="698086" y="4498380"/>
            <a:ext cx="280484" cy="175320"/>
          </a:xfrm>
          <a:prstGeom prst="rect">
            <a:avLst/>
          </a:prstGeom>
          <a:noFill/>
          <a:ln/>
        </p:spPr>
        <p:txBody>
          <a:bodyPr wrap="none" lIns="0" tIns="0" rIns="0" bIns="0" rtlCol="0" anchor="ctr"/>
          <a:lstStyle/>
          <a:p>
            <a:pPr algn="l" indent="0" marL="0">
              <a:lnSpc>
                <a:spcPct val="100000"/>
              </a:lnSpc>
              <a:buNone/>
            </a:pPr>
            <a:r>
              <a:rPr lang="en-US" sz="1100" spc="-22" kern="0" dirty="0">
                <a:solidFill>
                  <a:srgbClr val="272525"/>
                </a:solidFill>
                <a:latin typeface="Source Serif 4 Light" pitchFamily="34" charset="0"/>
                <a:ea typeface="Source Serif 4 Light" pitchFamily="34" charset="-122"/>
                <a:cs typeface="Source Serif 4 Light" pitchFamily="34" charset="-120"/>
              </a:rPr>
              <a:t>05</a:t>
            </a:r>
            <a:endParaRPr lang="en-US" sz="1100" dirty="0"/>
          </a:p>
        </p:txBody>
      </p:sp>
      <p:sp>
        <p:nvSpPr>
          <p:cNvPr id="21" name="Shape 18"/>
          <p:cNvSpPr/>
          <p:nvPr/>
        </p:nvSpPr>
        <p:spPr>
          <a:xfrm>
            <a:off x="698086" y="4717653"/>
            <a:ext cx="6223638" cy="19050"/>
          </a:xfrm>
          <a:prstGeom prst="rect">
            <a:avLst/>
          </a:prstGeom>
          <a:solidFill>
            <a:srgbClr val="BE49DF"/>
          </a:solidFill>
          <a:ln/>
        </p:spPr>
      </p:sp>
      <p:sp>
        <p:nvSpPr>
          <p:cNvPr id="22" name="Text 19"/>
          <p:cNvSpPr/>
          <p:nvPr/>
        </p:nvSpPr>
        <p:spPr>
          <a:xfrm>
            <a:off x="698086" y="4825802"/>
            <a:ext cx="6223638" cy="206177"/>
          </a:xfrm>
          <a:prstGeom prst="rect">
            <a:avLst/>
          </a:prstGeom>
          <a:noFill/>
          <a:ln/>
        </p:spPr>
        <p:txBody>
          <a:bodyPr wrap="none" lIns="0" tIns="0" rIns="0" bIns="0" rtlCol="0" anchor="t"/>
          <a:lstStyle/>
          <a:p>
            <a:pPr algn="l" indent="0" marL="0">
              <a:lnSpc>
                <a:spcPct val="104000"/>
              </a:lnSpc>
              <a:buNone/>
            </a:pPr>
            <a:r>
              <a:rPr lang="en-US" sz="1250" spc="-26" kern="0" dirty="0">
                <a:solidFill>
                  <a:srgbClr val="272525"/>
                </a:solidFill>
                <a:latin typeface="Source Serif 4 SemiBold" pitchFamily="34" charset="0"/>
                <a:ea typeface="Source Serif 4 SemiBold" pitchFamily="34" charset="-122"/>
                <a:cs typeface="Source Serif 4 SemiBold" pitchFamily="34" charset="-120"/>
              </a:rPr>
              <a:t>Gap 5 — Limited Real-World Adaptive Analysis</a:t>
            </a:r>
            <a:endParaRPr lang="en-US" sz="1250" dirty="0"/>
          </a:p>
        </p:txBody>
      </p:sp>
      <p:sp>
        <p:nvSpPr>
          <p:cNvPr id="23" name="Text 20"/>
          <p:cNvSpPr/>
          <p:nvPr/>
        </p:nvSpPr>
        <p:spPr>
          <a:xfrm>
            <a:off x="698086" y="5091113"/>
            <a:ext cx="6223638" cy="382191"/>
          </a:xfrm>
          <a:prstGeom prst="rect">
            <a:avLst/>
          </a:prstGeom>
          <a:noFill/>
          <a:ln/>
        </p:spPr>
        <p:txBody>
          <a:bodyPr wrap="square" lIns="0" tIns="0" rIns="0" bIns="0" rtlCol="0" anchor="t">
            <a:normAutofit/>
          </a:bodyPr>
          <a:lstStyle/>
          <a:p>
            <a:pPr algn="l" indent="0" marL="0">
              <a:lnSpc>
                <a:spcPct val="114000"/>
              </a:lnSpc>
              <a:buNone/>
            </a:pPr>
            <a:r>
              <a:rPr lang="en-US" sz="1100" spc="-22" kern="0" dirty="0">
                <a:solidFill>
                  <a:srgbClr val="272525"/>
                </a:solidFill>
                <a:latin typeface="Source Sans 3" pitchFamily="34" charset="0"/>
                <a:ea typeface="Source Sans 3" pitchFamily="34" charset="-122"/>
                <a:cs typeface="Source Sans 3" pitchFamily="34" charset="-120"/>
              </a:rPr>
              <a:t>Websites may be inaccessible or provide insufficient HTML content. A practical detector therefore needs to support URL + HTML analysis as well as URL-only analysis.</a:t>
            </a:r>
            <a:endParaRPr lang="en-US" sz="1100" dirty="0"/>
          </a:p>
        </p:txBody>
      </p:sp>
      <p:sp>
        <p:nvSpPr>
          <p:cNvPr id="24" name="Text 21"/>
          <p:cNvSpPr/>
          <p:nvPr/>
        </p:nvSpPr>
        <p:spPr>
          <a:xfrm>
            <a:off x="698086" y="5689402"/>
            <a:ext cx="6223638" cy="573286"/>
          </a:xfrm>
          <a:prstGeom prst="rect">
            <a:avLst/>
          </a:prstGeom>
          <a:noFill/>
          <a:ln/>
        </p:spPr>
        <p:txBody>
          <a:bodyPr wrap="square" lIns="0" tIns="0" rIns="0" bIns="0" rtlCol="0" anchor="t">
            <a:normAutofit/>
          </a:bodyPr>
          <a:lstStyle/>
          <a:p>
            <a:pPr algn="l" indent="0" marL="0">
              <a:lnSpc>
                <a:spcPct val="114000"/>
              </a:lnSpc>
              <a:buNone/>
            </a:pPr>
            <a:r>
              <a:rPr lang="en-US" sz="1100" b="1" spc="-22" kern="0" dirty="0">
                <a:solidFill>
                  <a:srgbClr val="272525"/>
                </a:solidFill>
                <a:latin typeface="Source Sans 3 Bold" pitchFamily="34" charset="0"/>
                <a:ea typeface="Source Sans 3 Bold" pitchFamily="34" charset="-122"/>
                <a:cs typeface="Source Sans 3 Bold" pitchFamily="34" charset="-120"/>
              </a:rPr>
              <a:t>Value proposition:</a:t>
            </a:r>
            <a:pPr algn="l" indent="0" marL="0">
              <a:lnSpc>
                <a:spcPct val="114000"/>
              </a:lnSpc>
              <a:buNone/>
            </a:pPr>
            <a:r>
              <a:rPr lang="en-US" sz="1100" spc="-22" kern="0" dirty="0">
                <a:solidFill>
                  <a:srgbClr val="272525"/>
                </a:solidFill>
                <a:latin typeface="Source Sans 3" pitchFamily="34" charset="0"/>
                <a:ea typeface="Source Sans 3" pitchFamily="34" charset="-122"/>
                <a:cs typeface="Source Sans 3" pitchFamily="34" charset="-120"/>
              </a:rPr>
              <a:t> A practical phishing detection system should fuse URL and HTML evidence, generalize to unseen domains, explain its decisions, ground outputs in cybersecurity knowledge, and adapt gracefully when only URL evidence is available.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554732"/>
            <a:ext cx="10795524" cy="577552"/>
          </a:xfrm>
          <a:prstGeom prst="rect">
            <a:avLst/>
          </a:prstGeom>
          <a:noFill/>
          <a:ln/>
        </p:spPr>
        <p:txBody>
          <a:bodyPr wrap="none" lIns="0" tIns="0" rIns="0" bIns="0" rtlCol="0" anchor="t"/>
          <a:lstStyle/>
          <a:p>
            <a:pPr algn="l" indent="0" marL="0">
              <a:lnSpc>
                <a:spcPct val="104000"/>
              </a:lnSpc>
              <a:buNone/>
            </a:pPr>
            <a:r>
              <a:rPr lang="en-US" sz="3600" spc="-73" kern="0" dirty="0">
                <a:solidFill>
                  <a:srgbClr val="000000"/>
                </a:solidFill>
                <a:latin typeface="Source Serif 4 SemiBold" pitchFamily="34" charset="0"/>
                <a:ea typeface="Source Serif 4 SemiBold" pitchFamily="34" charset="-122"/>
                <a:cs typeface="Source Serif 4 SemiBold" pitchFamily="34" charset="-120"/>
              </a:rPr>
              <a:t>Enhancements</a:t>
            </a:r>
            <a:endParaRPr lang="en-US" sz="3600" dirty="0"/>
          </a:p>
        </p:txBody>
      </p:sp>
      <p:sp>
        <p:nvSpPr>
          <p:cNvPr id="3" name="Text 1"/>
          <p:cNvSpPr/>
          <p:nvPr/>
        </p:nvSpPr>
        <p:spPr>
          <a:xfrm>
            <a:off x="698086" y="1518841"/>
            <a:ext cx="11405108" cy="311646"/>
          </a:xfrm>
          <a:prstGeom prst="rect">
            <a:avLst/>
          </a:prstGeom>
          <a:noFill/>
          <a:ln/>
        </p:spPr>
        <p:txBody>
          <a:bodyPr wrap="none" lIns="0" tIns="0" rIns="0" bIns="0" rtlCol="0" anchor="t"/>
          <a:lstStyle/>
          <a:p>
            <a:pPr algn="l" indent="0" marL="0">
              <a:lnSpc>
                <a:spcPct val="132000"/>
              </a:lnSpc>
              <a:buNone/>
            </a:pPr>
            <a:r>
              <a:rPr lang="en-US" sz="1500" b="1" spc="-31" kern="0" dirty="0">
                <a:solidFill>
                  <a:srgbClr val="272525"/>
                </a:solidFill>
                <a:latin typeface="Source Sans 3 Bold" pitchFamily="34" charset="0"/>
                <a:ea typeface="Source Sans 3 Bold" pitchFamily="34" charset="-122"/>
                <a:cs typeface="Source Sans 3 Bold" pitchFamily="34" charset="-120"/>
              </a:rPr>
              <a:t>A clearer, stronger pipeline</a:t>
            </a:r>
            <a:pPr algn="l" indent="0" marL="0">
              <a:lnSpc>
                <a:spcPct val="132000"/>
              </a:lnSpc>
              <a:buNone/>
            </a:pPr>
            <a:r>
              <a:rPr lang="en-US" sz="1500" spc="-31" kern="0" dirty="0">
                <a:solidFill>
                  <a:srgbClr val="272525"/>
                </a:solidFill>
                <a:latin typeface="Source Sans 3" pitchFamily="34" charset="0"/>
                <a:ea typeface="Source Sans 3" pitchFamily="34" charset="-122"/>
                <a:cs typeface="Source Sans 3" pitchFamily="34" charset="-120"/>
              </a:rPr>
              <a:t> that expands analysis, enriches features, improves modeling, and adds explainability.</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8086" y="2047875"/>
          <a:ext cx="9143771" cy="914400"/>
        </p:xfrm>
        <a:graphic>
          <a:graphicData uri="http://schemas.openxmlformats.org/drawingml/2006/table">
            <a:tbl>
              <a:tblPr/>
              <a:tblGrid>
                <a:gridCol w="2375015"/>
                <a:gridCol w="3886389"/>
                <a:gridCol w="4534120"/>
              </a:tblGrid>
              <a:tr h="559282">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Feature</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E8EEF9"/>
                    </a:solidFill>
                  </a:tcPr>
                </a:tc>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Existing System</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E8EEF9"/>
                    </a:solidFill>
                  </a:tcPr>
                </a:tc>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Proposed PhishXpert</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E8EEF9"/>
                    </a:solidFill>
                  </a:tcPr>
                </a:tc>
              </a:tr>
              <a:tr h="562457">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Analysis</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URL + HTML analysis</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Multi-modal URL + HTML analysis</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874095">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Features</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Conventional URL/HTML features</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23 engineered features with entropy, keywords, links and form indicators</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562457">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Model</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XGBoost / conventional ML</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Two-branch Neural Evidence Fusion</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562457">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Generalization</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Dataset-based evaluation</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D1 + CompPhish + domain-unseen evaluation</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562457">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Explainability</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Prediction-focused</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Evidence + RAG + Gemini-generated explanation</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559282">
                <a:tc>
                  <a:txBody>
                    <a:bodyPr/>
                    <a:lstStyle/>
                    <a:p>
                      <a:pPr indent="0" marL="0">
                        <a:buNone/>
                      </a:pPr>
                      <a:r>
                        <a:rPr lang="en-US" sz="1500" b="1" spc="-31" kern="0" dirty="0">
                          <a:solidFill>
                            <a:srgbClr val="272525"/>
                          </a:solidFill>
                          <a:latin typeface="Source Sans 3" pitchFamily="34" charset="0"/>
                          <a:ea typeface="Source Sans 3" pitchFamily="34" charset="-122"/>
                          <a:cs typeface="Source Sans 3" pitchFamily="34" charset="-120"/>
                        </a:rPr>
                        <a:t>Deployment</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Limited integration</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1500" spc="-31" kern="0" dirty="0">
                          <a:solidFill>
                            <a:srgbClr val="272525"/>
                          </a:solidFill>
                          <a:latin typeface="Source Sans 3" pitchFamily="34" charset="0"/>
                          <a:ea typeface="Source Sans 3" pitchFamily="34" charset="-122"/>
                          <a:cs typeface="Source Sans 3" pitchFamily="34" charset="-120"/>
                        </a:rPr>
                        <a:t>FastAPI + interactive frontend + URL-only fallback</a:t>
                      </a:r>
                      <a:endParaRPr lang="en-US" sz="1500" dirty="0">
                        <a:latin typeface="Source Sans 3" charset="0"/>
                        <a:ea typeface="Source Sans 3" charset="0"/>
                        <a:cs typeface="Source Sans 3" charset="0"/>
                      </a:endParaRPr>
                    </a:p>
                  </a:txBody>
                  <a:tcPr marL="196362" marR="196362"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086" y="969466"/>
            <a:ext cx="10795524" cy="586680"/>
          </a:xfrm>
          <a:prstGeom prst="rect">
            <a:avLst/>
          </a:prstGeom>
          <a:noFill/>
          <a:ln/>
        </p:spPr>
        <p:txBody>
          <a:bodyPr wrap="none" lIns="0" tIns="0" rIns="0" bIns="0" rtlCol="0" anchor="t"/>
          <a:lstStyle/>
          <a:p>
            <a:pPr algn="l" indent="0" marL="0">
              <a:lnSpc>
                <a:spcPct val="104000"/>
              </a:lnSpc>
              <a:buNone/>
            </a:pPr>
            <a:r>
              <a:rPr lang="en-US" sz="3650" spc="-74" kern="0" dirty="0">
                <a:solidFill>
                  <a:srgbClr val="000000"/>
                </a:solidFill>
                <a:latin typeface="Source Serif 4 SemiBold" pitchFamily="34" charset="0"/>
                <a:ea typeface="Source Serif 4 SemiBold" pitchFamily="34" charset="-122"/>
                <a:cs typeface="Source Serif 4 SemiBold" pitchFamily="34" charset="-120"/>
              </a:rPr>
              <a:t>Why This Solution Stands Out</a:t>
            </a:r>
            <a:endParaRPr lang="en-US" sz="3650" dirty="0"/>
          </a:p>
        </p:txBody>
      </p:sp>
      <p:sp>
        <p:nvSpPr>
          <p:cNvPr id="3" name="Shape 1"/>
          <p:cNvSpPr/>
          <p:nvPr/>
        </p:nvSpPr>
        <p:spPr>
          <a:xfrm>
            <a:off x="698086" y="1955105"/>
            <a:ext cx="2549263" cy="3933428"/>
          </a:xfrm>
          <a:prstGeom prst="roundRect">
            <a:avLst>
              <a:gd name="adj" fmla="val 3286"/>
            </a:avLst>
          </a:prstGeom>
          <a:solidFill>
            <a:srgbClr val="FFFFFF">
              <a:alpha val="95000"/>
            </a:srgbClr>
          </a:solidFill>
          <a:ln w="25399">
            <a:solidFill>
              <a:srgbClr val="D6BADD"/>
            </a:solidFill>
            <a:prstDash val="solid"/>
          </a:ln>
        </p:spPr>
      </p:sp>
      <p:sp>
        <p:nvSpPr>
          <p:cNvPr id="4" name="Text 2"/>
          <p:cNvSpPr/>
          <p:nvPr/>
        </p:nvSpPr>
        <p:spPr>
          <a:xfrm>
            <a:off x="922910" y="2179935"/>
            <a:ext cx="2099615" cy="351929"/>
          </a:xfrm>
          <a:prstGeom prst="rect">
            <a:avLst/>
          </a:prstGeom>
          <a:noFill/>
          <a:ln/>
        </p:spPr>
        <p:txBody>
          <a:bodyPr wrap="none" lIns="0" tIns="0" rIns="0" bIns="0" rtlCol="0" anchor="t"/>
          <a:lstStyle/>
          <a:p>
            <a:pPr algn="l" indent="0" marL="0">
              <a:lnSpc>
                <a:spcPct val="104000"/>
              </a:lnSpc>
              <a:buNone/>
            </a:pPr>
            <a:r>
              <a:rPr lang="en-US" sz="2200" b="1" spc="-44" kern="0" dirty="0">
                <a:solidFill>
                  <a:srgbClr val="272525"/>
                </a:solidFill>
                <a:latin typeface="Source Serif 4 Bold" pitchFamily="34" charset="0"/>
                <a:ea typeface="Source Serif 4 Bold" pitchFamily="34" charset="-122"/>
                <a:cs typeface="Source Serif 4 Bold" pitchFamily="34" charset="-120"/>
              </a:rPr>
              <a:t>Innovation</a:t>
            </a:r>
            <a:endParaRPr lang="en-US" sz="2200" dirty="0"/>
          </a:p>
        </p:txBody>
      </p:sp>
      <p:sp>
        <p:nvSpPr>
          <p:cNvPr id="5" name="Text 3"/>
          <p:cNvSpPr/>
          <p:nvPr/>
        </p:nvSpPr>
        <p:spPr>
          <a:xfrm>
            <a:off x="922910" y="2651522"/>
            <a:ext cx="2099615" cy="2373809"/>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Two-branch URL + HTML Neural Evidence Fusion</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23 engineered URL/HTML features</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Adaptive URL + HTML / URL-only analysis</a:t>
            </a:r>
            <a:endParaRPr lang="en-US" sz="1550" dirty="0"/>
          </a:p>
        </p:txBody>
      </p:sp>
      <p:sp>
        <p:nvSpPr>
          <p:cNvPr id="6" name="Shape 4"/>
          <p:cNvSpPr/>
          <p:nvPr/>
        </p:nvSpPr>
        <p:spPr>
          <a:xfrm>
            <a:off x="3446773" y="1955105"/>
            <a:ext cx="2549362" cy="3933428"/>
          </a:xfrm>
          <a:prstGeom prst="roundRect">
            <a:avLst>
              <a:gd name="adj" fmla="val 3286"/>
            </a:avLst>
          </a:prstGeom>
          <a:solidFill>
            <a:srgbClr val="FFFFFF">
              <a:alpha val="95000"/>
            </a:srgbClr>
          </a:solidFill>
          <a:ln w="25399">
            <a:solidFill>
              <a:srgbClr val="D6BADD"/>
            </a:solidFill>
            <a:prstDash val="solid"/>
          </a:ln>
        </p:spPr>
      </p:sp>
      <p:sp>
        <p:nvSpPr>
          <p:cNvPr id="7" name="Text 5"/>
          <p:cNvSpPr/>
          <p:nvPr/>
        </p:nvSpPr>
        <p:spPr>
          <a:xfrm>
            <a:off x="3671597" y="2179935"/>
            <a:ext cx="2099714" cy="351929"/>
          </a:xfrm>
          <a:prstGeom prst="rect">
            <a:avLst/>
          </a:prstGeom>
          <a:noFill/>
          <a:ln/>
        </p:spPr>
        <p:txBody>
          <a:bodyPr wrap="none" lIns="0" tIns="0" rIns="0" bIns="0" rtlCol="0" anchor="t"/>
          <a:lstStyle/>
          <a:p>
            <a:pPr algn="l" indent="0" marL="0">
              <a:lnSpc>
                <a:spcPct val="104000"/>
              </a:lnSpc>
              <a:buNone/>
            </a:pPr>
            <a:r>
              <a:rPr lang="en-US" sz="2200" b="1" spc="-44" kern="0" dirty="0">
                <a:solidFill>
                  <a:srgbClr val="272525"/>
                </a:solidFill>
                <a:latin typeface="Source Serif 4 Bold" pitchFamily="34" charset="0"/>
                <a:ea typeface="Source Serif 4 Bold" pitchFamily="34" charset="-122"/>
                <a:cs typeface="Source Serif 4 Bold" pitchFamily="34" charset="-120"/>
              </a:rPr>
              <a:t>Novelty</a:t>
            </a:r>
            <a:endParaRPr lang="en-US" sz="2200" dirty="0"/>
          </a:p>
        </p:txBody>
      </p:sp>
      <p:sp>
        <p:nvSpPr>
          <p:cNvPr id="8" name="Text 6"/>
          <p:cNvSpPr/>
          <p:nvPr/>
        </p:nvSpPr>
        <p:spPr>
          <a:xfrm>
            <a:off x="3671597" y="2651522"/>
            <a:ext cx="2099714" cy="3012182"/>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ML prediction + domain + webpage evidence</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RAG-based cybersecurity knowledge grounding</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Cross-dataset and domain-unseen evaluation</a:t>
            </a:r>
            <a:endParaRPr lang="en-US" sz="1550" dirty="0"/>
          </a:p>
        </p:txBody>
      </p:sp>
      <p:sp>
        <p:nvSpPr>
          <p:cNvPr id="9" name="Shape 7"/>
          <p:cNvSpPr/>
          <p:nvPr/>
        </p:nvSpPr>
        <p:spPr>
          <a:xfrm>
            <a:off x="6195560" y="1955105"/>
            <a:ext cx="2549263" cy="3933428"/>
          </a:xfrm>
          <a:prstGeom prst="roundRect">
            <a:avLst>
              <a:gd name="adj" fmla="val 3286"/>
            </a:avLst>
          </a:prstGeom>
          <a:solidFill>
            <a:srgbClr val="FFFFFF">
              <a:alpha val="95000"/>
            </a:srgbClr>
          </a:solidFill>
          <a:ln w="25399">
            <a:solidFill>
              <a:srgbClr val="D6BADD"/>
            </a:solidFill>
            <a:prstDash val="solid"/>
          </a:ln>
        </p:spPr>
      </p:sp>
      <p:sp>
        <p:nvSpPr>
          <p:cNvPr id="10" name="Text 8"/>
          <p:cNvSpPr/>
          <p:nvPr/>
        </p:nvSpPr>
        <p:spPr>
          <a:xfrm>
            <a:off x="6420384" y="2179935"/>
            <a:ext cx="2099615" cy="351929"/>
          </a:xfrm>
          <a:prstGeom prst="rect">
            <a:avLst/>
          </a:prstGeom>
          <a:noFill/>
          <a:ln/>
        </p:spPr>
        <p:txBody>
          <a:bodyPr wrap="none" lIns="0" tIns="0" rIns="0" bIns="0" rtlCol="0" anchor="t"/>
          <a:lstStyle/>
          <a:p>
            <a:pPr algn="l" indent="0" marL="0">
              <a:lnSpc>
                <a:spcPct val="104000"/>
              </a:lnSpc>
              <a:buNone/>
            </a:pPr>
            <a:r>
              <a:rPr lang="en-US" sz="2200" b="1" spc="-44" kern="0" dirty="0">
                <a:solidFill>
                  <a:srgbClr val="272525"/>
                </a:solidFill>
                <a:latin typeface="Source Serif 4 Bold" pitchFamily="34" charset="0"/>
                <a:ea typeface="Source Serif 4 Bold" pitchFamily="34" charset="-122"/>
                <a:cs typeface="Source Serif 4 Bold" pitchFamily="34" charset="-120"/>
              </a:rPr>
              <a:t>Creativity</a:t>
            </a:r>
            <a:endParaRPr lang="en-US" sz="2200" dirty="0"/>
          </a:p>
        </p:txBody>
      </p:sp>
      <p:sp>
        <p:nvSpPr>
          <p:cNvPr id="11" name="Text 9"/>
          <p:cNvSpPr/>
          <p:nvPr/>
        </p:nvSpPr>
        <p:spPr>
          <a:xfrm>
            <a:off x="6420384" y="2651522"/>
            <a:ext cx="2099615" cy="2692995"/>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Benign / Suspicious / Phishing decisions</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Confidence + evidence + explanation</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Gemini-powered natural-language explanations</a:t>
            </a:r>
            <a:endParaRPr lang="en-US" sz="1550" dirty="0"/>
          </a:p>
        </p:txBody>
      </p:sp>
      <p:sp>
        <p:nvSpPr>
          <p:cNvPr id="12" name="Shape 10"/>
          <p:cNvSpPr/>
          <p:nvPr/>
        </p:nvSpPr>
        <p:spPr>
          <a:xfrm>
            <a:off x="8944247" y="1955105"/>
            <a:ext cx="2549362" cy="3933428"/>
          </a:xfrm>
          <a:prstGeom prst="roundRect">
            <a:avLst>
              <a:gd name="adj" fmla="val 3286"/>
            </a:avLst>
          </a:prstGeom>
          <a:solidFill>
            <a:srgbClr val="FFFFFF">
              <a:alpha val="95000"/>
            </a:srgbClr>
          </a:solidFill>
          <a:ln w="25399">
            <a:solidFill>
              <a:srgbClr val="D6BADD"/>
            </a:solidFill>
            <a:prstDash val="solid"/>
          </a:ln>
        </p:spPr>
      </p:sp>
      <p:sp>
        <p:nvSpPr>
          <p:cNvPr id="13" name="Text 11"/>
          <p:cNvSpPr/>
          <p:nvPr/>
        </p:nvSpPr>
        <p:spPr>
          <a:xfrm>
            <a:off x="9169071" y="2179935"/>
            <a:ext cx="2099714" cy="351929"/>
          </a:xfrm>
          <a:prstGeom prst="rect">
            <a:avLst/>
          </a:prstGeom>
          <a:noFill/>
          <a:ln/>
        </p:spPr>
        <p:txBody>
          <a:bodyPr wrap="none" lIns="0" tIns="0" rIns="0" bIns="0" rtlCol="0" anchor="t"/>
          <a:lstStyle/>
          <a:p>
            <a:pPr algn="l" indent="0" marL="0">
              <a:lnSpc>
                <a:spcPct val="104000"/>
              </a:lnSpc>
              <a:buNone/>
            </a:pPr>
            <a:r>
              <a:rPr lang="en-US" sz="2200" b="1" spc="-44" kern="0" dirty="0">
                <a:solidFill>
                  <a:srgbClr val="272525"/>
                </a:solidFill>
                <a:latin typeface="Source Serif 4 Bold" pitchFamily="34" charset="0"/>
                <a:ea typeface="Source Serif 4 Bold" pitchFamily="34" charset="-122"/>
                <a:cs typeface="Source Serif 4 Bold" pitchFamily="34" charset="-120"/>
              </a:rPr>
              <a:t>Feasibility</a:t>
            </a:r>
            <a:endParaRPr lang="en-US" sz="2200" dirty="0"/>
          </a:p>
        </p:txBody>
      </p:sp>
      <p:sp>
        <p:nvSpPr>
          <p:cNvPr id="14" name="Text 12"/>
          <p:cNvSpPr/>
          <p:nvPr/>
        </p:nvSpPr>
        <p:spPr>
          <a:xfrm>
            <a:off x="9169071" y="2651522"/>
            <a:ext cx="2099714" cy="2373809"/>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FastAPI + interactive web interface</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Real-time URL analysis</a:t>
            </a:r>
            <a:endParaRPr lang="en-US" sz="1550" dirty="0"/>
          </a:p>
          <a:p>
            <a:pPr algn="l" marL="314960" indent="-314960">
              <a:lnSpc>
                <a:spcPct val="133000"/>
              </a:lnSpc>
              <a:buSzPct val="100000"/>
              <a:buChar char="•"/>
            </a:pPr>
            <a:r>
              <a:rPr lang="en-US" sz="1550" spc="-31" kern="0" dirty="0">
                <a:solidFill>
                  <a:srgbClr val="272525"/>
                </a:solidFill>
                <a:latin typeface="Source Sans 3" pitchFamily="34" charset="0"/>
                <a:ea typeface="Source Sans 3" pitchFamily="34" charset="-122"/>
                <a:cs typeface="Source Sans 3" pitchFamily="34" charset="-120"/>
              </a:rPr>
              <a:t>Practical fallback for inaccessible webpages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98086" y="1782663"/>
            <a:ext cx="10795524" cy="586680"/>
          </a:xfrm>
          <a:prstGeom prst="rect">
            <a:avLst/>
          </a:prstGeom>
          <a:noFill/>
          <a:ln/>
        </p:spPr>
        <p:txBody>
          <a:bodyPr wrap="none" lIns="0" tIns="0" rIns="0" bIns="0" rtlCol="0" anchor="t"/>
          <a:lstStyle/>
          <a:p>
            <a:pPr algn="l" indent="0" marL="0">
              <a:lnSpc>
                <a:spcPct val="104000"/>
              </a:lnSpc>
              <a:buNone/>
            </a:pPr>
            <a:r>
              <a:rPr lang="en-US" sz="3650" spc="-74" kern="0" dirty="0">
                <a:solidFill>
                  <a:srgbClr val="000000"/>
                </a:solidFill>
                <a:latin typeface="Source Serif 4 SemiBold" pitchFamily="34" charset="0"/>
                <a:ea typeface="Source Serif 4 SemiBold" pitchFamily="34" charset="-122"/>
                <a:cs typeface="Source Serif 4 SemiBold" pitchFamily="34" charset="-120"/>
              </a:rPr>
              <a:t>Clients &amp; Application Areas</a:t>
            </a:r>
            <a:endParaRPr lang="en-US" sz="3650" dirty="0"/>
          </a:p>
        </p:txBody>
      </p:sp>
      <p:sp>
        <p:nvSpPr>
          <p:cNvPr id="3" name="Text 1"/>
          <p:cNvSpPr/>
          <p:nvPr/>
        </p:nvSpPr>
        <p:spPr>
          <a:xfrm>
            <a:off x="698086" y="2668488"/>
            <a:ext cx="11405108" cy="319187"/>
          </a:xfrm>
          <a:prstGeom prst="rect">
            <a:avLst/>
          </a:prstGeom>
          <a:noFill/>
          <a:ln/>
        </p:spPr>
        <p:txBody>
          <a:bodyPr wrap="none" lIns="0" tIns="0" rIns="0" bIns="0" rtlCol="0" anchor="t"/>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Where phishing detection creates the most value across industries and user groups.</a:t>
            </a:r>
            <a:endParaRPr lang="en-US" sz="15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3212009"/>
            <a:ext cx="498661" cy="498673"/>
          </a:xfrm>
          <a:prstGeom prst="rect">
            <a:avLst/>
          </a:prstGeom>
        </p:spPr>
      </p:pic>
      <p:sp>
        <p:nvSpPr>
          <p:cNvPr id="5" name="Text 2"/>
          <p:cNvSpPr/>
          <p:nvPr/>
        </p:nvSpPr>
        <p:spPr>
          <a:xfrm>
            <a:off x="1446077" y="3212009"/>
            <a:ext cx="4525056"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272525"/>
                </a:solidFill>
                <a:latin typeface="Source Serif 4 SemiBold" pitchFamily="34" charset="0"/>
                <a:ea typeface="Source Serif 4 SemiBold" pitchFamily="34" charset="-122"/>
                <a:cs typeface="Source Serif 4 SemiBold" pitchFamily="34" charset="-120"/>
              </a:rPr>
              <a:t>Banks &amp; Financial Institutions</a:t>
            </a:r>
            <a:endParaRPr lang="en-US" sz="1800" dirty="0"/>
          </a:p>
        </p:txBody>
      </p:sp>
      <p:sp>
        <p:nvSpPr>
          <p:cNvPr id="6" name="Text 3"/>
          <p:cNvSpPr/>
          <p:nvPr/>
        </p:nvSpPr>
        <p:spPr>
          <a:xfrm>
            <a:off x="1446077" y="3624957"/>
            <a:ext cx="4525056" cy="319187"/>
          </a:xfrm>
          <a:prstGeom prst="rect">
            <a:avLst/>
          </a:prstGeom>
          <a:noFill/>
          <a:ln/>
        </p:spPr>
        <p:txBody>
          <a:bodyPr wrap="none" lIns="0" tIns="0" rIns="0" bIns="0" rtlCol="0" anchor="t"/>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Detect </a:t>
            </a:r>
            <a:pPr algn="l" indent="0" marL="0">
              <a:lnSpc>
                <a:spcPct val="133000"/>
              </a:lnSpc>
              <a:buNone/>
            </a:pPr>
            <a:r>
              <a:rPr lang="en-US" sz="1550" b="1" spc="-31" kern="0" dirty="0">
                <a:solidFill>
                  <a:srgbClr val="272525"/>
                </a:solidFill>
                <a:latin typeface="Source Sans 3 Bold" pitchFamily="34" charset="0"/>
                <a:ea typeface="Source Sans 3 Bold" pitchFamily="34" charset="-122"/>
                <a:cs typeface="Source Sans 3 Bold" pitchFamily="34" charset="-120"/>
              </a:rPr>
              <a:t>fake banking and payment websites</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a:t>
            </a:r>
            <a:endParaRPr lang="en-US" sz="15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20463" y="3212009"/>
            <a:ext cx="498661" cy="498673"/>
          </a:xfrm>
          <a:prstGeom prst="rect">
            <a:avLst/>
          </a:prstGeom>
        </p:spPr>
      </p:pic>
      <p:sp>
        <p:nvSpPr>
          <p:cNvPr id="8" name="Text 4"/>
          <p:cNvSpPr/>
          <p:nvPr/>
        </p:nvSpPr>
        <p:spPr>
          <a:xfrm>
            <a:off x="6968455" y="3212009"/>
            <a:ext cx="4525155"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272525"/>
                </a:solidFill>
                <a:latin typeface="Source Serif 4 SemiBold" pitchFamily="34" charset="0"/>
                <a:ea typeface="Source Serif 4 SemiBold" pitchFamily="34" charset="-122"/>
                <a:cs typeface="Source Serif 4 SemiBold" pitchFamily="34" charset="-120"/>
              </a:rPr>
              <a:t>E-commerce Companies</a:t>
            </a:r>
            <a:endParaRPr lang="en-US" sz="1800" dirty="0"/>
          </a:p>
        </p:txBody>
      </p:sp>
      <p:sp>
        <p:nvSpPr>
          <p:cNvPr id="9" name="Text 5"/>
          <p:cNvSpPr/>
          <p:nvPr/>
        </p:nvSpPr>
        <p:spPr>
          <a:xfrm>
            <a:off x="6968455" y="3624957"/>
            <a:ext cx="4525155" cy="319187"/>
          </a:xfrm>
          <a:prstGeom prst="rect">
            <a:avLst/>
          </a:prstGeom>
          <a:noFill/>
          <a:ln/>
        </p:spPr>
        <p:txBody>
          <a:bodyPr wrap="none" lIns="0" tIns="0" rIns="0" bIns="0" rtlCol="0" anchor="t"/>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Identify </a:t>
            </a:r>
            <a:pPr algn="l" indent="0" marL="0">
              <a:lnSpc>
                <a:spcPct val="133000"/>
              </a:lnSpc>
              <a:buNone/>
            </a:pPr>
            <a:r>
              <a:rPr lang="en-US" sz="1550" b="1" spc="-31" kern="0" dirty="0">
                <a:solidFill>
                  <a:srgbClr val="272525"/>
                </a:solidFill>
                <a:latin typeface="Source Sans 3 Bold" pitchFamily="34" charset="0"/>
                <a:ea typeface="Source Sans 3 Bold" pitchFamily="34" charset="-122"/>
                <a:cs typeface="Source Sans 3 Bold" pitchFamily="34" charset="-120"/>
              </a:rPr>
              <a:t>fraudulent shopping and payment pages</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a:t>
            </a:r>
            <a:endParaRPr lang="en-US" sz="15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4343102"/>
            <a:ext cx="498661" cy="498673"/>
          </a:xfrm>
          <a:prstGeom prst="rect">
            <a:avLst/>
          </a:prstGeom>
        </p:spPr>
      </p:pic>
      <p:sp>
        <p:nvSpPr>
          <p:cNvPr id="11" name="Text 6"/>
          <p:cNvSpPr/>
          <p:nvPr/>
        </p:nvSpPr>
        <p:spPr>
          <a:xfrm>
            <a:off x="1446077" y="4343102"/>
            <a:ext cx="4525056"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272525"/>
                </a:solidFill>
                <a:latin typeface="Source Serif 4 SemiBold" pitchFamily="34" charset="0"/>
                <a:ea typeface="Source Serif 4 SemiBold" pitchFamily="34" charset="-122"/>
                <a:cs typeface="Source Serif 4 SemiBold" pitchFamily="34" charset="-120"/>
              </a:rPr>
              <a:t>Cybersecurity Organizations</a:t>
            </a:r>
            <a:endParaRPr lang="en-US" sz="1800" dirty="0"/>
          </a:p>
        </p:txBody>
      </p:sp>
      <p:sp>
        <p:nvSpPr>
          <p:cNvPr id="12" name="Text 7"/>
          <p:cNvSpPr/>
          <p:nvPr/>
        </p:nvSpPr>
        <p:spPr>
          <a:xfrm>
            <a:off x="1446077" y="4756051"/>
            <a:ext cx="4525056" cy="319187"/>
          </a:xfrm>
          <a:prstGeom prst="rect">
            <a:avLst/>
          </a:prstGeom>
          <a:noFill/>
          <a:ln/>
        </p:spPr>
        <p:txBody>
          <a:bodyPr wrap="none" lIns="0" tIns="0" rIns="0" bIns="0" rtlCol="0" anchor="t"/>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Monitor and detect </a:t>
            </a:r>
            <a:pPr algn="l" indent="0" marL="0">
              <a:lnSpc>
                <a:spcPct val="133000"/>
              </a:lnSpc>
              <a:buNone/>
            </a:pPr>
            <a:r>
              <a:rPr lang="en-US" sz="1550" b="1" spc="-31" kern="0" dirty="0">
                <a:solidFill>
                  <a:srgbClr val="272525"/>
                </a:solidFill>
                <a:latin typeface="Source Sans 3 Bold" pitchFamily="34" charset="0"/>
                <a:ea typeface="Source Sans 3 Bold" pitchFamily="34" charset="-122"/>
                <a:cs typeface="Source Sans 3 Bold" pitchFamily="34" charset="-120"/>
              </a:rPr>
              <a:t>phishing threats</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a:t>
            </a:r>
            <a:endParaRPr lang="en-US" sz="15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0463" y="4343102"/>
            <a:ext cx="498661" cy="498673"/>
          </a:xfrm>
          <a:prstGeom prst="rect">
            <a:avLst/>
          </a:prstGeom>
        </p:spPr>
      </p:pic>
      <p:sp>
        <p:nvSpPr>
          <p:cNvPr id="14" name="Text 8"/>
          <p:cNvSpPr/>
          <p:nvPr/>
        </p:nvSpPr>
        <p:spPr>
          <a:xfrm>
            <a:off x="6968455" y="4343102"/>
            <a:ext cx="4525155"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272525"/>
                </a:solidFill>
                <a:latin typeface="Source Serif 4 SemiBold" pitchFamily="34" charset="0"/>
                <a:ea typeface="Source Serif 4 SemiBold" pitchFamily="34" charset="-122"/>
                <a:cs typeface="Source Serif 4 SemiBold" pitchFamily="34" charset="-120"/>
              </a:rPr>
              <a:t>Educational Institutions &amp; Students</a:t>
            </a:r>
            <a:endParaRPr lang="en-US" sz="1800" dirty="0"/>
          </a:p>
        </p:txBody>
      </p:sp>
      <p:sp>
        <p:nvSpPr>
          <p:cNvPr id="15" name="Text 9"/>
          <p:cNvSpPr/>
          <p:nvPr/>
        </p:nvSpPr>
        <p:spPr>
          <a:xfrm>
            <a:off x="6968455" y="4756051"/>
            <a:ext cx="4525155" cy="319187"/>
          </a:xfrm>
          <a:prstGeom prst="rect">
            <a:avLst/>
          </a:prstGeom>
          <a:noFill/>
          <a:ln/>
        </p:spPr>
        <p:txBody>
          <a:bodyPr wrap="none" lIns="0" tIns="0" rIns="0" bIns="0" rtlCol="0" anchor="t"/>
          <a:lstStyle/>
          <a:p>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Improve awareness and protection against </a:t>
            </a:r>
            <a:pPr algn="l" indent="0" marL="0">
              <a:lnSpc>
                <a:spcPct val="133000"/>
              </a:lnSpc>
              <a:buNone/>
            </a:pPr>
            <a:r>
              <a:rPr lang="en-US" sz="1550" b="1" spc="-31" kern="0" dirty="0">
                <a:solidFill>
                  <a:srgbClr val="272525"/>
                </a:solidFill>
                <a:latin typeface="Source Sans 3 Bold" pitchFamily="34" charset="0"/>
                <a:ea typeface="Source Sans 3 Bold" pitchFamily="34" charset="-122"/>
                <a:cs typeface="Source Sans 3 Bold" pitchFamily="34" charset="-120"/>
              </a:rPr>
              <a:t>phishing</a:t>
            </a:r>
            <a:pPr algn="l" indent="0" marL="0">
              <a:lnSpc>
                <a:spcPct val="133000"/>
              </a:lnSpc>
              <a:buNone/>
            </a:pPr>
            <a:r>
              <a:rPr lang="en-US" sz="1550" spc="-31" kern="0" dirty="0">
                <a:solidFill>
                  <a:srgbClr val="272525"/>
                </a:solidFill>
                <a:latin typeface="Source Sans 3" pitchFamily="34" charset="0"/>
                <a:ea typeface="Source Sans 3" pitchFamily="34" charset="-122"/>
                <a:cs typeface="Source Sans 3" pitchFamily="34" charset="-120"/>
              </a:rPr>
              <a: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98086" y="561479"/>
            <a:ext cx="855244" cy="444004"/>
          </a:xfrm>
          <a:prstGeom prst="rect">
            <a:avLst/>
          </a:prstGeom>
        </p:spPr>
      </p:pic>
      <p:sp>
        <p:nvSpPr>
          <p:cNvPr id="3" name="Text 0"/>
          <p:cNvSpPr/>
          <p:nvPr/>
        </p:nvSpPr>
        <p:spPr>
          <a:xfrm>
            <a:off x="698086" y="1128216"/>
            <a:ext cx="10795524" cy="375841"/>
          </a:xfrm>
          <a:prstGeom prst="rect">
            <a:avLst/>
          </a:prstGeom>
          <a:noFill/>
          <a:ln/>
        </p:spPr>
        <p:txBody>
          <a:bodyPr wrap="none" lIns="0" tIns="0" rIns="0" bIns="0" rtlCol="0" anchor="t"/>
          <a:lstStyle/>
          <a:p>
            <a:pPr algn="l" indent="0" marL="0">
              <a:lnSpc>
                <a:spcPct val="104000"/>
              </a:lnSpc>
              <a:buNone/>
            </a:pPr>
            <a:r>
              <a:rPr lang="en-US" sz="2350" spc="-47" kern="0" dirty="0">
                <a:solidFill>
                  <a:srgbClr val="000000"/>
                </a:solidFill>
                <a:latin typeface="Source Serif 4 SemiBold" pitchFamily="34" charset="0"/>
                <a:ea typeface="Source Serif 4 SemiBold" pitchFamily="34" charset="-122"/>
                <a:cs typeface="Source Serif 4 SemiBold" pitchFamily="34" charset="-120"/>
              </a:rPr>
              <a:t>PROJECT PLAN</a:t>
            </a:r>
            <a:endParaRPr lang="en-US" sz="2350" dirty="0"/>
          </a:p>
        </p:txBody>
      </p:sp>
      <p:sp>
        <p:nvSpPr>
          <p:cNvPr id="4" name="Shape 1"/>
          <p:cNvSpPr/>
          <p:nvPr/>
        </p:nvSpPr>
        <p:spPr>
          <a:xfrm>
            <a:off x="698086" y="1658739"/>
            <a:ext cx="10795524" cy="19050"/>
          </a:xfrm>
          <a:prstGeom prst="roundRect">
            <a:avLst>
              <a:gd name="adj" fmla="val 49999"/>
            </a:avLst>
          </a:prstGeom>
          <a:solidFill>
            <a:srgbClr val="272525">
              <a:alpha val="50000"/>
            </a:srgbClr>
          </a:solidFill>
          <a:ln/>
        </p:spPr>
      </p:sp>
      <p:pic>
        <p:nvPicPr>
          <p:cNvPr id="5" name="Image 1" descr="preencoded.png">    </p:cNvPr>
          <p:cNvPicPr>
            <a:picLocks noChangeAspect="1"/>
          </p:cNvPicPr>
          <p:nvPr/>
        </p:nvPicPr>
        <p:blipFill>
          <a:blip r:embed="rId2"/>
          <a:stretch>
            <a:fillRect/>
          </a:stretch>
        </p:blipFill>
        <p:spPr>
          <a:xfrm>
            <a:off x="698086" y="1801813"/>
            <a:ext cx="4260843" cy="44947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98086" y="597595"/>
            <a:ext cx="10795524" cy="403324"/>
          </a:xfrm>
          <a:prstGeom prst="rect">
            <a:avLst/>
          </a:prstGeom>
          <a:noFill/>
          <a:ln/>
        </p:spPr>
        <p:txBody>
          <a:bodyPr wrap="none" lIns="0" tIns="0" rIns="0" bIns="0" rtlCol="0" anchor="t"/>
          <a:lstStyle/>
          <a:p>
            <a:pPr algn="l" indent="0" marL="0">
              <a:lnSpc>
                <a:spcPct val="104000"/>
              </a:lnSpc>
              <a:buNone/>
            </a:pPr>
            <a:r>
              <a:rPr lang="en-US" sz="2500" spc="-51" kern="0" dirty="0">
                <a:solidFill>
                  <a:srgbClr val="000000"/>
                </a:solidFill>
                <a:latin typeface="Source Serif 4 SemiBold" pitchFamily="34" charset="0"/>
                <a:ea typeface="Source Serif 4 SemiBold" pitchFamily="34" charset="-122"/>
                <a:cs typeface="Source Serif 4 SemiBold" pitchFamily="34" charset="-120"/>
              </a:rPr>
              <a:t>Methodology</a:t>
            </a:r>
            <a:endParaRPr lang="en-US" sz="2500" dirty="0"/>
          </a:p>
        </p:txBody>
      </p:sp>
      <p:sp>
        <p:nvSpPr>
          <p:cNvPr id="3" name="Text 1"/>
          <p:cNvSpPr/>
          <p:nvPr/>
        </p:nvSpPr>
        <p:spPr>
          <a:xfrm>
            <a:off x="698086" y="1189434"/>
            <a:ext cx="11405108" cy="185043"/>
          </a:xfrm>
          <a:prstGeom prst="rect">
            <a:avLst/>
          </a:prstGeom>
          <a:noFill/>
          <a:ln/>
        </p:spPr>
        <p:txBody>
          <a:bodyPr wrap="none" lIns="0" tIns="0" rIns="0" bIns="0" rtlCol="0" anchor="t"/>
          <a:lstStyle/>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End-to-end workflow from data collection to deployment.</a:t>
            </a:r>
            <a:endParaRPr lang="en-US" sz="1050" dirty="0"/>
          </a:p>
        </p:txBody>
      </p:sp>
      <p:pic>
        <p:nvPicPr>
          <p:cNvPr id="4" name="Image 0" descr="preencoded.png">    </p:cNvPr>
          <p:cNvPicPr>
            <a:picLocks noChangeAspect="1"/>
          </p:cNvPicPr>
          <p:nvPr/>
        </p:nvPicPr>
        <p:blipFill>
          <a:blip r:embed="rId1"/>
          <a:stretch>
            <a:fillRect/>
          </a:stretch>
        </p:blipFill>
        <p:spPr>
          <a:xfrm>
            <a:off x="698086" y="1480542"/>
            <a:ext cx="3598475" cy="548580"/>
          </a:xfrm>
          <a:prstGeom prst="rect">
            <a:avLst/>
          </a:prstGeom>
        </p:spPr>
      </p:pic>
      <p:sp>
        <p:nvSpPr>
          <p:cNvPr id="5" name="Text 2"/>
          <p:cNvSpPr/>
          <p:nvPr/>
        </p:nvSpPr>
        <p:spPr>
          <a:xfrm>
            <a:off x="835203" y="2123380"/>
            <a:ext cx="3324241" cy="201613"/>
          </a:xfrm>
          <a:prstGeom prst="rect">
            <a:avLst/>
          </a:prstGeom>
          <a:noFill/>
          <a:ln/>
        </p:spPr>
        <p:txBody>
          <a:bodyPr wrap="none" lIns="0" tIns="0" rIns="0" bIns="0" rtlCol="0" anchor="t"/>
          <a:lstStyle/>
          <a:p>
            <a:pPr algn="l" indent="0" marL="0">
              <a:lnSpc>
                <a:spcPct val="104000"/>
              </a:lnSpc>
              <a:buNone/>
            </a:pPr>
            <a:r>
              <a:rPr lang="en-US" sz="1250" spc="-25" kern="0" dirty="0">
                <a:solidFill>
                  <a:srgbClr val="272525"/>
                </a:solidFill>
                <a:latin typeface="Source Serif 4 SemiBold" pitchFamily="34" charset="0"/>
                <a:ea typeface="Source Serif 4 SemiBold" pitchFamily="34" charset="-122"/>
                <a:cs typeface="Source Serif 4 SemiBold" pitchFamily="34" charset="-120"/>
              </a:rPr>
              <a:t>Dataset Collection</a:t>
            </a:r>
            <a:endParaRPr lang="en-US" sz="1250" dirty="0"/>
          </a:p>
        </p:txBody>
      </p:sp>
      <p:sp>
        <p:nvSpPr>
          <p:cNvPr id="6" name="Text 3"/>
          <p:cNvSpPr/>
          <p:nvPr/>
        </p:nvSpPr>
        <p:spPr>
          <a:xfrm>
            <a:off x="835203" y="2381548"/>
            <a:ext cx="3324241" cy="740172"/>
          </a:xfrm>
          <a:prstGeom prst="rect">
            <a:avLst/>
          </a:prstGeom>
          <a:noFill/>
          <a:ln/>
        </p:spPr>
        <p:txBody>
          <a:bodyPr wrap="square" lIns="0" tIns="0" rIns="0" bIns="0" rtlCol="0" anchor="t">
            <a:normAutofit/>
          </a:bodyPr>
          <a:lstStyle/>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D1 Phishing Webpage Dataset — 60,252 webpages</a:t>
            </a:r>
            <a:endParaRPr lang="en-US" sz="1050" dirty="0"/>
          </a:p>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27,280 Phishing | 32,972 Benign</a:t>
            </a:r>
            <a:endParaRPr lang="en-US" sz="1050" dirty="0"/>
          </a:p>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CompPhish — 15,358 webpages for cross-dataset and unseen-domain evaluation</a:t>
            </a:r>
            <a:endParaRPr lang="en-US" sz="1050" dirty="0"/>
          </a:p>
        </p:txBody>
      </p:sp>
      <p:pic>
        <p:nvPicPr>
          <p:cNvPr id="7" name="Image 1" descr="preencoded.png">    </p:cNvPr>
          <p:cNvPicPr>
            <a:picLocks noChangeAspect="1"/>
          </p:cNvPicPr>
          <p:nvPr/>
        </p:nvPicPr>
        <p:blipFill>
          <a:blip r:embed="rId2"/>
          <a:stretch>
            <a:fillRect/>
          </a:stretch>
        </p:blipFill>
        <p:spPr>
          <a:xfrm>
            <a:off x="4296560" y="1480542"/>
            <a:ext cx="3598475" cy="548580"/>
          </a:xfrm>
          <a:prstGeom prst="rect">
            <a:avLst/>
          </a:prstGeom>
        </p:spPr>
      </p:pic>
      <p:sp>
        <p:nvSpPr>
          <p:cNvPr id="8" name="Text 4"/>
          <p:cNvSpPr/>
          <p:nvPr/>
        </p:nvSpPr>
        <p:spPr>
          <a:xfrm>
            <a:off x="4433677" y="2123380"/>
            <a:ext cx="3324241" cy="201613"/>
          </a:xfrm>
          <a:prstGeom prst="rect">
            <a:avLst/>
          </a:prstGeom>
          <a:noFill/>
          <a:ln/>
        </p:spPr>
        <p:txBody>
          <a:bodyPr wrap="none" lIns="0" tIns="0" rIns="0" bIns="0" rtlCol="0" anchor="t"/>
          <a:lstStyle/>
          <a:p>
            <a:pPr algn="l" indent="0" marL="0">
              <a:lnSpc>
                <a:spcPct val="104000"/>
              </a:lnSpc>
              <a:buNone/>
            </a:pPr>
            <a:r>
              <a:rPr lang="en-US" sz="1250" spc="-25" kern="0" dirty="0">
                <a:solidFill>
                  <a:srgbClr val="272525"/>
                </a:solidFill>
                <a:latin typeface="Source Serif 4 SemiBold" pitchFamily="34" charset="0"/>
                <a:ea typeface="Source Serif 4 SemiBold" pitchFamily="34" charset="-122"/>
                <a:cs typeface="Source Serif 4 SemiBold" pitchFamily="34" charset="-120"/>
              </a:rPr>
              <a:t>Data Preprocessing</a:t>
            </a:r>
            <a:endParaRPr lang="en-US" sz="1250" dirty="0"/>
          </a:p>
        </p:txBody>
      </p:sp>
      <p:sp>
        <p:nvSpPr>
          <p:cNvPr id="9" name="Text 5"/>
          <p:cNvSpPr/>
          <p:nvPr/>
        </p:nvSpPr>
        <p:spPr>
          <a:xfrm>
            <a:off x="4433677" y="2381548"/>
            <a:ext cx="3324241" cy="555129"/>
          </a:xfrm>
          <a:prstGeom prst="rect">
            <a:avLst/>
          </a:prstGeom>
          <a:noFill/>
          <a:ln/>
        </p:spPr>
        <p:txBody>
          <a:bodyPr wrap="square" lIns="0" tIns="0" rIns="0" bIns="0" rtlCol="0" anchor="t">
            <a:normAutofit/>
          </a:bodyPr>
          <a:lstStyle/>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Label mapping (-1 → Benign, 1 → Phishing), missing HTML handling, feature normalization and stratified/domain-separated dataset splits</a:t>
            </a:r>
            <a:endParaRPr lang="en-US" sz="1050" dirty="0"/>
          </a:p>
        </p:txBody>
      </p:sp>
      <p:pic>
        <p:nvPicPr>
          <p:cNvPr id="10" name="Image 2" descr="preencoded.png">    </p:cNvPr>
          <p:cNvPicPr>
            <a:picLocks noChangeAspect="1"/>
          </p:cNvPicPr>
          <p:nvPr/>
        </p:nvPicPr>
        <p:blipFill>
          <a:blip r:embed="rId3"/>
          <a:stretch>
            <a:fillRect/>
          </a:stretch>
        </p:blipFill>
        <p:spPr>
          <a:xfrm>
            <a:off x="7895035" y="1480542"/>
            <a:ext cx="3598475" cy="548580"/>
          </a:xfrm>
          <a:prstGeom prst="rect">
            <a:avLst/>
          </a:prstGeom>
        </p:spPr>
      </p:pic>
      <p:sp>
        <p:nvSpPr>
          <p:cNvPr id="11" name="Text 6"/>
          <p:cNvSpPr/>
          <p:nvPr/>
        </p:nvSpPr>
        <p:spPr>
          <a:xfrm>
            <a:off x="8032152" y="2123380"/>
            <a:ext cx="3324241" cy="201613"/>
          </a:xfrm>
          <a:prstGeom prst="rect">
            <a:avLst/>
          </a:prstGeom>
          <a:noFill/>
          <a:ln/>
        </p:spPr>
        <p:txBody>
          <a:bodyPr wrap="none" lIns="0" tIns="0" rIns="0" bIns="0" rtlCol="0" anchor="t"/>
          <a:lstStyle/>
          <a:p>
            <a:pPr algn="l" indent="0" marL="0">
              <a:lnSpc>
                <a:spcPct val="104000"/>
              </a:lnSpc>
              <a:buNone/>
            </a:pPr>
            <a:r>
              <a:rPr lang="en-US" sz="1250" spc="-25" kern="0" dirty="0">
                <a:solidFill>
                  <a:srgbClr val="272525"/>
                </a:solidFill>
                <a:latin typeface="Source Serif 4 SemiBold" pitchFamily="34" charset="0"/>
                <a:ea typeface="Source Serif 4 SemiBold" pitchFamily="34" charset="-122"/>
                <a:cs typeface="Source Serif 4 SemiBold" pitchFamily="34" charset="-120"/>
              </a:rPr>
              <a:t>Feature Extraction</a:t>
            </a:r>
            <a:endParaRPr lang="en-US" sz="1250" dirty="0"/>
          </a:p>
        </p:txBody>
      </p:sp>
      <p:sp>
        <p:nvSpPr>
          <p:cNvPr id="12" name="Text 7"/>
          <p:cNvSpPr/>
          <p:nvPr/>
        </p:nvSpPr>
        <p:spPr>
          <a:xfrm>
            <a:off x="8032152" y="2381548"/>
            <a:ext cx="3324241" cy="740172"/>
          </a:xfrm>
          <a:prstGeom prst="rect">
            <a:avLst/>
          </a:prstGeom>
          <a:noFill/>
          <a:ln/>
        </p:spPr>
        <p:txBody>
          <a:bodyPr wrap="square" lIns="0" tIns="0" rIns="0" bIns="0" rtlCol="0" anchor="t">
            <a:normAutofit/>
          </a:bodyPr>
          <a:lstStyle/>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23 URL + HTML-derived features including URL structure, entropy, suspicious keywords, hyperlink statistics, HTML/text length, forms, password fields, login indicators and external forms</a:t>
            </a:r>
            <a:endParaRPr lang="en-US" sz="1050" dirty="0"/>
          </a:p>
        </p:txBody>
      </p:sp>
      <p:pic>
        <p:nvPicPr>
          <p:cNvPr id="13" name="Image 3" descr="preencoded.png">    </p:cNvPr>
          <p:cNvPicPr>
            <a:picLocks noChangeAspect="1"/>
          </p:cNvPicPr>
          <p:nvPr/>
        </p:nvPicPr>
        <p:blipFill>
          <a:blip r:embed="rId4"/>
          <a:stretch>
            <a:fillRect/>
          </a:stretch>
        </p:blipFill>
        <p:spPr>
          <a:xfrm>
            <a:off x="698086" y="3258840"/>
            <a:ext cx="3598475" cy="548580"/>
          </a:xfrm>
          <a:prstGeom prst="rect">
            <a:avLst/>
          </a:prstGeom>
        </p:spPr>
      </p:pic>
      <p:sp>
        <p:nvSpPr>
          <p:cNvPr id="14" name="Text 8"/>
          <p:cNvSpPr/>
          <p:nvPr/>
        </p:nvSpPr>
        <p:spPr>
          <a:xfrm>
            <a:off x="835203" y="3901678"/>
            <a:ext cx="3324241" cy="201613"/>
          </a:xfrm>
          <a:prstGeom prst="rect">
            <a:avLst/>
          </a:prstGeom>
          <a:noFill/>
          <a:ln/>
        </p:spPr>
        <p:txBody>
          <a:bodyPr wrap="none" lIns="0" tIns="0" rIns="0" bIns="0" rtlCol="0" anchor="t"/>
          <a:lstStyle/>
          <a:p>
            <a:pPr algn="l" indent="0" marL="0">
              <a:lnSpc>
                <a:spcPct val="104000"/>
              </a:lnSpc>
              <a:buNone/>
            </a:pPr>
            <a:r>
              <a:rPr lang="en-US" sz="1250" spc="-25" kern="0" dirty="0">
                <a:solidFill>
                  <a:srgbClr val="272525"/>
                </a:solidFill>
                <a:latin typeface="Source Serif 4 SemiBold" pitchFamily="34" charset="0"/>
                <a:ea typeface="Source Serif 4 SemiBold" pitchFamily="34" charset="-122"/>
                <a:cs typeface="Source Serif 4 SemiBold" pitchFamily="34" charset="-120"/>
              </a:rPr>
              <a:t>Baseline Model Development</a:t>
            </a:r>
            <a:endParaRPr lang="en-US" sz="1250" dirty="0"/>
          </a:p>
        </p:txBody>
      </p:sp>
      <p:sp>
        <p:nvSpPr>
          <p:cNvPr id="15" name="Text 9"/>
          <p:cNvSpPr/>
          <p:nvPr/>
        </p:nvSpPr>
        <p:spPr>
          <a:xfrm>
            <a:off x="835203" y="4159845"/>
            <a:ext cx="3324241" cy="740172"/>
          </a:xfrm>
          <a:prstGeom prst="rect">
            <a:avLst/>
          </a:prstGeom>
          <a:noFill/>
          <a:ln/>
        </p:spPr>
        <p:txBody>
          <a:bodyPr wrap="square" lIns="0" tIns="0" rIns="0" bIns="0" rtlCol="0" anchor="t">
            <a:normAutofit/>
          </a:bodyPr>
          <a:lstStyle/>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Compare conventional ML models: Random Forest, XGBoost, CatBoost and LightGBM</a:t>
            </a:r>
            <a:endParaRPr lang="en-US" sz="1050" dirty="0"/>
          </a:p>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Perform feature analysis and XGBoost hyperparameter optimization</a:t>
            </a:r>
            <a:endParaRPr lang="en-US" sz="1050" dirty="0"/>
          </a:p>
        </p:txBody>
      </p:sp>
      <p:pic>
        <p:nvPicPr>
          <p:cNvPr id="16" name="Image 4" descr="preencoded.png">    </p:cNvPr>
          <p:cNvPicPr>
            <a:picLocks noChangeAspect="1"/>
          </p:cNvPicPr>
          <p:nvPr/>
        </p:nvPicPr>
        <p:blipFill>
          <a:blip r:embed="rId5"/>
          <a:stretch>
            <a:fillRect/>
          </a:stretch>
        </p:blipFill>
        <p:spPr>
          <a:xfrm>
            <a:off x="4296560" y="3258840"/>
            <a:ext cx="3598475" cy="548580"/>
          </a:xfrm>
          <a:prstGeom prst="rect">
            <a:avLst/>
          </a:prstGeom>
        </p:spPr>
      </p:pic>
      <p:sp>
        <p:nvSpPr>
          <p:cNvPr id="17" name="Text 10"/>
          <p:cNvSpPr/>
          <p:nvPr/>
        </p:nvSpPr>
        <p:spPr>
          <a:xfrm>
            <a:off x="4433677" y="3901678"/>
            <a:ext cx="3324241" cy="201613"/>
          </a:xfrm>
          <a:prstGeom prst="rect">
            <a:avLst/>
          </a:prstGeom>
          <a:noFill/>
          <a:ln/>
        </p:spPr>
        <p:txBody>
          <a:bodyPr wrap="none" lIns="0" tIns="0" rIns="0" bIns="0" rtlCol="0" anchor="t"/>
          <a:lstStyle/>
          <a:p>
            <a:pPr algn="l" indent="0" marL="0">
              <a:lnSpc>
                <a:spcPct val="104000"/>
              </a:lnSpc>
              <a:buNone/>
            </a:pPr>
            <a:r>
              <a:rPr lang="en-US" sz="1250" spc="-25" kern="0" dirty="0">
                <a:solidFill>
                  <a:srgbClr val="272525"/>
                </a:solidFill>
                <a:latin typeface="Source Serif 4 SemiBold" pitchFamily="34" charset="0"/>
                <a:ea typeface="Source Serif 4 SemiBold" pitchFamily="34" charset="-122"/>
                <a:cs typeface="Source Serif 4 SemiBold" pitchFamily="34" charset="-120"/>
              </a:rPr>
              <a:t>PhishXpert Model Development</a:t>
            </a:r>
            <a:endParaRPr lang="en-US" sz="1250" dirty="0"/>
          </a:p>
        </p:txBody>
      </p:sp>
      <p:sp>
        <p:nvSpPr>
          <p:cNvPr id="18" name="Text 11"/>
          <p:cNvSpPr/>
          <p:nvPr/>
        </p:nvSpPr>
        <p:spPr>
          <a:xfrm>
            <a:off x="4433677" y="4159845"/>
            <a:ext cx="3324241" cy="555129"/>
          </a:xfrm>
          <a:prstGeom prst="rect">
            <a:avLst/>
          </a:prstGeom>
          <a:noFill/>
          <a:ln/>
        </p:spPr>
        <p:txBody>
          <a:bodyPr wrap="square" lIns="0" tIns="0" rIns="0" bIns="0" rtlCol="0" anchor="t">
            <a:normAutofit/>
          </a:bodyPr>
          <a:lstStyle/>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Proposed two-branch Neural Evidence Fusion architecture</a:t>
            </a:r>
            <a:endParaRPr lang="en-US" sz="1050" dirty="0"/>
          </a:p>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URL branch + HTML branch → Feature Fusion → Phishing Classification</a:t>
            </a:r>
            <a:endParaRPr lang="en-US" sz="1050" dirty="0"/>
          </a:p>
        </p:txBody>
      </p:sp>
      <p:pic>
        <p:nvPicPr>
          <p:cNvPr id="19" name="Image 5" descr="preencoded.png">    </p:cNvPr>
          <p:cNvPicPr>
            <a:picLocks noChangeAspect="1"/>
          </p:cNvPicPr>
          <p:nvPr/>
        </p:nvPicPr>
        <p:blipFill>
          <a:blip r:embed="rId6"/>
          <a:stretch>
            <a:fillRect/>
          </a:stretch>
        </p:blipFill>
        <p:spPr>
          <a:xfrm>
            <a:off x="7895035" y="3258840"/>
            <a:ext cx="3598475" cy="548580"/>
          </a:xfrm>
          <a:prstGeom prst="rect">
            <a:avLst/>
          </a:prstGeom>
        </p:spPr>
      </p:pic>
      <p:sp>
        <p:nvSpPr>
          <p:cNvPr id="20" name="Text 12"/>
          <p:cNvSpPr/>
          <p:nvPr/>
        </p:nvSpPr>
        <p:spPr>
          <a:xfrm>
            <a:off x="8032152" y="3901678"/>
            <a:ext cx="3324241" cy="201613"/>
          </a:xfrm>
          <a:prstGeom prst="rect">
            <a:avLst/>
          </a:prstGeom>
          <a:noFill/>
          <a:ln/>
        </p:spPr>
        <p:txBody>
          <a:bodyPr wrap="none" lIns="0" tIns="0" rIns="0" bIns="0" rtlCol="0" anchor="t"/>
          <a:lstStyle/>
          <a:p>
            <a:pPr algn="l" indent="0" marL="0">
              <a:lnSpc>
                <a:spcPct val="104000"/>
              </a:lnSpc>
              <a:buNone/>
            </a:pPr>
            <a:r>
              <a:rPr lang="en-US" sz="1250" spc="-25" kern="0" dirty="0">
                <a:solidFill>
                  <a:srgbClr val="272525"/>
                </a:solidFill>
                <a:latin typeface="Source Serif 4 SemiBold" pitchFamily="34" charset="0"/>
                <a:ea typeface="Source Serif 4 SemiBold" pitchFamily="34" charset="-122"/>
                <a:cs typeface="Source Serif 4 SemiBold" pitchFamily="34" charset="-120"/>
              </a:rPr>
              <a:t>Generalization &amp; Explainability</a:t>
            </a:r>
            <a:endParaRPr lang="en-US" sz="1250" dirty="0"/>
          </a:p>
        </p:txBody>
      </p:sp>
      <p:sp>
        <p:nvSpPr>
          <p:cNvPr id="21" name="Text 13"/>
          <p:cNvSpPr/>
          <p:nvPr/>
        </p:nvSpPr>
        <p:spPr>
          <a:xfrm>
            <a:off x="8032152" y="4159845"/>
            <a:ext cx="3324241" cy="740172"/>
          </a:xfrm>
          <a:prstGeom prst="rect">
            <a:avLst/>
          </a:prstGeom>
          <a:noFill/>
          <a:ln/>
        </p:spPr>
        <p:txBody>
          <a:bodyPr wrap="square" lIns="0" tIns="0" rIns="0" bIns="0" rtlCol="0" anchor="t">
            <a:normAutofit/>
          </a:bodyPr>
          <a:lstStyle/>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Evaluate cross-dataset and domain-unseen generalization using D1 and CompPhish</a:t>
            </a:r>
            <a:endParaRPr lang="en-US" sz="1050" dirty="0"/>
          </a:p>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Integrate webpage evidence, domain verification, RAG-based cybersecurity knowledge and Gemini explanations</a:t>
            </a:r>
            <a:endParaRPr lang="en-US" sz="1050" dirty="0"/>
          </a:p>
        </p:txBody>
      </p:sp>
      <p:pic>
        <p:nvPicPr>
          <p:cNvPr id="22" name="Image 6" descr="preencoded.png">    </p:cNvPr>
          <p:cNvPicPr>
            <a:picLocks noChangeAspect="1"/>
          </p:cNvPicPr>
          <p:nvPr/>
        </p:nvPicPr>
        <p:blipFill>
          <a:blip r:embed="rId7"/>
          <a:stretch>
            <a:fillRect/>
          </a:stretch>
        </p:blipFill>
        <p:spPr>
          <a:xfrm>
            <a:off x="698086" y="5037138"/>
            <a:ext cx="3598475" cy="548580"/>
          </a:xfrm>
          <a:prstGeom prst="rect">
            <a:avLst/>
          </a:prstGeom>
        </p:spPr>
      </p:pic>
      <p:sp>
        <p:nvSpPr>
          <p:cNvPr id="23" name="Text 14"/>
          <p:cNvSpPr/>
          <p:nvPr/>
        </p:nvSpPr>
        <p:spPr>
          <a:xfrm>
            <a:off x="835203" y="5679976"/>
            <a:ext cx="3324241" cy="201613"/>
          </a:xfrm>
          <a:prstGeom prst="rect">
            <a:avLst/>
          </a:prstGeom>
          <a:noFill/>
          <a:ln/>
        </p:spPr>
        <p:txBody>
          <a:bodyPr wrap="none" lIns="0" tIns="0" rIns="0" bIns="0" rtlCol="0" anchor="t"/>
          <a:lstStyle/>
          <a:p>
            <a:pPr algn="l" indent="0" marL="0">
              <a:lnSpc>
                <a:spcPct val="104000"/>
              </a:lnSpc>
              <a:buNone/>
            </a:pPr>
            <a:r>
              <a:rPr lang="en-US" sz="1250" spc="-25" kern="0" dirty="0">
                <a:solidFill>
                  <a:srgbClr val="272525"/>
                </a:solidFill>
                <a:latin typeface="Source Serif 4 SemiBold" pitchFamily="34" charset="0"/>
                <a:ea typeface="Source Serif 4 SemiBold" pitchFamily="34" charset="-122"/>
                <a:cs typeface="Source Serif 4 SemiBold" pitchFamily="34" charset="-120"/>
              </a:rPr>
              <a:t>Adaptive Detection &amp; Deployment</a:t>
            </a:r>
            <a:endParaRPr lang="en-US" sz="1250" dirty="0"/>
          </a:p>
        </p:txBody>
      </p:sp>
      <p:sp>
        <p:nvSpPr>
          <p:cNvPr id="24" name="Text 15"/>
          <p:cNvSpPr/>
          <p:nvPr/>
        </p:nvSpPr>
        <p:spPr>
          <a:xfrm>
            <a:off x="835203" y="5938143"/>
            <a:ext cx="3324241" cy="185043"/>
          </a:xfrm>
          <a:prstGeom prst="rect">
            <a:avLst/>
          </a:prstGeom>
          <a:noFill/>
          <a:ln/>
        </p:spPr>
        <p:txBody>
          <a:bodyPr wrap="none" lIns="0" tIns="0" rIns="0" bIns="0" rtlCol="0" anchor="t"/>
          <a:lstStyle/>
          <a:p>
            <a:pPr algn="l" indent="0" marL="0">
              <a:lnSpc>
                <a:spcPct val="113000"/>
              </a:lnSpc>
              <a:buNone/>
            </a:pPr>
            <a:r>
              <a:rPr lang="en-US" sz="1050" spc="-22" kern="0" dirty="0">
                <a:solidFill>
                  <a:srgbClr val="272525"/>
                </a:solidFill>
                <a:latin typeface="Source Sans 3" pitchFamily="34" charset="0"/>
                <a:ea typeface="Source Sans 3" pitchFamily="34" charset="-122"/>
                <a:cs typeface="Source Sans 3" pitchFamily="34" charset="-120"/>
              </a:rPr>
              <a:t>FastAPI backend + interactive frontend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98086" y="548580"/>
            <a:ext cx="10795524"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000000"/>
                </a:solidFill>
                <a:latin typeface="Source Serif 4 SemiBold" pitchFamily="34" charset="0"/>
                <a:ea typeface="Source Serif 4 SemiBold" pitchFamily="34" charset="-122"/>
                <a:cs typeface="Source Serif 4 SemiBold" pitchFamily="34" charset="-120"/>
              </a:rPr>
              <a:t>System Design</a:t>
            </a:r>
            <a:endParaRPr lang="en-US" sz="1800" dirty="0"/>
          </a:p>
        </p:txBody>
      </p:sp>
      <p:pic>
        <p:nvPicPr>
          <p:cNvPr id="3" name="Image 0" descr="preencoded.png">    </p:cNvPr>
          <p:cNvPicPr>
            <a:picLocks noChangeAspect="1"/>
          </p:cNvPicPr>
          <p:nvPr/>
        </p:nvPicPr>
        <p:blipFill>
          <a:blip r:embed="rId1"/>
          <a:stretch>
            <a:fillRect/>
          </a:stretch>
        </p:blipFill>
        <p:spPr>
          <a:xfrm>
            <a:off x="698086" y="941586"/>
            <a:ext cx="10422768" cy="58660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98086" y="548977"/>
            <a:ext cx="10795524" cy="394097"/>
          </a:xfrm>
          <a:prstGeom prst="rect">
            <a:avLst/>
          </a:prstGeom>
          <a:noFill/>
          <a:ln/>
        </p:spPr>
        <p:txBody>
          <a:bodyPr wrap="none" lIns="0" tIns="0" rIns="0" bIns="0" rtlCol="0" anchor="t"/>
          <a:lstStyle/>
          <a:p>
            <a:pPr algn="l" indent="0" marL="0">
              <a:lnSpc>
                <a:spcPct val="104000"/>
              </a:lnSpc>
              <a:buNone/>
            </a:pPr>
            <a:r>
              <a:rPr lang="en-US" sz="2450" spc="-50" kern="0" dirty="0">
                <a:solidFill>
                  <a:srgbClr val="000000"/>
                </a:solidFill>
                <a:latin typeface="Source Serif 4 SemiBold" pitchFamily="34" charset="0"/>
                <a:ea typeface="Source Serif 4 SemiBold" pitchFamily="34" charset="-122"/>
                <a:cs typeface="Source Serif 4 SemiBold" pitchFamily="34" charset="-120"/>
              </a:rPr>
              <a:t>Modern Tools &amp; Technologies</a:t>
            </a:r>
            <a:endParaRPr lang="en-US" sz="2450" dirty="0"/>
          </a:p>
        </p:txBody>
      </p:sp>
      <p:sp>
        <p:nvSpPr>
          <p:cNvPr id="3" name="Text 1"/>
          <p:cNvSpPr/>
          <p:nvPr/>
        </p:nvSpPr>
        <p:spPr>
          <a:xfrm>
            <a:off x="698086" y="1123156"/>
            <a:ext cx="11405108" cy="179189"/>
          </a:xfrm>
          <a:prstGeom prst="rect">
            <a:avLst/>
          </a:prstGeom>
          <a:noFill/>
          <a:ln/>
        </p:spPr>
        <p:txBody>
          <a:bodyPr wrap="none" lIns="0" tIns="0" rIns="0" bIns="0" rtlCol="0" anchor="t"/>
          <a:lstStyle/>
          <a:p>
            <a:pPr algn="l" indent="0" marL="0">
              <a:lnSpc>
                <a:spcPct val="111000"/>
              </a:lnSpc>
              <a:buNone/>
            </a:pPr>
            <a:r>
              <a:rPr lang="en-US" sz="1050" spc="-21" kern="0" dirty="0">
                <a:solidFill>
                  <a:srgbClr val="272525"/>
                </a:solidFill>
                <a:latin typeface="Source Sans 3" pitchFamily="34" charset="0"/>
                <a:ea typeface="Source Sans 3" pitchFamily="34" charset="-122"/>
                <a:cs typeface="Source Sans 3" pitchFamily="34" charset="-120"/>
              </a:rPr>
              <a:t>Core technologies used across data preparation, modeling, evidence fusion, deployment, and development.</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98086" y="1403648"/>
          <a:ext cx="9143771" cy="914400"/>
        </p:xfrm>
        <a:graphic>
          <a:graphicData uri="http://schemas.openxmlformats.org/drawingml/2006/table">
            <a:tbl>
              <a:tblPr/>
              <a:tblGrid>
                <a:gridCol w="3670478"/>
                <a:gridCol w="7125046"/>
              </a:tblGrid>
              <a:tr h="303006">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Category</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EAF2FF"/>
                    </a:solidFill>
                  </a:tcPr>
                </a:tc>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Technologies</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EAF2FF"/>
                    </a:solidFill>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Programming</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Python, TypeScript</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Data Processing</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Pandas, NumPy, Scikit-learn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Feature Extraction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BeautifulSoup, Requests</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Proposed ML Model</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PyTorch – PhishXpert Neural Evidence Fusion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Baseline ML Models</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Random Forest, XGBoost, CatBoost, LightGBM</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Model Optimization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XGBoost Hyperparameter Optimization, AdamW, Early Stopping</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Explainable AI</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SHAP (baseline/model analysis)</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Evidence &amp; Knowledge</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RAG, TF-IDF, Cosine Similarity</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LLM Explanation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Google Gemini API</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Domain Verification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Python-based Domain Verification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Backend</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FastAPI, Uvicorn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Frontend</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React, TypeScript, Vite, Tailwind CSS</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Web Analysis</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Requests, BeautifulSoup, HTML Parsing</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6181">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Visualization</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Matplotlib</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303006">
                <a:tc>
                  <a:txBody>
                    <a:bodyPr/>
                    <a:lstStyle/>
                    <a:p>
                      <a:pPr indent="0" marL="0">
                        <a:buNone/>
                      </a:pPr>
                      <a:r>
                        <a:rPr lang="en-US" sz="1050" b="1" spc="-21" kern="0" dirty="0">
                          <a:solidFill>
                            <a:srgbClr val="272525"/>
                          </a:solidFill>
                          <a:latin typeface="Source Sans 3" pitchFamily="34" charset="0"/>
                          <a:ea typeface="Source Sans 3" pitchFamily="34" charset="-122"/>
                          <a:cs typeface="Source Sans 3" pitchFamily="34" charset="-120"/>
                        </a:rPr>
                        <a:t>Development &amp; Version Control</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solidFill>
                      <a:srgbClr val="F7FAFF"/>
                    </a:solidFill>
                  </a:tcPr>
                </a:tc>
                <a:tc>
                  <a:txBody>
                    <a:bodyPr/>
                    <a:lstStyle/>
                    <a:p>
                      <a:pPr indent="0" marL="0">
                        <a:buNone/>
                      </a:pPr>
                      <a:r>
                        <a:rPr lang="en-US" sz="1050" spc="-21" kern="0" dirty="0">
                          <a:solidFill>
                            <a:srgbClr val="272525"/>
                          </a:solidFill>
                          <a:latin typeface="Source Sans 3" pitchFamily="34" charset="0"/>
                          <a:ea typeface="Source Sans 3" pitchFamily="34" charset="-122"/>
                          <a:cs typeface="Source Sans 3" pitchFamily="34" charset="-120"/>
                        </a:rPr>
                        <a:t>VS Code, GitHub</a:t>
                      </a:r>
                      <a:endParaRPr lang="en-US" sz="1050" dirty="0">
                        <a:latin typeface="Source Sans 3" charset="0"/>
                        <a:ea typeface="Source Sans 3" charset="0"/>
                        <a:cs typeface="Source Sans 3" charset="0"/>
                      </a:endParaRPr>
                    </a:p>
                  </a:txBody>
                  <a:tcPr marL="134025" marR="134025"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98086" y="587772"/>
            <a:ext cx="10795524" cy="293291"/>
          </a:xfrm>
          <a:prstGeom prst="rect">
            <a:avLst/>
          </a:prstGeom>
          <a:noFill/>
          <a:ln/>
        </p:spPr>
        <p:txBody>
          <a:bodyPr wrap="none" lIns="0" tIns="0" rIns="0" bIns="0" rtlCol="0" anchor="t"/>
          <a:lstStyle/>
          <a:p>
            <a:pPr algn="l" indent="0" marL="0">
              <a:lnSpc>
                <a:spcPct val="104000"/>
              </a:lnSpc>
              <a:buNone/>
            </a:pPr>
            <a:r>
              <a:rPr lang="en-US" sz="1800" spc="-37" kern="0" dirty="0">
                <a:solidFill>
                  <a:srgbClr val="000000"/>
                </a:solidFill>
                <a:latin typeface="Source Serif 4 SemiBold" pitchFamily="34" charset="0"/>
                <a:ea typeface="Source Serif 4 SemiBold" pitchFamily="34" charset="-122"/>
                <a:cs typeface="Source Serif 4 SemiBold" pitchFamily="34" charset="-120"/>
              </a:rPr>
              <a:t>Implementation</a:t>
            </a:r>
            <a:endParaRPr lang="en-US" sz="18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156494"/>
            <a:ext cx="2661476" cy="1437977"/>
          </a:xfrm>
          <a:prstGeom prst="rect">
            <a:avLst/>
          </a:prstGeom>
        </p:spPr>
      </p:pic>
      <p:sp>
        <p:nvSpPr>
          <p:cNvPr id="4" name="Text 1"/>
          <p:cNvSpPr/>
          <p:nvPr/>
        </p:nvSpPr>
        <p:spPr>
          <a:xfrm>
            <a:off x="1954064" y="1222077"/>
            <a:ext cx="149519" cy="186928"/>
          </a:xfrm>
          <a:prstGeom prst="rect">
            <a:avLst/>
          </a:prstGeom>
          <a:noFill/>
          <a:ln/>
        </p:spPr>
        <p:txBody>
          <a:bodyPr wrap="none" lIns="0" tIns="0" rIns="0" bIns="0" rtlCol="0" anchor="ctr"/>
          <a:lstStyle/>
          <a:p>
            <a:pPr algn="ctr" indent="0" marL="0">
              <a:lnSpc>
                <a:spcPct val="100000"/>
              </a:lnSpc>
              <a:buNone/>
            </a:pPr>
            <a:r>
              <a:rPr lang="en-US" sz="1150" spc="-24" kern="0" dirty="0">
                <a:solidFill>
                  <a:srgbClr val="272525"/>
                </a:solidFill>
                <a:latin typeface="Source Serif 4 SemiBold" pitchFamily="34" charset="0"/>
                <a:ea typeface="Source Serif 4 SemiBold" pitchFamily="34" charset="-122"/>
                <a:cs typeface="Source Serif 4 SemiBold" pitchFamily="34" charset="-120"/>
              </a:rPr>
              <a:t>1</a:t>
            </a:r>
            <a:endParaRPr lang="en-US" sz="1150" dirty="0"/>
          </a:p>
        </p:txBody>
      </p:sp>
      <p:sp>
        <p:nvSpPr>
          <p:cNvPr id="5" name="Text 2"/>
          <p:cNvSpPr/>
          <p:nvPr/>
        </p:nvSpPr>
        <p:spPr>
          <a:xfrm>
            <a:off x="810498" y="1518146"/>
            <a:ext cx="2436652" cy="146645"/>
          </a:xfrm>
          <a:prstGeom prst="rect">
            <a:avLst/>
          </a:prstGeom>
          <a:noFill/>
          <a:ln/>
        </p:spPr>
        <p:txBody>
          <a:bodyPr wrap="none" lIns="0" tIns="0" rIns="0" bIns="0" rtlCol="0" anchor="t"/>
          <a:lstStyle/>
          <a:p>
            <a:pPr algn="l" indent="0" marL="0">
              <a:lnSpc>
                <a:spcPct val="104000"/>
              </a:lnSpc>
              <a:buNone/>
            </a:pPr>
            <a:r>
              <a:rPr lang="en-US" sz="900" spc="-18" kern="0" dirty="0">
                <a:solidFill>
                  <a:srgbClr val="272525"/>
                </a:solidFill>
                <a:latin typeface="Source Serif 4 SemiBold" pitchFamily="34" charset="0"/>
                <a:ea typeface="Source Serif 4 SemiBold" pitchFamily="34" charset="-122"/>
                <a:cs typeface="Source Serif 4 SemiBold" pitchFamily="34" charset="-120"/>
              </a:rPr>
              <a:t>Feature Extraction</a:t>
            </a:r>
            <a:endParaRPr lang="en-US" sz="900" dirty="0"/>
          </a:p>
        </p:txBody>
      </p:sp>
      <p:sp>
        <p:nvSpPr>
          <p:cNvPr id="6" name="Text 3"/>
          <p:cNvSpPr/>
          <p:nvPr/>
        </p:nvSpPr>
        <p:spPr>
          <a:xfrm>
            <a:off x="810498" y="1694656"/>
            <a:ext cx="2436652" cy="667742"/>
          </a:xfrm>
          <a:prstGeom prst="rect">
            <a:avLst/>
          </a:prstGeom>
          <a:noFill/>
          <a:ln/>
        </p:spPr>
        <p:txBody>
          <a:bodyPr wrap="square" lIns="0" tIns="0" rIns="0" bIns="0" rtlCol="0" anchor="t">
            <a:normAutofit/>
          </a:bodyPr>
          <a:lstStyle/>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Extract 23 URL and HTML-derived features</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URL structure, entropy and suspicious keywords</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HTML/text length and hyperlink statistics</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Forms, password fields and login indicators</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External links and external-form indicators</a:t>
            </a:r>
            <a:endParaRPr lang="en-US" sz="7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9369" y="1156494"/>
            <a:ext cx="2661576" cy="1437977"/>
          </a:xfrm>
          <a:prstGeom prst="rect">
            <a:avLst/>
          </a:prstGeom>
        </p:spPr>
      </p:pic>
      <p:sp>
        <p:nvSpPr>
          <p:cNvPr id="8" name="Text 4"/>
          <p:cNvSpPr/>
          <p:nvPr/>
        </p:nvSpPr>
        <p:spPr>
          <a:xfrm>
            <a:off x="4665347" y="1222077"/>
            <a:ext cx="149519" cy="186928"/>
          </a:xfrm>
          <a:prstGeom prst="rect">
            <a:avLst/>
          </a:prstGeom>
          <a:noFill/>
          <a:ln/>
        </p:spPr>
        <p:txBody>
          <a:bodyPr wrap="none" lIns="0" tIns="0" rIns="0" bIns="0" rtlCol="0" anchor="ctr"/>
          <a:lstStyle/>
          <a:p>
            <a:pPr algn="ctr" indent="0" marL="0">
              <a:lnSpc>
                <a:spcPct val="100000"/>
              </a:lnSpc>
              <a:buNone/>
            </a:pPr>
            <a:r>
              <a:rPr lang="en-US" sz="1150" spc="-24" kern="0" dirty="0">
                <a:solidFill>
                  <a:srgbClr val="272525"/>
                </a:solidFill>
                <a:latin typeface="Source Serif 4 SemiBold" pitchFamily="34" charset="0"/>
                <a:ea typeface="Source Serif 4 SemiBold" pitchFamily="34" charset="-122"/>
                <a:cs typeface="Source Serif 4 SemiBold" pitchFamily="34" charset="-120"/>
              </a:rPr>
              <a:t>2</a:t>
            </a:r>
            <a:endParaRPr lang="en-US" sz="1150" dirty="0"/>
          </a:p>
        </p:txBody>
      </p:sp>
      <p:sp>
        <p:nvSpPr>
          <p:cNvPr id="9" name="Text 5"/>
          <p:cNvSpPr/>
          <p:nvPr/>
        </p:nvSpPr>
        <p:spPr>
          <a:xfrm>
            <a:off x="3521781" y="1518146"/>
            <a:ext cx="2436752" cy="146645"/>
          </a:xfrm>
          <a:prstGeom prst="rect">
            <a:avLst/>
          </a:prstGeom>
          <a:noFill/>
          <a:ln/>
        </p:spPr>
        <p:txBody>
          <a:bodyPr wrap="none" lIns="0" tIns="0" rIns="0" bIns="0" rtlCol="0" anchor="t"/>
          <a:lstStyle/>
          <a:p>
            <a:pPr algn="l" indent="0" marL="0">
              <a:lnSpc>
                <a:spcPct val="104000"/>
              </a:lnSpc>
              <a:buNone/>
            </a:pPr>
            <a:r>
              <a:rPr lang="en-US" sz="900" spc="-18" kern="0" dirty="0">
                <a:solidFill>
                  <a:srgbClr val="272525"/>
                </a:solidFill>
                <a:latin typeface="Source Serif 4 SemiBold" pitchFamily="34" charset="0"/>
                <a:ea typeface="Source Serif 4 SemiBold" pitchFamily="34" charset="-122"/>
                <a:cs typeface="Source Serif 4 SemiBold" pitchFamily="34" charset="-120"/>
              </a:rPr>
              <a:t>Model Development</a:t>
            </a:r>
            <a:endParaRPr lang="en-US" sz="900" dirty="0"/>
          </a:p>
        </p:txBody>
      </p:sp>
      <p:sp>
        <p:nvSpPr>
          <p:cNvPr id="10" name="Text 6"/>
          <p:cNvSpPr/>
          <p:nvPr/>
        </p:nvSpPr>
        <p:spPr>
          <a:xfrm>
            <a:off x="3521781" y="1694656"/>
            <a:ext cx="2436752" cy="787400"/>
          </a:xfrm>
          <a:prstGeom prst="rect">
            <a:avLst/>
          </a:prstGeom>
          <a:noFill/>
          <a:ln/>
        </p:spPr>
        <p:txBody>
          <a:bodyPr wrap="square" lIns="0" tIns="0" rIns="0" bIns="0" rtlCol="0" anchor="t">
            <a:normAutofit/>
          </a:bodyPr>
          <a:lstStyle/>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Implemented PhishXpert two-branch neural architecture</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Separate URL and HTML feature branches</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Neural feature fusion for phishing classification</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AdamW optimization with early stopping</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Compared against RF, XGBoost, CatBoost and LightGBM baselines</a:t>
            </a:r>
            <a:endParaRPr lang="en-US" sz="7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20751" y="1156494"/>
            <a:ext cx="2661476" cy="1437977"/>
          </a:xfrm>
          <a:prstGeom prst="rect">
            <a:avLst/>
          </a:prstGeom>
        </p:spPr>
      </p:pic>
      <p:sp>
        <p:nvSpPr>
          <p:cNvPr id="12" name="Text 7"/>
          <p:cNvSpPr/>
          <p:nvPr/>
        </p:nvSpPr>
        <p:spPr>
          <a:xfrm>
            <a:off x="7376730" y="1222077"/>
            <a:ext cx="149519" cy="186928"/>
          </a:xfrm>
          <a:prstGeom prst="rect">
            <a:avLst/>
          </a:prstGeom>
          <a:noFill/>
          <a:ln/>
        </p:spPr>
        <p:txBody>
          <a:bodyPr wrap="none" lIns="0" tIns="0" rIns="0" bIns="0" rtlCol="0" anchor="ctr"/>
          <a:lstStyle/>
          <a:p>
            <a:pPr algn="ctr" indent="0" marL="0">
              <a:lnSpc>
                <a:spcPct val="100000"/>
              </a:lnSpc>
              <a:buNone/>
            </a:pPr>
            <a:r>
              <a:rPr lang="en-US" sz="1150" spc="-24" kern="0" dirty="0">
                <a:solidFill>
                  <a:srgbClr val="272525"/>
                </a:solidFill>
                <a:latin typeface="Source Serif 4 SemiBold" pitchFamily="34" charset="0"/>
                <a:ea typeface="Source Serif 4 SemiBold" pitchFamily="34" charset="-122"/>
                <a:cs typeface="Source Serif 4 SemiBold" pitchFamily="34" charset="-120"/>
              </a:rPr>
              <a:t>3</a:t>
            </a:r>
            <a:endParaRPr lang="en-US" sz="1150" dirty="0"/>
          </a:p>
        </p:txBody>
      </p:sp>
      <p:sp>
        <p:nvSpPr>
          <p:cNvPr id="13" name="Text 8"/>
          <p:cNvSpPr/>
          <p:nvPr/>
        </p:nvSpPr>
        <p:spPr>
          <a:xfrm>
            <a:off x="6233163" y="1518146"/>
            <a:ext cx="2436652" cy="146645"/>
          </a:xfrm>
          <a:prstGeom prst="rect">
            <a:avLst/>
          </a:prstGeom>
          <a:noFill/>
          <a:ln/>
        </p:spPr>
        <p:txBody>
          <a:bodyPr wrap="none" lIns="0" tIns="0" rIns="0" bIns="0" rtlCol="0" anchor="t"/>
          <a:lstStyle/>
          <a:p>
            <a:pPr algn="l" indent="0" marL="0">
              <a:lnSpc>
                <a:spcPct val="104000"/>
              </a:lnSpc>
              <a:buNone/>
            </a:pPr>
            <a:r>
              <a:rPr lang="en-US" sz="900" spc="-18" kern="0" dirty="0">
                <a:solidFill>
                  <a:srgbClr val="272525"/>
                </a:solidFill>
                <a:latin typeface="Source Serif 4 SemiBold" pitchFamily="34" charset="0"/>
                <a:ea typeface="Source Serif 4 SemiBold" pitchFamily="34" charset="-122"/>
                <a:cs typeface="Source Serif 4 SemiBold" pitchFamily="34" charset="-120"/>
              </a:rPr>
              <a:t>Explainability &amp; Evidence</a:t>
            </a:r>
            <a:endParaRPr lang="en-US" sz="900" dirty="0"/>
          </a:p>
        </p:txBody>
      </p:sp>
      <p:sp>
        <p:nvSpPr>
          <p:cNvPr id="14" name="Text 9"/>
          <p:cNvSpPr/>
          <p:nvPr/>
        </p:nvSpPr>
        <p:spPr>
          <a:xfrm>
            <a:off x="6233163" y="1694656"/>
            <a:ext cx="2436652" cy="787400"/>
          </a:xfrm>
          <a:prstGeom prst="rect">
            <a:avLst/>
          </a:prstGeom>
          <a:noFill/>
          <a:ln/>
        </p:spPr>
        <p:txBody>
          <a:bodyPr wrap="square" lIns="0" tIns="0" rIns="0" bIns="0" rtlCol="0" anchor="t">
            <a:normAutofit/>
          </a:bodyPr>
          <a:lstStyle/>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Model prediction and confidence</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Domain verification</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Webpage evidence analysis</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TF-IDF + RAG cybersecurity knowledge retrieval</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Gemini knowledge-grounded natural-language explanation</a:t>
            </a:r>
            <a:endParaRPr lang="en-US" sz="7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32034" y="1156494"/>
            <a:ext cx="2661576" cy="1437977"/>
          </a:xfrm>
          <a:prstGeom prst="rect">
            <a:avLst/>
          </a:prstGeom>
        </p:spPr>
      </p:pic>
      <p:sp>
        <p:nvSpPr>
          <p:cNvPr id="16" name="Text 10"/>
          <p:cNvSpPr/>
          <p:nvPr/>
        </p:nvSpPr>
        <p:spPr>
          <a:xfrm>
            <a:off x="10088012" y="1222077"/>
            <a:ext cx="149519" cy="186928"/>
          </a:xfrm>
          <a:prstGeom prst="rect">
            <a:avLst/>
          </a:prstGeom>
          <a:noFill/>
          <a:ln/>
        </p:spPr>
        <p:txBody>
          <a:bodyPr wrap="none" lIns="0" tIns="0" rIns="0" bIns="0" rtlCol="0" anchor="ctr"/>
          <a:lstStyle/>
          <a:p>
            <a:pPr algn="ctr" indent="0" marL="0">
              <a:lnSpc>
                <a:spcPct val="100000"/>
              </a:lnSpc>
              <a:buNone/>
            </a:pPr>
            <a:r>
              <a:rPr lang="en-US" sz="1150" spc="-24" kern="0" dirty="0">
                <a:solidFill>
                  <a:srgbClr val="272525"/>
                </a:solidFill>
                <a:latin typeface="Source Serif 4 SemiBold" pitchFamily="34" charset="0"/>
                <a:ea typeface="Source Serif 4 SemiBold" pitchFamily="34" charset="-122"/>
                <a:cs typeface="Source Serif 4 SemiBold" pitchFamily="34" charset="-120"/>
              </a:rPr>
              <a:t>4</a:t>
            </a:r>
            <a:endParaRPr lang="en-US" sz="1150" dirty="0"/>
          </a:p>
        </p:txBody>
      </p:sp>
      <p:sp>
        <p:nvSpPr>
          <p:cNvPr id="17" name="Text 11"/>
          <p:cNvSpPr/>
          <p:nvPr/>
        </p:nvSpPr>
        <p:spPr>
          <a:xfrm>
            <a:off x="8944446" y="1518146"/>
            <a:ext cx="2436752" cy="146645"/>
          </a:xfrm>
          <a:prstGeom prst="rect">
            <a:avLst/>
          </a:prstGeom>
          <a:noFill/>
          <a:ln/>
        </p:spPr>
        <p:txBody>
          <a:bodyPr wrap="none" lIns="0" tIns="0" rIns="0" bIns="0" rtlCol="0" anchor="t"/>
          <a:lstStyle/>
          <a:p>
            <a:pPr algn="l" indent="0" marL="0">
              <a:lnSpc>
                <a:spcPct val="104000"/>
              </a:lnSpc>
              <a:buNone/>
            </a:pPr>
            <a:r>
              <a:rPr lang="en-US" sz="900" spc="-18" kern="0" dirty="0">
                <a:solidFill>
                  <a:srgbClr val="272525"/>
                </a:solidFill>
                <a:latin typeface="Source Serif 4 SemiBold" pitchFamily="34" charset="0"/>
                <a:ea typeface="Source Serif 4 SemiBold" pitchFamily="34" charset="-122"/>
                <a:cs typeface="Source Serif 4 SemiBold" pitchFamily="34" charset="-120"/>
              </a:rPr>
              <a:t>Web Application</a:t>
            </a:r>
            <a:endParaRPr lang="en-US" sz="900" dirty="0"/>
          </a:p>
        </p:txBody>
      </p:sp>
      <p:sp>
        <p:nvSpPr>
          <p:cNvPr id="18" name="Text 12"/>
          <p:cNvSpPr/>
          <p:nvPr/>
        </p:nvSpPr>
        <p:spPr>
          <a:xfrm>
            <a:off x="8944446" y="1694656"/>
            <a:ext cx="2436752" cy="787400"/>
          </a:xfrm>
          <a:prstGeom prst="rect">
            <a:avLst/>
          </a:prstGeom>
          <a:noFill/>
          <a:ln/>
        </p:spPr>
        <p:txBody>
          <a:bodyPr wrap="square" lIns="0" tIns="0" rIns="0" bIns="0" rtlCol="0" anchor="t">
            <a:normAutofit/>
          </a:bodyPr>
          <a:lstStyle/>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User submits URL through React interface</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FastAPI fetches webpage and extracts features</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PhishXpert generates prediction</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Supports URL + HTML and URL-only fallback</a:t>
            </a:r>
            <a:endParaRPr lang="en-US" sz="750" dirty="0"/>
          </a:p>
          <a:p>
            <a:pPr algn="l" marL="152400" indent="-152400">
              <a:lnSpc>
                <a:spcPct val="100000"/>
              </a:lnSpc>
              <a:buSzPct val="100000"/>
              <a:buChar char="•"/>
            </a:pPr>
            <a:r>
              <a:rPr lang="en-US" sz="750" spc="-16" kern="0" dirty="0">
                <a:solidFill>
                  <a:srgbClr val="272525"/>
                </a:solidFill>
                <a:latin typeface="Source Sans 3" pitchFamily="34" charset="0"/>
                <a:ea typeface="Source Sans 3" pitchFamily="34" charset="-122"/>
                <a:cs typeface="Source Sans 3" pitchFamily="34" charset="-120"/>
              </a:rPr>
              <a:t>Displays Benign / Suspicious / Phishing, confidence, evidence and explanation</a:t>
            </a:r>
            <a:endParaRPr lang="en-US" sz="750" dirty="0"/>
          </a:p>
        </p:txBody>
      </p:sp>
      <p:pic>
        <p:nvPicPr>
          <p:cNvPr id="19" name="Image 4" descr="preencoded.png">    </p:cNvPr>
          <p:cNvPicPr>
            <a:picLocks noChangeAspect="1"/>
          </p:cNvPicPr>
          <p:nvPr/>
        </p:nvPicPr>
        <p:blipFill>
          <a:blip r:embed="rId9"/>
          <a:stretch>
            <a:fillRect/>
          </a:stretch>
        </p:blipFill>
        <p:spPr>
          <a:xfrm>
            <a:off x="698086" y="2706588"/>
            <a:ext cx="1820222" cy="2730401"/>
          </a:xfrm>
          <a:prstGeom prst="rect">
            <a:avLst/>
          </a:prstGeom>
        </p:spPr>
      </p:pic>
      <p:pic>
        <p:nvPicPr>
          <p:cNvPr id="20" name="Image 5" descr="preencoded.png">    </p:cNvPr>
          <p:cNvPicPr>
            <a:picLocks noChangeAspect="1"/>
          </p:cNvPicPr>
          <p:nvPr/>
        </p:nvPicPr>
        <p:blipFill>
          <a:blip r:embed="rId10"/>
          <a:stretch>
            <a:fillRect/>
          </a:stretch>
        </p:blipFill>
        <p:spPr>
          <a:xfrm>
            <a:off x="4457588" y="2706588"/>
            <a:ext cx="7042271" cy="33429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98086" y="549077"/>
            <a:ext cx="10795524" cy="311646"/>
          </a:xfrm>
          <a:prstGeom prst="rect">
            <a:avLst/>
          </a:prstGeom>
          <a:noFill/>
          <a:ln/>
        </p:spPr>
        <p:txBody>
          <a:bodyPr wrap="none" lIns="0" tIns="0" rIns="0" bIns="0" rtlCol="0" anchor="t"/>
          <a:lstStyle/>
          <a:p>
            <a:pPr algn="l" indent="0" marL="0">
              <a:lnSpc>
                <a:spcPct val="104000"/>
              </a:lnSpc>
              <a:buNone/>
            </a:pPr>
            <a:r>
              <a:rPr lang="en-US" sz="1950" spc="-39" kern="0" dirty="0">
                <a:solidFill>
                  <a:srgbClr val="000000"/>
                </a:solidFill>
                <a:latin typeface="Source Serif 4 SemiBold" pitchFamily="34" charset="0"/>
                <a:ea typeface="Source Serif 4 SemiBold" pitchFamily="34" charset="-122"/>
                <a:cs typeface="Source Serif 4 SemiBold" pitchFamily="34" charset="-120"/>
              </a:rPr>
              <a:t>Results</a:t>
            </a:r>
            <a:endParaRPr lang="en-US" sz="1950" dirty="0"/>
          </a:p>
        </p:txBody>
      </p:sp>
      <p:sp>
        <p:nvSpPr>
          <p:cNvPr id="3" name="Text 1"/>
          <p:cNvSpPr/>
          <p:nvPr/>
        </p:nvSpPr>
        <p:spPr>
          <a:xfrm>
            <a:off x="698086" y="883146"/>
            <a:ext cx="10795524" cy="187027"/>
          </a:xfrm>
          <a:prstGeom prst="rect">
            <a:avLst/>
          </a:prstGeom>
          <a:noFill/>
          <a:ln/>
        </p:spPr>
        <p:txBody>
          <a:bodyPr wrap="none" lIns="0" tIns="0" rIns="0" bIns="0" rtlCol="0" anchor="t"/>
          <a:lstStyle/>
          <a:p>
            <a:pPr algn="l" indent="0" marL="0">
              <a:lnSpc>
                <a:spcPct val="104000"/>
              </a:lnSpc>
              <a:buNone/>
            </a:pPr>
            <a:r>
              <a:rPr lang="en-US" sz="1150" spc="-24" kern="0" dirty="0">
                <a:solidFill>
                  <a:srgbClr val="000000"/>
                </a:solidFill>
                <a:latin typeface="Source Serif 4 SemiBold" pitchFamily="34" charset="0"/>
                <a:ea typeface="Source Serif 4 SemiBold" pitchFamily="34" charset="-122"/>
                <a:cs typeface="Source Serif 4 SemiBold" pitchFamily="34" charset="-120"/>
              </a:rPr>
              <a:t>Dataset Processing</a:t>
            </a:r>
            <a:endParaRPr lang="en-US" sz="1150" dirty="0"/>
          </a:p>
        </p:txBody>
      </p:sp>
      <p:sp>
        <p:nvSpPr>
          <p:cNvPr id="4" name="Text 2"/>
          <p:cNvSpPr/>
          <p:nvPr/>
        </p:nvSpPr>
        <p:spPr>
          <a:xfrm>
            <a:off x="698086" y="1207591"/>
            <a:ext cx="2646098" cy="349746"/>
          </a:xfrm>
          <a:prstGeom prst="rect">
            <a:avLst/>
          </a:prstGeom>
          <a:noFill/>
          <a:ln/>
        </p:spPr>
        <p:txBody>
          <a:bodyPr wrap="none" lIns="0" tIns="0" rIns="0" bIns="0" rtlCol="0" anchor="t"/>
          <a:lstStyle/>
          <a:p>
            <a:pPr algn="ctr" indent="0" marL="0">
              <a:lnSpc>
                <a:spcPct val="83000"/>
              </a:lnSpc>
              <a:buNone/>
            </a:pPr>
            <a:r>
              <a:rPr lang="en-US" sz="2750" spc="-55" kern="0" dirty="0">
                <a:solidFill>
                  <a:srgbClr val="272525"/>
                </a:solidFill>
                <a:latin typeface="Source Serif 4 SemiBold" pitchFamily="34" charset="0"/>
                <a:ea typeface="Source Serif 4 SemiBold" pitchFamily="34" charset="-122"/>
                <a:cs typeface="Source Serif 4 SemiBold" pitchFamily="34" charset="-120"/>
              </a:rPr>
              <a:t>60,252</a:t>
            </a:r>
            <a:endParaRPr lang="en-US" sz="2750" dirty="0"/>
          </a:p>
        </p:txBody>
      </p:sp>
      <p:sp>
        <p:nvSpPr>
          <p:cNvPr id="5" name="Text 3"/>
          <p:cNvSpPr/>
          <p:nvPr/>
        </p:nvSpPr>
        <p:spPr>
          <a:xfrm>
            <a:off x="698086" y="1652488"/>
            <a:ext cx="2646098" cy="155873"/>
          </a:xfrm>
          <a:prstGeom prst="rect">
            <a:avLst/>
          </a:prstGeom>
          <a:noFill/>
          <a:ln/>
        </p:spPr>
        <p:txBody>
          <a:bodyPr wrap="none" lIns="0" tIns="0" rIns="0" bIns="0" rtlCol="0" anchor="t"/>
          <a:lstStyle/>
          <a:p>
            <a:pPr algn="ctr" indent="0" marL="0">
              <a:lnSpc>
                <a:spcPct val="104000"/>
              </a:lnSpc>
              <a:buNone/>
            </a:pPr>
            <a:r>
              <a:rPr lang="en-US" sz="950" spc="-20" kern="0" dirty="0">
                <a:solidFill>
                  <a:srgbClr val="272525"/>
                </a:solidFill>
                <a:latin typeface="Source Serif 4 SemiBold" pitchFamily="34" charset="0"/>
                <a:ea typeface="Source Serif 4 SemiBold" pitchFamily="34" charset="-122"/>
                <a:cs typeface="Source Serif 4 SemiBold" pitchFamily="34" charset="-120"/>
              </a:rPr>
              <a:t>Total Samples</a:t>
            </a:r>
            <a:endParaRPr lang="en-US" sz="950" dirty="0"/>
          </a:p>
        </p:txBody>
      </p:sp>
      <p:sp>
        <p:nvSpPr>
          <p:cNvPr id="6" name="Text 4"/>
          <p:cNvSpPr/>
          <p:nvPr/>
        </p:nvSpPr>
        <p:spPr>
          <a:xfrm>
            <a:off x="3414528" y="1207591"/>
            <a:ext cx="2646098" cy="349746"/>
          </a:xfrm>
          <a:prstGeom prst="rect">
            <a:avLst/>
          </a:prstGeom>
          <a:noFill/>
          <a:ln/>
        </p:spPr>
        <p:txBody>
          <a:bodyPr wrap="none" lIns="0" tIns="0" rIns="0" bIns="0" rtlCol="0" anchor="t"/>
          <a:lstStyle/>
          <a:p>
            <a:pPr algn="ctr" indent="0" marL="0">
              <a:lnSpc>
                <a:spcPct val="83000"/>
              </a:lnSpc>
              <a:buNone/>
            </a:pPr>
            <a:r>
              <a:rPr lang="en-US" sz="2750" spc="-55" kern="0" dirty="0">
                <a:solidFill>
                  <a:srgbClr val="272525"/>
                </a:solidFill>
                <a:latin typeface="Source Serif 4 SemiBold" pitchFamily="34" charset="0"/>
                <a:ea typeface="Source Serif 4 SemiBold" pitchFamily="34" charset="-122"/>
                <a:cs typeface="Source Serif 4 SemiBold" pitchFamily="34" charset="-120"/>
              </a:rPr>
              <a:t>23</a:t>
            </a:r>
            <a:endParaRPr lang="en-US" sz="2750" dirty="0"/>
          </a:p>
        </p:txBody>
      </p:sp>
      <p:sp>
        <p:nvSpPr>
          <p:cNvPr id="7" name="Text 5"/>
          <p:cNvSpPr/>
          <p:nvPr/>
        </p:nvSpPr>
        <p:spPr>
          <a:xfrm>
            <a:off x="3414528" y="1652488"/>
            <a:ext cx="2646098" cy="155873"/>
          </a:xfrm>
          <a:prstGeom prst="rect">
            <a:avLst/>
          </a:prstGeom>
          <a:noFill/>
          <a:ln/>
        </p:spPr>
        <p:txBody>
          <a:bodyPr wrap="none" lIns="0" tIns="0" rIns="0" bIns="0" rtlCol="0" anchor="t"/>
          <a:lstStyle/>
          <a:p>
            <a:pPr algn="ctr" indent="0" marL="0">
              <a:lnSpc>
                <a:spcPct val="104000"/>
              </a:lnSpc>
              <a:buNone/>
            </a:pPr>
            <a:r>
              <a:rPr lang="en-US" sz="950" spc="-20" kern="0" dirty="0">
                <a:solidFill>
                  <a:srgbClr val="272525"/>
                </a:solidFill>
                <a:latin typeface="Source Serif 4 SemiBold" pitchFamily="34" charset="0"/>
                <a:ea typeface="Source Serif 4 SemiBold" pitchFamily="34" charset="-122"/>
                <a:cs typeface="Source Serif 4 SemiBold" pitchFamily="34" charset="-120"/>
              </a:rPr>
              <a:t>Features</a:t>
            </a:r>
            <a:endParaRPr lang="en-US" sz="950" dirty="0"/>
          </a:p>
        </p:txBody>
      </p:sp>
      <p:sp>
        <p:nvSpPr>
          <p:cNvPr id="8" name="Text 6"/>
          <p:cNvSpPr/>
          <p:nvPr/>
        </p:nvSpPr>
        <p:spPr>
          <a:xfrm>
            <a:off x="6130970" y="1207591"/>
            <a:ext cx="2646098" cy="349746"/>
          </a:xfrm>
          <a:prstGeom prst="rect">
            <a:avLst/>
          </a:prstGeom>
          <a:noFill/>
          <a:ln/>
        </p:spPr>
        <p:txBody>
          <a:bodyPr wrap="none" lIns="0" tIns="0" rIns="0" bIns="0" rtlCol="0" anchor="t"/>
          <a:lstStyle/>
          <a:p>
            <a:pPr algn="ctr" indent="0" marL="0">
              <a:lnSpc>
                <a:spcPct val="83000"/>
              </a:lnSpc>
              <a:buNone/>
            </a:pPr>
            <a:r>
              <a:rPr lang="en-US" sz="2750" spc="-55" kern="0" dirty="0">
                <a:solidFill>
                  <a:srgbClr val="272525"/>
                </a:solidFill>
                <a:latin typeface="Source Serif 4 SemiBold" pitchFamily="34" charset="0"/>
                <a:ea typeface="Source Serif 4 SemiBold" pitchFamily="34" charset="-122"/>
                <a:cs typeface="Source Serif 4 SemiBold" pitchFamily="34" charset="-120"/>
              </a:rPr>
              <a:t>48,201</a:t>
            </a:r>
            <a:endParaRPr lang="en-US" sz="2750" dirty="0"/>
          </a:p>
        </p:txBody>
      </p:sp>
      <p:sp>
        <p:nvSpPr>
          <p:cNvPr id="9" name="Text 7"/>
          <p:cNvSpPr/>
          <p:nvPr/>
        </p:nvSpPr>
        <p:spPr>
          <a:xfrm>
            <a:off x="6130970" y="1652488"/>
            <a:ext cx="2646098" cy="155873"/>
          </a:xfrm>
          <a:prstGeom prst="rect">
            <a:avLst/>
          </a:prstGeom>
          <a:noFill/>
          <a:ln/>
        </p:spPr>
        <p:txBody>
          <a:bodyPr wrap="none" lIns="0" tIns="0" rIns="0" bIns="0" rtlCol="0" anchor="t"/>
          <a:lstStyle/>
          <a:p>
            <a:pPr algn="ctr" indent="0" marL="0">
              <a:lnSpc>
                <a:spcPct val="104000"/>
              </a:lnSpc>
              <a:buNone/>
            </a:pPr>
            <a:r>
              <a:rPr lang="en-US" sz="950" spc="-20" kern="0" dirty="0">
                <a:solidFill>
                  <a:srgbClr val="272525"/>
                </a:solidFill>
                <a:latin typeface="Source Serif 4 SemiBold" pitchFamily="34" charset="0"/>
                <a:ea typeface="Source Serif 4 SemiBold" pitchFamily="34" charset="-122"/>
                <a:cs typeface="Source Serif 4 SemiBold" pitchFamily="34" charset="-120"/>
              </a:rPr>
              <a:t>Training Samples</a:t>
            </a:r>
            <a:endParaRPr lang="en-US" sz="950" dirty="0"/>
          </a:p>
        </p:txBody>
      </p:sp>
      <p:sp>
        <p:nvSpPr>
          <p:cNvPr id="10" name="Text 8"/>
          <p:cNvSpPr/>
          <p:nvPr/>
        </p:nvSpPr>
        <p:spPr>
          <a:xfrm>
            <a:off x="8847412" y="1207591"/>
            <a:ext cx="2646197" cy="349746"/>
          </a:xfrm>
          <a:prstGeom prst="rect">
            <a:avLst/>
          </a:prstGeom>
          <a:noFill/>
          <a:ln/>
        </p:spPr>
        <p:txBody>
          <a:bodyPr wrap="none" lIns="0" tIns="0" rIns="0" bIns="0" rtlCol="0" anchor="t"/>
          <a:lstStyle/>
          <a:p>
            <a:pPr algn="ctr" indent="0" marL="0">
              <a:lnSpc>
                <a:spcPct val="83000"/>
              </a:lnSpc>
              <a:buNone/>
            </a:pPr>
            <a:r>
              <a:rPr lang="en-US" sz="2750" spc="-55" kern="0" dirty="0">
                <a:solidFill>
                  <a:srgbClr val="272525"/>
                </a:solidFill>
                <a:latin typeface="Source Serif 4 SemiBold" pitchFamily="34" charset="0"/>
                <a:ea typeface="Source Serif 4 SemiBold" pitchFamily="34" charset="-122"/>
                <a:cs typeface="Source Serif 4 SemiBold" pitchFamily="34" charset="-120"/>
              </a:rPr>
              <a:t>12,051</a:t>
            </a:r>
            <a:endParaRPr lang="en-US" sz="2750" dirty="0"/>
          </a:p>
        </p:txBody>
      </p:sp>
      <p:sp>
        <p:nvSpPr>
          <p:cNvPr id="11" name="Text 9"/>
          <p:cNvSpPr/>
          <p:nvPr/>
        </p:nvSpPr>
        <p:spPr>
          <a:xfrm>
            <a:off x="8847412" y="1652488"/>
            <a:ext cx="2646197" cy="155873"/>
          </a:xfrm>
          <a:prstGeom prst="rect">
            <a:avLst/>
          </a:prstGeom>
          <a:noFill/>
          <a:ln/>
        </p:spPr>
        <p:txBody>
          <a:bodyPr wrap="none" lIns="0" tIns="0" rIns="0" bIns="0" rtlCol="0" anchor="t"/>
          <a:lstStyle/>
          <a:p>
            <a:pPr algn="ctr" indent="0" marL="0">
              <a:lnSpc>
                <a:spcPct val="104000"/>
              </a:lnSpc>
              <a:buNone/>
            </a:pPr>
            <a:r>
              <a:rPr lang="en-US" sz="950" spc="-20" kern="0" dirty="0">
                <a:solidFill>
                  <a:srgbClr val="272525"/>
                </a:solidFill>
                <a:latin typeface="Source Serif 4 SemiBold" pitchFamily="34" charset="0"/>
                <a:ea typeface="Source Serif 4 SemiBold" pitchFamily="34" charset="-122"/>
                <a:cs typeface="Source Serif 4 SemiBold" pitchFamily="34" charset="-120"/>
              </a:rPr>
              <a:t>Testing Samples</a:t>
            </a:r>
            <a:endParaRPr lang="en-US" sz="950" dirty="0"/>
          </a:p>
        </p:txBody>
      </p:sp>
      <p:sp>
        <p:nvSpPr>
          <p:cNvPr id="12" name="Text 10"/>
          <p:cNvSpPr/>
          <p:nvPr/>
        </p:nvSpPr>
        <p:spPr>
          <a:xfrm>
            <a:off x="698086" y="1892796"/>
            <a:ext cx="10795524" cy="187027"/>
          </a:xfrm>
          <a:prstGeom prst="rect">
            <a:avLst/>
          </a:prstGeom>
          <a:noFill/>
          <a:ln/>
        </p:spPr>
        <p:txBody>
          <a:bodyPr wrap="none" lIns="0" tIns="0" rIns="0" bIns="0" rtlCol="0" anchor="t"/>
          <a:lstStyle/>
          <a:p>
            <a:pPr algn="l" indent="0" marL="0">
              <a:lnSpc>
                <a:spcPct val="104000"/>
              </a:lnSpc>
              <a:buNone/>
            </a:pPr>
            <a:r>
              <a:rPr lang="en-US" sz="1150" spc="-24" kern="0" dirty="0">
                <a:solidFill>
                  <a:srgbClr val="000000"/>
                </a:solidFill>
                <a:latin typeface="Source Serif 4 SemiBold" pitchFamily="34" charset="0"/>
                <a:ea typeface="Source Serif 4 SemiBold" pitchFamily="34" charset="-122"/>
                <a:cs typeface="Source Serif 4 SemiBold" pitchFamily="34" charset="-120"/>
              </a:rPr>
              <a:t>Baseline Model Comparison</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98086" y="2164259"/>
          <a:ext cx="9143771" cy="914400"/>
        </p:xfrm>
        <a:graphic>
          <a:graphicData uri="http://schemas.openxmlformats.org/drawingml/2006/table">
            <a:tbl>
              <a:tblPr/>
              <a:tblGrid>
                <a:gridCol w="3670478"/>
                <a:gridCol w="3562523"/>
                <a:gridCol w="3562523"/>
              </a:tblGrid>
              <a:tr h="213117">
                <a:tc>
                  <a:txBody>
                    <a:bodyPr/>
                    <a:lstStyle/>
                    <a:p>
                      <a:pPr indent="0" marL="0">
                        <a:buNone/>
                      </a:pPr>
                      <a:r>
                        <a:rPr lang="en-US" sz="800" b="1" spc="-17" kern="0" dirty="0">
                          <a:solidFill>
                            <a:srgbClr val="272525"/>
                          </a:solidFill>
                          <a:latin typeface="Source Sans 3" pitchFamily="34" charset="0"/>
                          <a:ea typeface="Source Sans 3" pitchFamily="34" charset="-122"/>
                          <a:cs typeface="Source Sans 3" pitchFamily="34" charset="-120"/>
                        </a:rPr>
                        <a:t>Model</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b="1" spc="-17" kern="0" dirty="0">
                          <a:solidFill>
                            <a:srgbClr val="272525"/>
                          </a:solidFill>
                          <a:latin typeface="Source Sans 3" pitchFamily="34" charset="0"/>
                          <a:ea typeface="Source Sans 3" pitchFamily="34" charset="-122"/>
                          <a:cs typeface="Source Sans 3" pitchFamily="34" charset="-120"/>
                        </a:rPr>
                        <a:t>Accuracy</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b="1" spc="-17" kern="0" dirty="0">
                          <a:solidFill>
                            <a:srgbClr val="272525"/>
                          </a:solidFill>
                          <a:latin typeface="Source Sans 3" pitchFamily="34" charset="0"/>
                          <a:ea typeface="Source Sans 3" pitchFamily="34" charset="-122"/>
                          <a:cs typeface="Source Sans 3" pitchFamily="34" charset="-120"/>
                        </a:rPr>
                        <a:t>ROC-AUC</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216291">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Random Forest</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88.29%</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95.21%</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216291">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XGBoost</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88.48%</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95.51%</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216291">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CatBoost</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87.68%</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94.95%</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216291">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LightGBM</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88.09%</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spc="-17" kern="0" dirty="0">
                          <a:solidFill>
                            <a:srgbClr val="272525"/>
                          </a:solidFill>
                          <a:latin typeface="Source Sans 3" pitchFamily="34" charset="0"/>
                          <a:ea typeface="Source Sans 3" pitchFamily="34" charset="-122"/>
                          <a:cs typeface="Source Sans 3" pitchFamily="34" charset="-120"/>
                        </a:rPr>
                        <a:t>95.39%</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r h="213117">
                <a:tc>
                  <a:txBody>
                    <a:bodyPr/>
                    <a:lstStyle/>
                    <a:p>
                      <a:pPr indent="0" marL="0">
                        <a:buNone/>
                      </a:pPr>
                      <a:r>
                        <a:rPr lang="en-US" sz="800" b="1" spc="-17" kern="0" dirty="0">
                          <a:solidFill>
                            <a:srgbClr val="272525"/>
                          </a:solidFill>
                          <a:latin typeface="Source Sans 3" pitchFamily="34" charset="0"/>
                          <a:ea typeface="Source Sans 3" pitchFamily="34" charset="-122"/>
                          <a:cs typeface="Source Sans 3" pitchFamily="34" charset="-120"/>
                        </a:rPr>
                        <a:t>Optimized XGBoost</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b="1" spc="-17" kern="0" dirty="0">
                          <a:solidFill>
                            <a:srgbClr val="272525"/>
                          </a:solidFill>
                          <a:latin typeface="Source Sans 3" pitchFamily="34" charset="0"/>
                          <a:ea typeface="Source Sans 3" pitchFamily="34" charset="-122"/>
                          <a:cs typeface="Source Sans 3" pitchFamily="34" charset="-120"/>
                        </a:rPr>
                        <a:t>88.58%</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c>
                  <a:txBody>
                    <a:bodyPr/>
                    <a:lstStyle/>
                    <a:p>
                      <a:pPr indent="0" marL="0">
                        <a:buNone/>
                      </a:pPr>
                      <a:r>
                        <a:rPr lang="en-US" sz="800" b="1" spc="-17" kern="0" dirty="0">
                          <a:solidFill>
                            <a:srgbClr val="272525"/>
                          </a:solidFill>
                          <a:latin typeface="Source Sans 3" pitchFamily="34" charset="0"/>
                          <a:ea typeface="Source Sans 3" pitchFamily="34" charset="-122"/>
                          <a:cs typeface="Source Sans 3" pitchFamily="34" charset="-120"/>
                        </a:rPr>
                        <a:t>95.73%</a:t>
                      </a:r>
                      <a:endParaRPr lang="en-US" sz="800" dirty="0">
                        <a:latin typeface="Source Sans 3" charset="0"/>
                        <a:ea typeface="Source Sans 3" charset="0"/>
                        <a:cs typeface="Source Sans 3" charset="0"/>
                      </a:endParaRPr>
                    </a:p>
                  </a:txBody>
                  <a:tcPr marL="105973" marR="105973" marT="6350" marB="6350" anchor="ctr">
                    <a:lnL w="12700" cap="flat" cmpd="sng" algn="ctr">
                      <a:solidFill>
                        <a:srgbClr val="D6BADD"/>
                      </a:solidFill>
                      <a:prstDash val="solid"/>
                      <a:round/>
                      <a:headEnd type="none" w="med" len="med"/>
                      <a:tailEnd type="none" w="med" len="med"/>
                    </a:lnL>
                    <a:lnR w="12700" cap="flat" cmpd="sng" algn="ctr">
                      <a:solidFill>
                        <a:srgbClr val="D6BADD"/>
                      </a:solidFill>
                      <a:prstDash val="solid"/>
                      <a:round/>
                      <a:headEnd type="none" w="med" len="med"/>
                      <a:tailEnd type="none" w="med" len="med"/>
                    </a:lnR>
                    <a:lnT w="12700" cap="flat" cmpd="sng" algn="ctr">
                      <a:solidFill>
                        <a:srgbClr val="D6BADD"/>
                      </a:solidFill>
                      <a:prstDash val="solid"/>
                      <a:round/>
                      <a:headEnd type="none" w="med" len="med"/>
                      <a:tailEnd type="none" w="med" len="med"/>
                    </a:lnT>
                    <a:lnB w="12700" cap="flat" cmpd="sng" algn="ctr">
                      <a:solidFill>
                        <a:srgbClr val="D6BADD"/>
                      </a:solidFill>
                      <a:prstDash val="solid"/>
                      <a:round/>
                      <a:headEnd type="none" w="med" len="med"/>
                      <a:tailEnd type="none" w="med" len="med"/>
                    </a:lnB>
                  </a:tcPr>
                </a:tc>
              </a:tr>
            </a:tbl>
          </a:graphicData>
        </a:graphic>
      </p:graphicFrame>
      <p:sp>
        <p:nvSpPr>
          <p:cNvPr id="14" name="Text 11"/>
          <p:cNvSpPr/>
          <p:nvPr/>
        </p:nvSpPr>
        <p:spPr>
          <a:xfrm>
            <a:off x="698086" y="3552825"/>
            <a:ext cx="10795524" cy="187027"/>
          </a:xfrm>
          <a:prstGeom prst="rect">
            <a:avLst/>
          </a:prstGeom>
          <a:noFill/>
          <a:ln/>
        </p:spPr>
        <p:txBody>
          <a:bodyPr wrap="none" lIns="0" tIns="0" rIns="0" bIns="0" rtlCol="0" anchor="t"/>
          <a:lstStyle/>
          <a:p>
            <a:pPr algn="l" indent="0" marL="0">
              <a:lnSpc>
                <a:spcPct val="104000"/>
              </a:lnSpc>
              <a:buNone/>
            </a:pPr>
            <a:r>
              <a:rPr lang="en-US" sz="1150" spc="-24" kern="0" dirty="0">
                <a:solidFill>
                  <a:srgbClr val="000000"/>
                </a:solidFill>
                <a:latin typeface="Source Serif 4 SemiBold" pitchFamily="34" charset="0"/>
                <a:ea typeface="Source Serif 4 SemiBold" pitchFamily="34" charset="-122"/>
                <a:cs typeface="Source Serif 4 SemiBold" pitchFamily="34" charset="-120"/>
              </a:rPr>
              <a:t>Proposed PhishXpert Results</a:t>
            </a:r>
            <a:endParaRPr lang="en-US" sz="1150"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3824288"/>
            <a:ext cx="10795524" cy="1154410"/>
          </a:xfrm>
          <a:prstGeom prst="rect">
            <a:avLst/>
          </a:prstGeom>
        </p:spPr>
      </p:pic>
      <p:sp>
        <p:nvSpPr>
          <p:cNvPr id="16" name="Text 12"/>
          <p:cNvSpPr/>
          <p:nvPr/>
        </p:nvSpPr>
        <p:spPr>
          <a:xfrm>
            <a:off x="867547" y="3942953"/>
            <a:ext cx="10507400" cy="155873"/>
          </a:xfrm>
          <a:prstGeom prst="rect">
            <a:avLst/>
          </a:prstGeom>
          <a:noFill/>
          <a:ln/>
        </p:spPr>
        <p:txBody>
          <a:bodyPr wrap="none" lIns="0" tIns="0" rIns="0" bIns="0" rtlCol="0" anchor="t"/>
          <a:lstStyle/>
          <a:p>
            <a:pPr algn="l" indent="0" marL="0">
              <a:lnSpc>
                <a:spcPct val="104000"/>
              </a:lnSpc>
              <a:buNone/>
            </a:pPr>
            <a:r>
              <a:rPr lang="en-US" sz="950" spc="-20" kern="0" dirty="0">
                <a:solidFill>
                  <a:srgbClr val="272525"/>
                </a:solidFill>
                <a:latin typeface="Source Serif 4 SemiBold" pitchFamily="34" charset="0"/>
                <a:ea typeface="Source Serif 4 SemiBold" pitchFamily="34" charset="-122"/>
                <a:cs typeface="Source Serif 4 SemiBold" pitchFamily="34" charset="-120"/>
              </a:rPr>
              <a:t>PhishXpert — D1 Test Set</a:t>
            </a:r>
            <a:endParaRPr lang="en-US" sz="950" dirty="0"/>
          </a:p>
        </p:txBody>
      </p:sp>
      <p:sp>
        <p:nvSpPr>
          <p:cNvPr id="17" name="Text 13"/>
          <p:cNvSpPr/>
          <p:nvPr/>
        </p:nvSpPr>
        <p:spPr>
          <a:xfrm>
            <a:off x="867547" y="4132560"/>
            <a:ext cx="10507400" cy="727472"/>
          </a:xfrm>
          <a:prstGeom prst="rect">
            <a:avLst/>
          </a:prstGeom>
          <a:noFill/>
          <a:ln/>
        </p:spPr>
        <p:txBody>
          <a:bodyPr wrap="square" lIns="0" tIns="0" rIns="0" bIns="0" rtlCol="0" anchor="t">
            <a:normAutofit/>
          </a:bodyPr>
          <a:lstStyle/>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Accuracy: 85.68%</a:t>
            </a:r>
            <a:endParaRPr lang="en-US" sz="800" dirty="0"/>
          </a:p>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Precision: 84.73%</a:t>
            </a:r>
            <a:endParaRPr lang="en-US" sz="800" dirty="0"/>
          </a:p>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Recall: 83.39%</a:t>
            </a:r>
            <a:endParaRPr lang="en-US" sz="800" dirty="0"/>
          </a:p>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F1-Score: 84.06%</a:t>
            </a:r>
            <a:endParaRPr lang="en-US" sz="800" dirty="0"/>
          </a:p>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ROC-AUC: 93.73%</a:t>
            </a:r>
            <a:endParaRPr lang="en-US" sz="800" dirty="0"/>
          </a:p>
        </p:txBody>
      </p:sp>
      <p:sp>
        <p:nvSpPr>
          <p:cNvPr id="18" name="Text 14"/>
          <p:cNvSpPr/>
          <p:nvPr/>
        </p:nvSpPr>
        <p:spPr>
          <a:xfrm>
            <a:off x="698086" y="5063133"/>
            <a:ext cx="10795524" cy="187027"/>
          </a:xfrm>
          <a:prstGeom prst="rect">
            <a:avLst/>
          </a:prstGeom>
          <a:noFill/>
          <a:ln/>
        </p:spPr>
        <p:txBody>
          <a:bodyPr wrap="none" lIns="0" tIns="0" rIns="0" bIns="0" rtlCol="0" anchor="t"/>
          <a:lstStyle/>
          <a:p>
            <a:pPr algn="l" indent="0" marL="0">
              <a:lnSpc>
                <a:spcPct val="104000"/>
              </a:lnSpc>
              <a:buNone/>
            </a:pPr>
            <a:r>
              <a:rPr lang="en-US" sz="1150" spc="-24" kern="0" dirty="0">
                <a:solidFill>
                  <a:srgbClr val="000000"/>
                </a:solidFill>
                <a:latin typeface="Source Serif 4 SemiBold" pitchFamily="34" charset="0"/>
                <a:ea typeface="Source Serif 4 SemiBold" pitchFamily="34" charset="-122"/>
                <a:cs typeface="Source Serif 4 SemiBold" pitchFamily="34" charset="-120"/>
              </a:rPr>
              <a:t>Cross-Dataset Generalization — CompPhish</a:t>
            </a:r>
            <a:endParaRPr lang="en-US" sz="1150" dirty="0"/>
          </a:p>
        </p:txBody>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8086" y="5334595"/>
            <a:ext cx="5369584" cy="974328"/>
          </a:xfrm>
          <a:prstGeom prst="rect">
            <a:avLst/>
          </a:prstGeom>
        </p:spPr>
      </p:pic>
      <p:sp>
        <p:nvSpPr>
          <p:cNvPr id="20" name="Text 15"/>
          <p:cNvSpPr/>
          <p:nvPr/>
        </p:nvSpPr>
        <p:spPr>
          <a:xfrm>
            <a:off x="816748" y="5721449"/>
            <a:ext cx="5132259" cy="155873"/>
          </a:xfrm>
          <a:prstGeom prst="rect">
            <a:avLst/>
          </a:prstGeom>
          <a:noFill/>
          <a:ln/>
        </p:spPr>
        <p:txBody>
          <a:bodyPr wrap="none" lIns="0" tIns="0" rIns="0" bIns="0" rtlCol="0" anchor="t"/>
          <a:lstStyle/>
          <a:p>
            <a:pPr algn="l" indent="0" marL="0">
              <a:lnSpc>
                <a:spcPct val="104000"/>
              </a:lnSpc>
              <a:buNone/>
            </a:pPr>
            <a:r>
              <a:rPr lang="en-US" sz="950" spc="-20" kern="0" dirty="0">
                <a:solidFill>
                  <a:srgbClr val="272525"/>
                </a:solidFill>
                <a:latin typeface="Source Serif 4 SemiBold" pitchFamily="34" charset="0"/>
                <a:ea typeface="Source Serif 4 SemiBold" pitchFamily="34" charset="-122"/>
                <a:cs typeface="Source Serif 4 SemiBold" pitchFamily="34" charset="-120"/>
              </a:rPr>
              <a:t>Random holdout</a:t>
            </a:r>
            <a:endParaRPr lang="en-US" sz="950" dirty="0"/>
          </a:p>
        </p:txBody>
      </p:sp>
      <p:sp>
        <p:nvSpPr>
          <p:cNvPr id="21" name="Text 16"/>
          <p:cNvSpPr/>
          <p:nvPr/>
        </p:nvSpPr>
        <p:spPr>
          <a:xfrm>
            <a:off x="816748" y="5911056"/>
            <a:ext cx="5132259" cy="279202"/>
          </a:xfrm>
          <a:prstGeom prst="rect">
            <a:avLst/>
          </a:prstGeom>
          <a:noFill/>
          <a:ln/>
        </p:spPr>
        <p:txBody>
          <a:bodyPr wrap="square" lIns="0" tIns="0" rIns="0" bIns="0" rtlCol="0" anchor="t">
            <a:normAutofit/>
          </a:bodyPr>
          <a:lstStyle/>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Accuracy: 87.17%</a:t>
            </a:r>
            <a:endParaRPr lang="en-US" sz="800" dirty="0"/>
          </a:p>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ROC-AUC: 95.13%</a:t>
            </a:r>
            <a:endParaRPr lang="en-US" sz="800" dirty="0"/>
          </a:p>
        </p:txBody>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23926" y="5334595"/>
            <a:ext cx="5369684" cy="974328"/>
          </a:xfrm>
          <a:prstGeom prst="rect">
            <a:avLst/>
          </a:prstGeom>
        </p:spPr>
      </p:pic>
      <p:sp>
        <p:nvSpPr>
          <p:cNvPr id="23" name="Text 17"/>
          <p:cNvSpPr/>
          <p:nvPr/>
        </p:nvSpPr>
        <p:spPr>
          <a:xfrm>
            <a:off x="6242588" y="5721449"/>
            <a:ext cx="5132358" cy="155873"/>
          </a:xfrm>
          <a:prstGeom prst="rect">
            <a:avLst/>
          </a:prstGeom>
          <a:noFill/>
          <a:ln/>
        </p:spPr>
        <p:txBody>
          <a:bodyPr wrap="none" lIns="0" tIns="0" rIns="0" bIns="0" rtlCol="0" anchor="t"/>
          <a:lstStyle/>
          <a:p>
            <a:pPr algn="l" indent="0" marL="0">
              <a:lnSpc>
                <a:spcPct val="104000"/>
              </a:lnSpc>
              <a:buNone/>
            </a:pPr>
            <a:r>
              <a:rPr lang="en-US" sz="950" spc="-20" kern="0" dirty="0">
                <a:solidFill>
                  <a:srgbClr val="272525"/>
                </a:solidFill>
                <a:latin typeface="Source Serif 4 SemiBold" pitchFamily="34" charset="0"/>
                <a:ea typeface="Source Serif 4 SemiBold" pitchFamily="34" charset="-122"/>
                <a:cs typeface="Source Serif 4 SemiBold" pitchFamily="34" charset="-120"/>
              </a:rPr>
              <a:t>Domain-unseen</a:t>
            </a:r>
            <a:endParaRPr lang="en-US" sz="950" dirty="0"/>
          </a:p>
        </p:txBody>
      </p:sp>
      <p:sp>
        <p:nvSpPr>
          <p:cNvPr id="24" name="Text 18"/>
          <p:cNvSpPr/>
          <p:nvPr/>
        </p:nvSpPr>
        <p:spPr>
          <a:xfrm>
            <a:off x="6242588" y="5911056"/>
            <a:ext cx="5132358" cy="279202"/>
          </a:xfrm>
          <a:prstGeom prst="rect">
            <a:avLst/>
          </a:prstGeom>
          <a:noFill/>
          <a:ln/>
        </p:spPr>
        <p:txBody>
          <a:bodyPr wrap="square" lIns="0" tIns="0" rIns="0" bIns="0" rtlCol="0" anchor="t">
            <a:normAutofit/>
          </a:bodyPr>
          <a:lstStyle/>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Accuracy: 84.56%</a:t>
            </a:r>
            <a:endParaRPr lang="en-US" sz="800" dirty="0"/>
          </a:p>
          <a:p>
            <a:pPr algn="l" marL="162560" indent="-162560">
              <a:lnSpc>
                <a:spcPct val="102000"/>
              </a:lnSpc>
              <a:buSzPct val="100000"/>
              <a:buChar char="•"/>
            </a:pPr>
            <a:r>
              <a:rPr lang="en-US" sz="800" spc="-17" kern="0" dirty="0">
                <a:solidFill>
                  <a:srgbClr val="272525"/>
                </a:solidFill>
                <a:latin typeface="Source Sans 3" pitchFamily="34" charset="0"/>
                <a:ea typeface="Source Sans 3" pitchFamily="34" charset="-122"/>
                <a:cs typeface="Source Sans 3" pitchFamily="34" charset="-120"/>
              </a:rPr>
              <a:t>ROC-AUC: 94.09%</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98086" y="694829"/>
            <a:ext cx="10795524" cy="430808"/>
          </a:xfrm>
          <a:prstGeom prst="rect">
            <a:avLst/>
          </a:prstGeom>
          <a:noFill/>
          <a:ln/>
        </p:spPr>
        <p:txBody>
          <a:bodyPr wrap="none" lIns="0" tIns="0" rIns="0" bIns="0" rtlCol="0" anchor="t"/>
          <a:lstStyle/>
          <a:p>
            <a:pPr algn="l" indent="0" marL="0">
              <a:lnSpc>
                <a:spcPct val="104000"/>
              </a:lnSpc>
              <a:buNone/>
            </a:pPr>
            <a:r>
              <a:rPr lang="en-US" sz="2700" spc="-54" kern="0" dirty="0">
                <a:solidFill>
                  <a:srgbClr val="000000"/>
                </a:solidFill>
                <a:latin typeface="Source Serif 4 SemiBold" pitchFamily="34" charset="0"/>
                <a:ea typeface="Source Serif 4 SemiBold" pitchFamily="34" charset="-122"/>
                <a:cs typeface="Source Serif 4 SemiBold" pitchFamily="34" charset="-120"/>
              </a:rPr>
              <a:t>Performance Evaluation</a:t>
            </a:r>
            <a:endParaRPr lang="en-US" sz="2700" dirty="0"/>
          </a:p>
        </p:txBody>
      </p:sp>
      <p:sp>
        <p:nvSpPr>
          <p:cNvPr id="3" name="Text 1"/>
          <p:cNvSpPr/>
          <p:nvPr/>
        </p:nvSpPr>
        <p:spPr>
          <a:xfrm>
            <a:off x="698086" y="1168598"/>
            <a:ext cx="10795524" cy="258465"/>
          </a:xfrm>
          <a:prstGeom prst="rect">
            <a:avLst/>
          </a:prstGeom>
          <a:noFill/>
          <a:ln/>
        </p:spPr>
        <p:txBody>
          <a:bodyPr wrap="none" lIns="0" tIns="0" rIns="0" bIns="0" rtlCol="0" anchor="t"/>
          <a:lstStyle/>
          <a:p>
            <a:pPr algn="l" indent="0" marL="0">
              <a:lnSpc>
                <a:spcPct val="104000"/>
              </a:lnSpc>
              <a:buNone/>
            </a:pPr>
            <a:r>
              <a:rPr lang="en-US" sz="1600" spc="-33" kern="0" dirty="0">
                <a:solidFill>
                  <a:srgbClr val="000000"/>
                </a:solidFill>
                <a:latin typeface="Source Serif 4 SemiBold" pitchFamily="34" charset="0"/>
                <a:ea typeface="Source Serif 4 SemiBold" pitchFamily="34" charset="-122"/>
                <a:cs typeface="Source Serif 4 SemiBold" pitchFamily="34" charset="-120"/>
              </a:rPr>
              <a:t>Evaluation Metrics</a:t>
            </a:r>
            <a:endParaRPr lang="en-US" sz="16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588393"/>
            <a:ext cx="2618218" cy="1220192"/>
          </a:xfrm>
          <a:prstGeom prst="rect">
            <a:avLst/>
          </a:prstGeom>
        </p:spPr>
      </p:pic>
      <p:sp>
        <p:nvSpPr>
          <p:cNvPr id="5" name="Text 2"/>
          <p:cNvSpPr/>
          <p:nvPr/>
        </p:nvSpPr>
        <p:spPr>
          <a:xfrm>
            <a:off x="939776" y="1753890"/>
            <a:ext cx="2211035"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Accuracy</a:t>
            </a:r>
            <a:endParaRPr lang="en-US" sz="1350" dirty="0"/>
          </a:p>
        </p:txBody>
      </p:sp>
      <p:sp>
        <p:nvSpPr>
          <p:cNvPr id="6" name="Text 3"/>
          <p:cNvSpPr/>
          <p:nvPr/>
        </p:nvSpPr>
        <p:spPr>
          <a:xfrm>
            <a:off x="939776" y="2033786"/>
            <a:ext cx="2211035" cy="609302"/>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Measures the proportion of correctly classified benign and phishing webpages.</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3854" y="1588393"/>
            <a:ext cx="2618218" cy="1220192"/>
          </a:xfrm>
          <a:prstGeom prst="rect">
            <a:avLst/>
          </a:prstGeom>
        </p:spPr>
      </p:pic>
      <p:sp>
        <p:nvSpPr>
          <p:cNvPr id="8" name="Text 4"/>
          <p:cNvSpPr/>
          <p:nvPr/>
        </p:nvSpPr>
        <p:spPr>
          <a:xfrm>
            <a:off x="3665545" y="1753890"/>
            <a:ext cx="2211035"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Precision</a:t>
            </a:r>
            <a:endParaRPr lang="en-US" sz="1350" dirty="0"/>
          </a:p>
        </p:txBody>
      </p:sp>
      <p:sp>
        <p:nvSpPr>
          <p:cNvPr id="9" name="Text 5"/>
          <p:cNvSpPr/>
          <p:nvPr/>
        </p:nvSpPr>
        <p:spPr>
          <a:xfrm>
            <a:off x="3665545" y="2033786"/>
            <a:ext cx="2211035" cy="609302"/>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Measures how many webpages predicted as phishing are actually phishing.</a:t>
            </a:r>
            <a:endParaRPr lang="en-US" sz="11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49623" y="1588393"/>
            <a:ext cx="2618218" cy="1220192"/>
          </a:xfrm>
          <a:prstGeom prst="rect">
            <a:avLst/>
          </a:prstGeom>
        </p:spPr>
      </p:pic>
      <p:sp>
        <p:nvSpPr>
          <p:cNvPr id="11" name="Text 6"/>
          <p:cNvSpPr/>
          <p:nvPr/>
        </p:nvSpPr>
        <p:spPr>
          <a:xfrm>
            <a:off x="6391314" y="1753890"/>
            <a:ext cx="2211035"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Recall</a:t>
            </a:r>
            <a:endParaRPr lang="en-US" sz="1350" dirty="0"/>
          </a:p>
        </p:txBody>
      </p:sp>
      <p:sp>
        <p:nvSpPr>
          <p:cNvPr id="12" name="Text 7"/>
          <p:cNvSpPr/>
          <p:nvPr/>
        </p:nvSpPr>
        <p:spPr>
          <a:xfrm>
            <a:off x="6391314" y="2033786"/>
            <a:ext cx="2211035" cy="406202"/>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Measures how many actual phishing webpages are correctly detected.</a:t>
            </a:r>
            <a:endParaRPr lang="en-US" sz="11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75391" y="1588393"/>
            <a:ext cx="2618218" cy="1220192"/>
          </a:xfrm>
          <a:prstGeom prst="rect">
            <a:avLst/>
          </a:prstGeom>
        </p:spPr>
      </p:pic>
      <p:sp>
        <p:nvSpPr>
          <p:cNvPr id="14" name="Text 8"/>
          <p:cNvSpPr/>
          <p:nvPr/>
        </p:nvSpPr>
        <p:spPr>
          <a:xfrm>
            <a:off x="9117082" y="1753890"/>
            <a:ext cx="2211035"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F1-Score</a:t>
            </a:r>
            <a:endParaRPr lang="en-US" sz="1350" dirty="0"/>
          </a:p>
        </p:txBody>
      </p:sp>
      <p:sp>
        <p:nvSpPr>
          <p:cNvPr id="15" name="Text 9"/>
          <p:cNvSpPr/>
          <p:nvPr/>
        </p:nvSpPr>
        <p:spPr>
          <a:xfrm>
            <a:off x="9117082" y="2033786"/>
            <a:ext cx="2211035" cy="406202"/>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Provides a balance between precision and recall.</a:t>
            </a:r>
            <a:endParaRPr lang="en-US" sz="11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8086" y="2916138"/>
            <a:ext cx="2618218" cy="1423293"/>
          </a:xfrm>
          <a:prstGeom prst="rect">
            <a:avLst/>
          </a:prstGeom>
        </p:spPr>
      </p:pic>
      <p:sp>
        <p:nvSpPr>
          <p:cNvPr id="17" name="Text 10"/>
          <p:cNvSpPr/>
          <p:nvPr/>
        </p:nvSpPr>
        <p:spPr>
          <a:xfrm>
            <a:off x="939776" y="3081635"/>
            <a:ext cx="2211035"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ROC-AUC</a:t>
            </a:r>
            <a:endParaRPr lang="en-US" sz="1350" dirty="0"/>
          </a:p>
        </p:txBody>
      </p:sp>
      <p:sp>
        <p:nvSpPr>
          <p:cNvPr id="18" name="Text 11"/>
          <p:cNvSpPr/>
          <p:nvPr/>
        </p:nvSpPr>
        <p:spPr>
          <a:xfrm>
            <a:off x="939776" y="3361531"/>
            <a:ext cx="2211035" cy="812403"/>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Measures the model's ability to distinguish phishing from benign webpages across classification thresholds.</a:t>
            </a:r>
            <a:endParaRPr lang="en-US" sz="115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23854" y="2916138"/>
            <a:ext cx="2618218" cy="1423293"/>
          </a:xfrm>
          <a:prstGeom prst="rect">
            <a:avLst/>
          </a:prstGeom>
        </p:spPr>
      </p:pic>
      <p:sp>
        <p:nvSpPr>
          <p:cNvPr id="20" name="Text 12"/>
          <p:cNvSpPr/>
          <p:nvPr/>
        </p:nvSpPr>
        <p:spPr>
          <a:xfrm>
            <a:off x="3665545" y="3081635"/>
            <a:ext cx="2211035" cy="215404"/>
          </a:xfrm>
          <a:prstGeom prst="rect">
            <a:avLst/>
          </a:prstGeom>
          <a:noFill/>
          <a:ln/>
        </p:spPr>
        <p:txBody>
          <a:bodyPr wrap="none" lIns="0" tIns="0" rIns="0" bIns="0" rtlCol="0" anchor="t"/>
          <a:lstStyle/>
          <a:p>
            <a:pPr algn="l" indent="0" marL="0">
              <a:lnSpc>
                <a:spcPct val="104000"/>
              </a:lnSpc>
              <a:buNone/>
            </a:pPr>
            <a:r>
              <a:rPr lang="en-US" sz="1350" spc="-27" kern="0" dirty="0">
                <a:solidFill>
                  <a:srgbClr val="272525"/>
                </a:solidFill>
                <a:latin typeface="Source Serif 4 SemiBold" pitchFamily="34" charset="0"/>
                <a:ea typeface="Source Serif 4 SemiBold" pitchFamily="34" charset="-122"/>
                <a:cs typeface="Source Serif 4 SemiBold" pitchFamily="34" charset="-120"/>
              </a:rPr>
              <a:t>Confusion Matrix</a:t>
            </a:r>
            <a:endParaRPr lang="en-US" sz="1350" dirty="0"/>
          </a:p>
        </p:txBody>
      </p:sp>
      <p:sp>
        <p:nvSpPr>
          <p:cNvPr id="21" name="Text 13"/>
          <p:cNvSpPr/>
          <p:nvPr/>
        </p:nvSpPr>
        <p:spPr>
          <a:xfrm>
            <a:off x="3665545" y="3361531"/>
            <a:ext cx="2211035" cy="609302"/>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Shows correct and incorrect classifications for benign and phishing classes.</a:t>
            </a:r>
            <a:endParaRPr lang="en-US" sz="1150" dirty="0"/>
          </a:p>
        </p:txBody>
      </p:sp>
      <p:sp>
        <p:nvSpPr>
          <p:cNvPr id="22" name="Text 14"/>
          <p:cNvSpPr/>
          <p:nvPr/>
        </p:nvSpPr>
        <p:spPr>
          <a:xfrm>
            <a:off x="698086" y="4500761"/>
            <a:ext cx="10795524" cy="258465"/>
          </a:xfrm>
          <a:prstGeom prst="rect">
            <a:avLst/>
          </a:prstGeom>
          <a:noFill/>
          <a:ln/>
        </p:spPr>
        <p:txBody>
          <a:bodyPr wrap="none" lIns="0" tIns="0" rIns="0" bIns="0" rtlCol="0" anchor="t"/>
          <a:lstStyle/>
          <a:p>
            <a:pPr algn="l" indent="0" marL="0">
              <a:lnSpc>
                <a:spcPct val="104000"/>
              </a:lnSpc>
              <a:buNone/>
            </a:pPr>
            <a:r>
              <a:rPr lang="en-US" sz="1600" spc="-33" kern="0" dirty="0">
                <a:solidFill>
                  <a:srgbClr val="000000"/>
                </a:solidFill>
                <a:latin typeface="Source Serif 4 SemiBold" pitchFamily="34" charset="0"/>
                <a:ea typeface="Source Serif 4 SemiBold" pitchFamily="34" charset="-122"/>
                <a:cs typeface="Source Serif 4 SemiBold" pitchFamily="34" charset="-120"/>
              </a:rPr>
              <a:t>Key Observations</a:t>
            </a:r>
            <a:endParaRPr lang="en-US" sz="1600" dirty="0"/>
          </a:p>
        </p:txBody>
      </p:sp>
      <p:sp>
        <p:nvSpPr>
          <p:cNvPr id="23" name="Shape 15"/>
          <p:cNvSpPr/>
          <p:nvPr/>
        </p:nvSpPr>
        <p:spPr>
          <a:xfrm>
            <a:off x="698086" y="5001121"/>
            <a:ext cx="73222" cy="73223"/>
          </a:xfrm>
          <a:prstGeom prst="ellipse">
            <a:avLst/>
          </a:prstGeom>
          <a:solidFill>
            <a:srgbClr val="BE49DF"/>
          </a:solidFill>
          <a:ln/>
        </p:spPr>
      </p:sp>
      <p:sp>
        <p:nvSpPr>
          <p:cNvPr id="24" name="Text 16"/>
          <p:cNvSpPr/>
          <p:nvPr/>
        </p:nvSpPr>
        <p:spPr>
          <a:xfrm>
            <a:off x="878858" y="4920555"/>
            <a:ext cx="5149721" cy="203101"/>
          </a:xfrm>
          <a:prstGeom prst="rect">
            <a:avLst/>
          </a:prstGeom>
          <a:noFill/>
          <a:ln/>
        </p:spPr>
        <p:txBody>
          <a:bodyPr wrap="none" lIns="0" tIns="0" rIns="0" bIns="0" rtlCol="0" anchor="t"/>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Optimized XGBoost baseline: 88.58% Accuracy and 95.73% ROC-AUC on the D1 test set.</a:t>
            </a:r>
            <a:endParaRPr lang="en-US" sz="1150" dirty="0"/>
          </a:p>
        </p:txBody>
      </p:sp>
      <p:sp>
        <p:nvSpPr>
          <p:cNvPr id="25" name="Shape 17"/>
          <p:cNvSpPr/>
          <p:nvPr/>
        </p:nvSpPr>
        <p:spPr>
          <a:xfrm>
            <a:off x="6163017" y="5001121"/>
            <a:ext cx="73222" cy="73223"/>
          </a:xfrm>
          <a:prstGeom prst="ellipse">
            <a:avLst/>
          </a:prstGeom>
          <a:solidFill>
            <a:srgbClr val="BE49DF"/>
          </a:solidFill>
          <a:ln/>
        </p:spPr>
      </p:sp>
      <p:sp>
        <p:nvSpPr>
          <p:cNvPr id="26" name="Text 18"/>
          <p:cNvSpPr/>
          <p:nvPr/>
        </p:nvSpPr>
        <p:spPr>
          <a:xfrm>
            <a:off x="6343789" y="4920555"/>
            <a:ext cx="5149820" cy="203101"/>
          </a:xfrm>
          <a:prstGeom prst="rect">
            <a:avLst/>
          </a:prstGeom>
          <a:noFill/>
          <a:ln/>
        </p:spPr>
        <p:txBody>
          <a:bodyPr wrap="none" lIns="0" tIns="0" rIns="0" bIns="0" rtlCol="0" anchor="t"/>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PhishXpert: 85.68% Accuracy, 84.06% F1-Score and 93.73% ROC-AUC on the D1 test set.</a:t>
            </a:r>
            <a:endParaRPr lang="en-US" sz="1150" dirty="0"/>
          </a:p>
        </p:txBody>
      </p:sp>
      <p:sp>
        <p:nvSpPr>
          <p:cNvPr id="27" name="Shape 19"/>
          <p:cNvSpPr/>
          <p:nvPr/>
        </p:nvSpPr>
        <p:spPr>
          <a:xfrm>
            <a:off x="698086" y="5419328"/>
            <a:ext cx="73222" cy="73223"/>
          </a:xfrm>
          <a:prstGeom prst="ellipse">
            <a:avLst/>
          </a:prstGeom>
          <a:solidFill>
            <a:srgbClr val="BE49DF"/>
          </a:solidFill>
          <a:ln/>
        </p:spPr>
      </p:sp>
      <p:sp>
        <p:nvSpPr>
          <p:cNvPr id="28" name="Text 20"/>
          <p:cNvSpPr/>
          <p:nvPr/>
        </p:nvSpPr>
        <p:spPr>
          <a:xfrm>
            <a:off x="878858" y="5338763"/>
            <a:ext cx="5149721" cy="203101"/>
          </a:xfrm>
          <a:prstGeom prst="rect">
            <a:avLst/>
          </a:prstGeom>
          <a:noFill/>
          <a:ln/>
        </p:spPr>
        <p:txBody>
          <a:bodyPr wrap="none" lIns="0" tIns="0" rIns="0" bIns="0" rtlCol="0" anchor="t"/>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CompPhish random holdout: 87.17% Accuracy and 95.13% ROC-AUC.</a:t>
            </a:r>
            <a:endParaRPr lang="en-US" sz="1150" dirty="0"/>
          </a:p>
        </p:txBody>
      </p:sp>
      <p:sp>
        <p:nvSpPr>
          <p:cNvPr id="29" name="Shape 21"/>
          <p:cNvSpPr/>
          <p:nvPr/>
        </p:nvSpPr>
        <p:spPr>
          <a:xfrm>
            <a:off x="6163017" y="5419328"/>
            <a:ext cx="73222" cy="73223"/>
          </a:xfrm>
          <a:prstGeom prst="ellipse">
            <a:avLst/>
          </a:prstGeom>
          <a:solidFill>
            <a:srgbClr val="BE49DF"/>
          </a:solidFill>
          <a:ln/>
        </p:spPr>
      </p:sp>
      <p:sp>
        <p:nvSpPr>
          <p:cNvPr id="30" name="Text 22"/>
          <p:cNvSpPr/>
          <p:nvPr/>
        </p:nvSpPr>
        <p:spPr>
          <a:xfrm>
            <a:off x="6343789" y="5338763"/>
            <a:ext cx="5149820" cy="203101"/>
          </a:xfrm>
          <a:prstGeom prst="rect">
            <a:avLst/>
          </a:prstGeom>
          <a:noFill/>
          <a:ln/>
        </p:spPr>
        <p:txBody>
          <a:bodyPr wrap="none" lIns="0" tIns="0" rIns="0" bIns="0" rtlCol="0" anchor="t"/>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CompPhish domain-unseen evaluation: 84.56% Accuracy and 94.09% ROC-AUC.</a:t>
            </a:r>
            <a:endParaRPr lang="en-US" sz="1150" dirty="0"/>
          </a:p>
        </p:txBody>
      </p:sp>
      <p:sp>
        <p:nvSpPr>
          <p:cNvPr id="31" name="Shape 23"/>
          <p:cNvSpPr/>
          <p:nvPr/>
        </p:nvSpPr>
        <p:spPr>
          <a:xfrm>
            <a:off x="698086" y="5837535"/>
            <a:ext cx="73222" cy="73223"/>
          </a:xfrm>
          <a:prstGeom prst="ellipse">
            <a:avLst/>
          </a:prstGeom>
          <a:solidFill>
            <a:srgbClr val="BE49DF"/>
          </a:solidFill>
          <a:ln/>
        </p:spPr>
      </p:sp>
      <p:sp>
        <p:nvSpPr>
          <p:cNvPr id="32" name="Text 24"/>
          <p:cNvSpPr/>
          <p:nvPr/>
        </p:nvSpPr>
        <p:spPr>
          <a:xfrm>
            <a:off x="878858" y="5756970"/>
            <a:ext cx="5149721" cy="406202"/>
          </a:xfrm>
          <a:prstGeom prst="rect">
            <a:avLst/>
          </a:prstGeom>
          <a:noFill/>
          <a:ln/>
        </p:spPr>
        <p:txBody>
          <a:bodyPr wrap="square" lIns="0" tIns="0" rIns="0" bIns="0" rtlCol="0" anchor="t">
            <a:normAutofit/>
          </a:bodyPr>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PhishXpert combines URL–HTML neural evidence fusion with domain verification, webpage evidence, RAG and Gemini-based explanations.</a:t>
            </a:r>
            <a:endParaRPr lang="en-US" sz="1150" dirty="0"/>
          </a:p>
        </p:txBody>
      </p:sp>
      <p:sp>
        <p:nvSpPr>
          <p:cNvPr id="33" name="Shape 25"/>
          <p:cNvSpPr/>
          <p:nvPr/>
        </p:nvSpPr>
        <p:spPr>
          <a:xfrm>
            <a:off x="6163017" y="5837535"/>
            <a:ext cx="73222" cy="73223"/>
          </a:xfrm>
          <a:prstGeom prst="ellipse">
            <a:avLst/>
          </a:prstGeom>
          <a:solidFill>
            <a:srgbClr val="BE49DF"/>
          </a:solidFill>
          <a:ln/>
        </p:spPr>
      </p:sp>
      <p:sp>
        <p:nvSpPr>
          <p:cNvPr id="34" name="Text 26"/>
          <p:cNvSpPr/>
          <p:nvPr/>
        </p:nvSpPr>
        <p:spPr>
          <a:xfrm>
            <a:off x="6343789" y="5756970"/>
            <a:ext cx="5149820" cy="203101"/>
          </a:xfrm>
          <a:prstGeom prst="rect">
            <a:avLst/>
          </a:prstGeom>
          <a:noFill/>
          <a:ln/>
        </p:spPr>
        <p:txBody>
          <a:bodyPr wrap="none" lIns="0" tIns="0" rIns="0" bIns="0" rtlCol="0" anchor="t"/>
          <a:lstStyle/>
          <a:p>
            <a:pPr algn="l" indent="0" marL="0">
              <a:lnSpc>
                <a:spcPct val="116000"/>
              </a:lnSpc>
              <a:buNone/>
            </a:pPr>
            <a:r>
              <a:rPr lang="en-US" sz="1150" spc="-23" kern="0" dirty="0">
                <a:solidFill>
                  <a:srgbClr val="272525"/>
                </a:solidFill>
                <a:latin typeface="Source Sans 3" pitchFamily="34" charset="0"/>
                <a:ea typeface="Source Sans 3" pitchFamily="34" charset="-122"/>
                <a:cs typeface="Source Sans 3" pitchFamily="34" charset="-120"/>
              </a:rPr>
              <a:t>The system is integrated into a working FastAPI + React web application.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2026-09-20T14:20:38Z</dcterms:created>
  <dcterms:modified xsi:type="dcterms:W3CDTF">2026-09-20T14:20:38Z</dcterms:modified>
</cp:coreProperties>
</file>