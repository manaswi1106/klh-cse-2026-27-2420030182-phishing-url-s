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Source Sans 3"/>
      <p:regular r:id="rId201314"/>
    </p:embeddedFont>
    <p:embeddedFont>
      <p:font typeface="Source Sans 3 SemiBold"/>
      <p:regular r:id="rId201315"/>
    </p:embeddedFont>
    <p:embeddedFont>
      <p:font typeface="Source Sans 3 Bold"/>
      <p:regular r:id="rId201316"/>
    </p:embeddedFont>
    <p:embeddedFont>
      <p:font typeface="Source Sans 3 Black"/>
      <p:regular r:id="rId201317"/>
    </p:embeddedFont>
    <p:embeddedFont>
      <p:font typeface="Source Serif 4"/>
      <p:regular r:id="rId201318"/>
    </p:embeddedFont>
    <p:embeddedFont>
      <p:font typeface="Source Serif 4 SemiBold"/>
      <p:regular r:id="rId201319"/>
    </p:embeddedFont>
    <p:embeddedFont>
      <p:font typeface="Source Serif 4 Bold"/>
      <p:regular r:id="rId201320"/>
    </p:embeddedFont>
    <p:embeddedFont>
      <p:font typeface="Source Serif 4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jpeg"/><Relationship Id="rId4" Type="http://schemas.openxmlformats.org/officeDocument/2006/relationships/image" Target="../media/image-1002-2.png"/><Relationship Id="rId6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Image 3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86" y="746820"/>
            <a:ext cx="1501142" cy="77936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98086" y="1797943"/>
            <a:ext cx="6223638" cy="1677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spc="-70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AI-Powered Detection of Phishing Websites Using URL and Webpage Features</a:t>
            </a:r>
            <a:endParaRPr lang="en-US" sz="3500" dirty="0"/>
          </a:p>
        </p:txBody>
      </p:sp>
      <p:sp>
        <p:nvSpPr>
          <p:cNvPr id="5" name="Text 1"/>
          <p:cNvSpPr/>
          <p:nvPr/>
        </p:nvSpPr>
        <p:spPr>
          <a:xfrm>
            <a:off x="698086" y="3747294"/>
            <a:ext cx="6223638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Research proposal and implementation plan: a resilient, explainable, incremental learning framework that detects visually deceptive and content-driven phishing attacks while providing per-decision explanations and operational dashboards.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698086" y="4909939"/>
            <a:ext cx="6223638" cy="335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spc="-42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Team Members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698086" y="5517158"/>
            <a:ext cx="6223638" cy="593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M. Aruna Grace - 2420030100</a:t>
            </a:r>
            <a:endParaRPr lang="en-US" sz="14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G. Manaswi - 2420030182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517452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Problem Statement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2403277"/>
            <a:ext cx="6223638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Phishing sites evolve quickly and exploit visual deception (homographs, punycode, zero-width characters), domain perturbations (bit‑squatting, combo‑squatting), and content tricks to bypass static detectors and blacklists. Existing systems either stale out or lack explainability and real‑time adaptability.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5269971" y="4223544"/>
            <a:ext cx="6223638" cy="1116905"/>
          </a:xfrm>
          <a:prstGeom prst="roundRect">
            <a:avLst>
              <a:gd name="adj" fmla="val 7501"/>
            </a:avLst>
          </a:prstGeom>
          <a:solidFill>
            <a:srgbClr val="F0D4F7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396" y="4514155"/>
            <a:ext cx="249330" cy="1994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18151" y="4472781"/>
            <a:ext cx="537603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Goal: detect new and visually deceptive phishing attacks with explainable, adaptive ML.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10009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Objectives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1695648"/>
            <a:ext cx="3465525" cy="2432645"/>
          </a:xfrm>
          <a:prstGeom prst="roundRect">
            <a:avLst>
              <a:gd name="adj" fmla="val 344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D6B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2910" y="1920478"/>
            <a:ext cx="30158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AI-Powered Detection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22910" y="2333427"/>
            <a:ext cx="3015877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 Develop a system for detecting phishing and legitimate websites by analyzing URL, HTML, and webpage text features.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363035" y="1695648"/>
            <a:ext cx="3465525" cy="2432645"/>
          </a:xfrm>
          <a:prstGeom prst="roundRect">
            <a:avLst>
              <a:gd name="adj" fmla="val 344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D6B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87859" y="1920478"/>
            <a:ext cx="3015877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Enhanced Feature Engineering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87859" y="2626717"/>
            <a:ext cx="3015877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 Extract important URL, HTML, hyperlink, and text features. Introduce new features such as URL entropy and suspicious keyword score.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27985" y="1695648"/>
            <a:ext cx="3465624" cy="2432645"/>
          </a:xfrm>
          <a:prstGeom prst="roundRect">
            <a:avLst>
              <a:gd name="adj" fmla="val 344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D6BA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2809" y="1920478"/>
            <a:ext cx="30159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Optimized ML Model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2809" y="2333427"/>
            <a:ext cx="3015976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 Train and compare XGBoost, CatBoost, and LightGBM models. Apply feature selection and hyperparameter optimization.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98086" y="4327723"/>
            <a:ext cx="5298049" cy="1820168"/>
          </a:xfrm>
          <a:prstGeom prst="roundRect">
            <a:avLst>
              <a:gd name="adj" fmla="val 4603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D6BA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2910" y="4552553"/>
            <a:ext cx="484840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Text Analysis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22910" y="4965502"/>
            <a:ext cx="4848401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 Clean and preprocess webpage textual content. Use TF-IDF for identifying suspicious text patterns.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195560" y="4327723"/>
            <a:ext cx="5298049" cy="1820168"/>
          </a:xfrm>
          <a:prstGeom prst="roundRect">
            <a:avLst>
              <a:gd name="adj" fmla="val 4603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D6BA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0384" y="4552553"/>
            <a:ext cx="484840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Explainability &amp; Accuracy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20384" y="4965502"/>
            <a:ext cx="4848401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 Provide prediction explanations using SHAP or LIME. Improve and compare accuracy with the existing research baseline.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7056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spc="-52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Related Work: Comparative Analysis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698086" y="1293019"/>
            <a:ext cx="10795524" cy="4987925"/>
          </a:xfrm>
          <a:prstGeom prst="roundRect">
            <a:avLst>
              <a:gd name="adj" fmla="val 1470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8086" y="1707753"/>
            <a:ext cx="10795524" cy="1090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98086" y="2747367"/>
            <a:ext cx="10795524" cy="1090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98086" y="3577630"/>
            <a:ext cx="10795524" cy="1090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98086" y="4407892"/>
            <a:ext cx="10795524" cy="1090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8086" y="5447506"/>
            <a:ext cx="10795524" cy="1090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782817" y="1293019"/>
            <a:ext cx="10909" cy="49879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801968" y="1293019"/>
            <a:ext cx="10909" cy="49879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174130" y="1293019"/>
            <a:ext cx="10909" cy="49879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330695" y="1293019"/>
            <a:ext cx="10909" cy="49879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79056" y="1397298"/>
            <a:ext cx="1335649" cy="2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-27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S.No.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60513" y="1397298"/>
            <a:ext cx="3273343" cy="2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-27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Research Paper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79664" y="1397298"/>
            <a:ext cx="2626354" cy="2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-27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Models Used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51826" y="1397298"/>
            <a:ext cx="2410757" cy="2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-27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Outcomes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508391" y="1397298"/>
            <a:ext cx="2413932" cy="2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-27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Main Drawbacks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79056" y="1808857"/>
            <a:ext cx="1335649" cy="2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60513" y="1808857"/>
            <a:ext cx="2663758" cy="628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Look Before You Leap: Detecting Phishing Web Pages by Exploiting Raw URL and HTML Characteristics (WebPhish)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79664" y="1808857"/>
            <a:ext cx="2626354" cy="2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CNN-based deep learning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51826" y="1808857"/>
            <a:ext cx="1801172" cy="628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Automatically learns phishing patterns from raw URL and HTML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508391" y="1808857"/>
            <a:ext cx="1804347" cy="8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explainable AI; no WHOIS/SSL features; no ensemble learning; limited interpretability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79056" y="2848471"/>
            <a:ext cx="1335649" cy="2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960513" y="2848471"/>
            <a:ext cx="2663758" cy="628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Effective Detection Approach for Phishing Websites Using URL and HTML Features (Scientific Reports, Nature)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79664" y="2848471"/>
            <a:ext cx="2016769" cy="628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XGBoost, Random Forest, Logistic Regression, Naïve Bayes, Decision Tree, ensemble methods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51826" y="2848471"/>
            <a:ext cx="1801172" cy="628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Demonstrates combining URL and HTML features improves detection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508391" y="2848471"/>
            <a:ext cx="1804347" cy="628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explainable AI; handcrafted features; no browser deployment; no online learning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79056" y="3678734"/>
            <a:ext cx="1335649" cy="2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960513" y="3678734"/>
            <a:ext cx="2663758" cy="418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Sophisticated Framework for the Accurate Detection of Phishing Websites (2024)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79664" y="3678734"/>
            <a:ext cx="2016769" cy="628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Stacking ensemble, feature selection, cross-validation, deep learning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51826" y="3678734"/>
            <a:ext cx="1801172" cy="628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robust framework combining feature selection and multiple learning approaches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508391" y="3678734"/>
            <a:ext cx="1804347" cy="628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explainability; no complete deployment; depends on feature engineering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79056" y="4508996"/>
            <a:ext cx="1335649" cy="2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960513" y="4508996"/>
            <a:ext cx="2663758" cy="628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PhiUSIIL: A Diverse Security Profile Empowered Phishing URL Detection Framework Based on Similarity Index and Incremental Learning (2024)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79664" y="4508996"/>
            <a:ext cx="2016769" cy="418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Incremental learning, URL similarity index (USI)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351826" y="4508996"/>
            <a:ext cx="1801172" cy="628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Detects diverse phishing URL attacks using similarity analysis and incremental learning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508391" y="4508996"/>
            <a:ext cx="1804347" cy="8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Near-perfect accuracy makes improvement difficult; no explainable AI; no full web application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79056" y="5548610"/>
            <a:ext cx="1335649" cy="2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960513" y="5548610"/>
            <a:ext cx="2663758" cy="418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High-Accuracy Phishing Website Detection Method Based on Machine Learning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979664" y="5548610"/>
            <a:ext cx="2016769" cy="628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Logistic Regression, KNN, Naïve Bayes, Random Forest, SVM, XGBoost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351826" y="5548610"/>
            <a:ext cx="1801172" cy="628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Compares several ML algorithms and identifies high-performing models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508391" y="5548610"/>
            <a:ext cx="1804347" cy="628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Limited explainability; mainly focuses on classification performance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3860"/>
            <a:ext cx="10795524" cy="48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spc="-61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Related Work: Additional Research (Continued)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698086" y="1323280"/>
            <a:ext cx="10795524" cy="4970859"/>
          </a:xfrm>
          <a:prstGeom prst="roundRect">
            <a:avLst>
              <a:gd name="adj" fmla="val 139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8086" y="1702891"/>
            <a:ext cx="10795524" cy="103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98086" y="2465884"/>
            <a:ext cx="10795524" cy="103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98086" y="3422154"/>
            <a:ext cx="10795524" cy="103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98086" y="4378424"/>
            <a:ext cx="10795524" cy="103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8086" y="5334695"/>
            <a:ext cx="10795524" cy="103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782817" y="1323280"/>
            <a:ext cx="10325" cy="497085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17664" y="1323280"/>
            <a:ext cx="10325" cy="497085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389826" y="1323280"/>
            <a:ext cx="10325" cy="497085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330695" y="1323280"/>
            <a:ext cx="10325" cy="497085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69631" y="1418034"/>
            <a:ext cx="1354500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b="1" spc="-26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S.No.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51088" y="1418034"/>
            <a:ext cx="3507890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b="1" spc="-26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Research Paper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85935" y="1418034"/>
            <a:ext cx="264520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b="1" spc="-26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Models Used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558097" y="1418034"/>
            <a:ext cx="2213912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b="1" spc="-26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Outcomes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498965" y="1418034"/>
            <a:ext cx="2432783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b="1" spc="-26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Main Drawbacks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9631" y="1794470"/>
            <a:ext cx="1354500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51088" y="1794470"/>
            <a:ext cx="2898306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Phishing Website Detection Based on Deep Convolutional Neural Network and Random Forest Ensemble Learning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85935" y="1794470"/>
            <a:ext cx="264520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Deep CNN, Random Forest Ensemble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558097" y="1794470"/>
            <a:ext cx="1604327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Combines deep learning and ensemble learning to improve phishing website classification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498965" y="1794470"/>
            <a:ext cx="1823198" cy="386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Higher computational complexity; limited explainability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9631" y="2557462"/>
            <a:ext cx="1354500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51088" y="2557462"/>
            <a:ext cx="2898306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Improved Phishing Attack Detection with Machine Learning: A Comprehensive Evaluation of Classifiers and Features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85935" y="2557462"/>
            <a:ext cx="2035620" cy="386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KNN, SVM, Naïve Bayes, Decision Tree, MLP, SGD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58097" y="2557462"/>
            <a:ext cx="1604327" cy="773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Compares different classifiers and feature groups for phishing detection effectiveness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498965" y="2557462"/>
            <a:ext cx="1823198" cy="386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Limited dataset size; limited advanced explainability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9631" y="3513733"/>
            <a:ext cx="1354500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51088" y="3513733"/>
            <a:ext cx="2898306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GramBeddings: A New Neural Network for URL-Based Identification of Phishing Web Pages Through N-Gram Embeddings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85935" y="3513733"/>
            <a:ext cx="2035620" cy="386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Deep Neural Network, N-Gram Embeddings, Attention Mechanism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558097" y="3513733"/>
            <a:ext cx="1604327" cy="773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Learns URL patterns automatically using embeddings and neural networks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498965" y="3513733"/>
            <a:ext cx="1823198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Mainly URL-focused; lacks HTML/webpage content integration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9631" y="4470003"/>
            <a:ext cx="1354500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951088" y="4470003"/>
            <a:ext cx="2898306" cy="386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Phishing URL Detection Generalisation Using Unsupervised Domain Adaptation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85935" y="4470003"/>
            <a:ext cx="2035620" cy="386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Unsupervised Domain Adaptation, Machine Learning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558097" y="4470003"/>
            <a:ext cx="1604327" cy="773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Improves understanding of phishing detection model performance across different datasets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498965" y="4470003"/>
            <a:ext cx="1823198" cy="386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Focuses on URL generalization; limited webpage/HTML features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69631" y="5426273"/>
            <a:ext cx="1354500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951088" y="5426273"/>
            <a:ext cx="2898306" cy="386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Machine Learning-Based Phishing Detection Approach Using URL and Website Features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85935" y="5426273"/>
            <a:ext cx="2035620" cy="386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Random Forest, SVM, Decision Tree, Gradient Boosting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558097" y="5426273"/>
            <a:ext cx="1604327" cy="773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Shows URL and website characteristics can effectively classify phishing and legitimate websites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498965" y="5426273"/>
            <a:ext cx="1823198" cy="386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Performance depends on feature selection; limited explainability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4838"/>
            <a:ext cx="10795524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spc="-46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Dataset Selection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98086" y="1002705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D1 Phishing Webpage Dataset Overview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605816" y="2223195"/>
            <a:ext cx="1533387" cy="31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spc="-49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45%</a:t>
            </a:r>
            <a:endParaRPr lang="en-US" sz="2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7545" y="1444030"/>
            <a:ext cx="1870028" cy="1870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8086" y="3423146"/>
            <a:ext cx="5349047" cy="18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Phishing Webpages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98086" y="3653135"/>
            <a:ext cx="534904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27,280 instances providing ample data for training on malicious patterns.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52293" y="2223195"/>
            <a:ext cx="1533387" cy="31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spc="-49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55%</a:t>
            </a:r>
            <a:endParaRPr lang="en-US" sz="2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022" y="1444030"/>
            <a:ext cx="1870028" cy="18700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44463" y="3423146"/>
            <a:ext cx="5349146" cy="18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Benign Webpages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144463" y="3653135"/>
            <a:ext cx="5349146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32,972 instances ensuring a balanced representation of legitimate sites.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98086" y="3902869"/>
            <a:ext cx="1140510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dataset comprises a total of 60,252 webpages, offering a comprehensive base for our analysis.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98086" y="4181872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Key Features Utilized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98086" y="4592042"/>
            <a:ext cx="5358770" cy="666750"/>
          </a:xfrm>
          <a:prstGeom prst="roundRect">
            <a:avLst>
              <a:gd name="adj" fmla="val 7854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BAD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35401" y="4729361"/>
            <a:ext cx="5084139" cy="18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URL Features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35401" y="4959350"/>
            <a:ext cx="508413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Analysis of character sequences and structural components within the URL.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134740" y="4592042"/>
            <a:ext cx="5358869" cy="666750"/>
          </a:xfrm>
          <a:prstGeom prst="roundRect">
            <a:avLst>
              <a:gd name="adj" fmla="val 7854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BAD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72056" y="4729361"/>
            <a:ext cx="5084238" cy="18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Webpage Text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272056" y="4959350"/>
            <a:ext cx="508423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Utilizing TF-IDF for identifying suspicious keywords and textual patterns.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98086" y="5336679"/>
            <a:ext cx="5358770" cy="666750"/>
          </a:xfrm>
          <a:prstGeom prst="roundRect">
            <a:avLst>
              <a:gd name="adj" fmla="val 7854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BAD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35401" y="5473998"/>
            <a:ext cx="5084139" cy="18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Hyperlink Features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835401" y="5703987"/>
            <a:ext cx="508413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Examining external and internal link structures for deceptive practices.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134740" y="5336679"/>
            <a:ext cx="5358869" cy="666750"/>
          </a:xfrm>
          <a:prstGeom prst="roundRect">
            <a:avLst>
              <a:gd name="adj" fmla="val 7854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BAD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72056" y="5473998"/>
            <a:ext cx="5084238" cy="18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Login Form Features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6272056" y="5703987"/>
            <a:ext cx="508423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Detecting characteristics often present in phishing login pages.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894780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Research Gap &amp; Value Proposition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3367286"/>
            <a:ext cx="6223638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gaps: (1) no robust explainability for analyst trust; (2) limited use of rendered webpage text/features; (3) lack of production-ready front-end/back-end integration. Our proposal closes these gaps by integrating SHAP/LIME, TF–IDF/text signals, UI + analytics, and incremental learners optimized for cost and stability.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489075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Enhancements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2474714"/>
            <a:ext cx="10795524" cy="2894112"/>
          </a:xfrm>
          <a:prstGeom prst="roundRect">
            <a:avLst>
              <a:gd name="adj" fmla="val 289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8086" y="3055441"/>
            <a:ext cx="10795524" cy="124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98086" y="3632994"/>
            <a:ext cx="10795524" cy="124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98086" y="4210546"/>
            <a:ext cx="10795524" cy="124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98086" y="4788098"/>
            <a:ext cx="10795524" cy="124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861000" y="2474714"/>
            <a:ext cx="12467" cy="289411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74130" y="2474714"/>
            <a:ext cx="12467" cy="289411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03860" y="2607072"/>
            <a:ext cx="236412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Feature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063600" y="2607072"/>
            <a:ext cx="451751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Existing System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376730" y="2607072"/>
            <a:ext cx="452069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Proposed System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03860" y="3184624"/>
            <a:ext cx="236412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Analysis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063600" y="3184624"/>
            <a:ext cx="451751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URL &amp; HTML analysis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376730" y="3184624"/>
            <a:ext cx="452069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URL + HTML + Webpage Text Analysis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03860" y="3762177"/>
            <a:ext cx="236412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063600" y="3762177"/>
            <a:ext cx="451751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Basic features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376730" y="3762177"/>
            <a:ext cx="452069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Entropy + Keywords + Brand Similarity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03860" y="4339729"/>
            <a:ext cx="236412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3063600" y="4339729"/>
            <a:ext cx="451751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XGBoost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376730" y="4339729"/>
            <a:ext cx="452069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Optimized ML + Ensemble Models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03860" y="4917281"/>
            <a:ext cx="236412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Explainability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3063600" y="4917281"/>
            <a:ext cx="451751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explanation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376730" y="4917281"/>
            <a:ext cx="452069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SHAP-based explanations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2417961"/>
            <a:ext cx="5154484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spc="-44" kern="0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Innovation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98086" y="2969320"/>
            <a:ext cx="5154484" cy="1027311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Combine 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URL, HTML, and webpage text analysis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stronger phishing detection.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Entropy, keyword, and brand similarity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features.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98086" y="4196060"/>
            <a:ext cx="5154484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spc="-44" kern="0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Novelty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98086" y="4747419"/>
            <a:ext cx="5154484" cy="708124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SHAP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explain each phishing prediction.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Show the main factors behind every result.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345476" y="2417961"/>
            <a:ext cx="5154484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spc="-44" kern="0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Creativity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345476" y="2969320"/>
            <a:ext cx="5154484" cy="708124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Display a 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confidence score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each check.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Offer an 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interactive dashboard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history and performance.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345476" y="3876873"/>
            <a:ext cx="5154484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spc="-44" kern="0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Feasibility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45476" y="4428232"/>
            <a:ext cx="5154484" cy="708124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 a simple interface for 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instant URL checks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Keep the workflow fast and easy to use.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205442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Clients &amp; Application Areas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940248"/>
            <a:ext cx="498661" cy="498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46077" y="2940248"/>
            <a:ext cx="452505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Banks &amp; Financial Institutions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46077" y="3353197"/>
            <a:ext cx="452505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 fake banking and payment websites.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0463" y="2940248"/>
            <a:ext cx="498661" cy="4986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68455" y="2940248"/>
            <a:ext cx="452515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E-commerce Companies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968455" y="3353197"/>
            <a:ext cx="452515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Identify fraudulent shopping and payment pages.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4071342"/>
            <a:ext cx="498661" cy="4986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46077" y="4071342"/>
            <a:ext cx="452505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Cybersecurity Organizations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446077" y="4484291"/>
            <a:ext cx="452505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Monitor and detect phishing threats.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0463" y="4071342"/>
            <a:ext cx="498661" cy="49867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68455" y="4071342"/>
            <a:ext cx="452515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Educational Institutions &amp; Students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968455" y="4484291"/>
            <a:ext cx="452515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 awareness and protection against phishing.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573385"/>
            <a:ext cx="917850" cy="4765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191320"/>
            <a:ext cx="10795524" cy="403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spc="-51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PROJECT PLAN</a:t>
            </a:r>
            <a:endParaRPr lang="en-US" sz="2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427" y="1842095"/>
            <a:ext cx="3425342" cy="375423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8086" y="5808464"/>
            <a:ext cx="10795524" cy="476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800"/>
              </a:spcAft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2026-08-26T06:51:22Z</dcterms:created>
  <dcterms:modified xsi:type="dcterms:W3CDTF">2026-08-26T06:51:22Z</dcterms:modified>
</cp:coreProperties>
</file>