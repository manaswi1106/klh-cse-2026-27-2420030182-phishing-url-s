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embeddedFontLst>
    <p:embeddedFont>
      <p:font typeface="Source Sans 3"/>
      <p:regular r:id="rId201314"/>
    </p:embeddedFont>
    <p:embeddedFont>
      <p:font typeface="Source Sans 3 Bold"/>
      <p:regular r:id="rId201315"/>
    </p:embeddedFont>
    <p:embeddedFont>
      <p:font typeface="Source Serif 4 SemiBold"/>
      <p:regular r:id="rId201316"/>
    </p:embeddedFont>
    <p:embeddedFont>
      <p:font typeface="Source Serif 4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5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3-2.png"/><Relationship Id="rId3" Type="http://schemas.openxmlformats.org/officeDocument/2006/relationships/image" Target="../media/image-1003-3.jpeg"/><Relationship Id="rId4" Type="http://schemas.openxmlformats.org/officeDocument/2006/relationships/image" Target="../media/image-1002-2.png"/><Relationship Id="rId6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8" name="Image 3" descr="preencoded.png">
            <a:hlinkClick r:id="rId5" tooltip="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596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1.png"/><Relationship Id="rId6" Type="http://schemas.openxmlformats.org/officeDocument/2006/relationships/image" Target="../media/image-3-2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1.png"/><Relationship Id="rId10" Type="http://schemas.openxmlformats.org/officeDocument/2006/relationships/image" Target="../media/image-3-2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image" Target="../media/image-3-13.png"/><Relationship Id="rId14" Type="http://schemas.openxmlformats.org/officeDocument/2006/relationships/image" Target="../media/image-3-14.svg"/><Relationship Id="rId15" Type="http://schemas.openxmlformats.org/officeDocument/2006/relationships/image" Target="../media/image-3-15.png"/><Relationship Id="rId16" Type="http://schemas.openxmlformats.org/officeDocument/2006/relationships/image" Target="../media/image-3-16.svg"/><Relationship Id="rId17" Type="http://schemas.openxmlformats.org/officeDocument/2006/relationships/image" Target="../media/image-3-1.png"/><Relationship Id="rId18" Type="http://schemas.openxmlformats.org/officeDocument/2006/relationships/image" Target="../media/image-3-2.svg"/><Relationship Id="rId19" Type="http://schemas.openxmlformats.org/officeDocument/2006/relationships/image" Target="../media/image-3-19.png"/><Relationship Id="rId20" Type="http://schemas.openxmlformats.org/officeDocument/2006/relationships/image" Target="../media/image-3-20.svg"/><Relationship Id="rId21" Type="http://schemas.openxmlformats.org/officeDocument/2006/relationships/slideLayout" Target="../slideLayouts/slideLayout2.xml"/><Relationship Id="rId2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1.png"/><Relationship Id="rId4" Type="http://schemas.openxmlformats.org/officeDocument/2006/relationships/image" Target="../media/image-5-2.svg"/><Relationship Id="rId5" Type="http://schemas.openxmlformats.org/officeDocument/2006/relationships/image" Target="../media/image-5-1.png"/><Relationship Id="rId6" Type="http://schemas.openxmlformats.org/officeDocument/2006/relationships/image" Target="../media/image-5-2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7.png"/><Relationship Id="rId10" Type="http://schemas.openxmlformats.org/officeDocument/2006/relationships/image" Target="../media/image-5-8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1.png"/><Relationship Id="rId4" Type="http://schemas.openxmlformats.org/officeDocument/2006/relationships/image" Target="../media/image-6-2.sv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image" Target="../media/image-6-6.png"/><Relationship Id="rId9" Type="http://schemas.openxmlformats.org/officeDocument/2006/relationships/image" Target="../media/image-6-7.svg"/><Relationship Id="rId10" Type="http://schemas.openxmlformats.org/officeDocument/2006/relationships/image" Target="../media/image-6-6.png"/><Relationship Id="rId11" Type="http://schemas.openxmlformats.org/officeDocument/2006/relationships/image" Target="../media/image-6-7.svg"/><Relationship Id="rId12" Type="http://schemas.openxmlformats.org/officeDocument/2006/relationships/image" Target="../media/image-6-6.png"/><Relationship Id="rId13" Type="http://schemas.openxmlformats.org/officeDocument/2006/relationships/image" Target="../media/image-6-7.svg"/><Relationship Id="rId14" Type="http://schemas.openxmlformats.org/officeDocument/2006/relationships/image" Target="../media/image-6-14.png"/><Relationship Id="rId15" Type="http://schemas.openxmlformats.org/officeDocument/2006/relationships/image" Target="../media/image-6-15.svg"/><Relationship Id="rId16" Type="http://schemas.openxmlformats.org/officeDocument/2006/relationships/image" Target="../media/image-6-14.png"/><Relationship Id="rId17" Type="http://schemas.openxmlformats.org/officeDocument/2006/relationships/image" Target="../media/image-6-15.svg"/><Relationship Id="rId18" Type="http://schemas.openxmlformats.org/officeDocument/2006/relationships/slideLayout" Target="../slideLayouts/slideLayout2.xml"/><Relationship Id="rId1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svg"/><Relationship Id="rId10" Type="http://schemas.openxmlformats.org/officeDocument/2006/relationships/image" Target="../media/image-11-8.png"/><Relationship Id="rId11" Type="http://schemas.openxmlformats.org/officeDocument/2006/relationships/image" Target="../media/image-11-9.svg"/><Relationship Id="rId12" Type="http://schemas.openxmlformats.org/officeDocument/2006/relationships/image" Target="../media/image-11-8.png"/><Relationship Id="rId13" Type="http://schemas.openxmlformats.org/officeDocument/2006/relationships/image" Target="../media/image-11-9.sv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1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image" Target="../media/image-16-1.png"/><Relationship Id="rId4" Type="http://schemas.openxmlformats.org/officeDocument/2006/relationships/image" Target="../media/image-16-2.svg"/><Relationship Id="rId5" Type="http://schemas.openxmlformats.org/officeDocument/2006/relationships/image" Target="../media/image-16-5.png"/><Relationship Id="rId6" Type="http://schemas.openxmlformats.org/officeDocument/2006/relationships/image" Target="../media/image-16-6.svg"/><Relationship Id="rId7" Type="http://schemas.openxmlformats.org/officeDocument/2006/relationships/image" Target="../media/image-16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086" y="769838"/>
            <a:ext cx="1219368" cy="63311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98086" y="1865129"/>
            <a:ext cx="6223638" cy="16225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spc="-68" kern="10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AI-Powered Detection of Phishing Websites Using URL and Webpage Features</a:t>
            </a:r>
            <a:endParaRPr lang="en-US" sz="3400" dirty="0"/>
          </a:p>
        </p:txBody>
      </p:sp>
      <p:sp>
        <p:nvSpPr>
          <p:cNvPr id="5" name="Text 1"/>
          <p:cNvSpPr/>
          <p:nvPr/>
        </p:nvSpPr>
        <p:spPr>
          <a:xfrm>
            <a:off x="698086" y="3724771"/>
            <a:ext cx="6223638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00" b="1" spc="-29" kern="10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0"/>
              </a:rPr>
              <a:t>Research proposal and implementation plan:</a:t>
            </a:r>
            <a:pPr algn="l" indent="0" marL="0">
              <a:lnSpc>
                <a:spcPct val="128000"/>
              </a:lnSpc>
              <a:buNone/>
            </a:pPr>
            <a:r>
              <a:rPr lang="en-US" sz="1400" spc="-29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 a resilient, explainable, incremental learning framework that detects visually deceptive and content-driven phishing attacks while providing per-decision explanations and operational dashboards.</a:t>
            </a:r>
            <a:endParaRPr lang="en-US" sz="1400" dirty="0"/>
          </a:p>
        </p:txBody>
      </p:sp>
      <p:sp>
        <p:nvSpPr>
          <p:cNvPr id="6" name="Shape 2"/>
          <p:cNvSpPr/>
          <p:nvPr/>
        </p:nvSpPr>
        <p:spPr>
          <a:xfrm>
            <a:off x="698086" y="4809133"/>
            <a:ext cx="6223638" cy="2540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698086" y="5142537"/>
            <a:ext cx="6223638" cy="324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spc="-41" kern="10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Team Members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698086" y="5713611"/>
            <a:ext cx="6223638" cy="565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00" spc="-29" kern="100" dirty="0">
                <a:solidFill>
                  <a:srgbClr val="6C63FF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M. Aruna Grace</a:t>
            </a:r>
            <a:pPr algn="l" indent="0" marL="0">
              <a:lnSpc>
                <a:spcPct val="128000"/>
              </a:lnSpc>
              <a:buNone/>
            </a:pPr>
            <a:r>
              <a:rPr lang="en-US" sz="1400" spc="-29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 - 2420030100</a:t>
            </a:r>
            <a:endParaRPr lang="en-US" sz="14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400" spc="-29" kern="100" dirty="0">
                <a:solidFill>
                  <a:srgbClr val="6C63FF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G. Manaswi</a:t>
            </a:r>
            <a:pPr algn="l" indent="0" marL="0">
              <a:lnSpc>
                <a:spcPct val="128000"/>
              </a:lnSpc>
              <a:buNone/>
            </a:pPr>
            <a:r>
              <a:rPr lang="en-US" sz="1400" spc="-29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 - 2420030182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69971" y="1326059"/>
            <a:ext cx="1645204" cy="303113"/>
          </a:xfrm>
          <a:prstGeom prst="roundRect">
            <a:avLst>
              <a:gd name="adj" fmla="val 22112"/>
            </a:avLst>
          </a:prstGeom>
          <a:noFill/>
          <a:ln w="6350">
            <a:solidFill>
              <a:srgbClr val="BE49D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389626" y="1390806"/>
            <a:ext cx="2015479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spc="-31" kern="100" dirty="0">
                <a:solidFill>
                  <a:srgbClr val="BE49DF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PHISHING DETECTION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7014888" y="1326059"/>
            <a:ext cx="1659194" cy="303113"/>
          </a:xfrm>
          <a:prstGeom prst="roundRect">
            <a:avLst>
              <a:gd name="adj" fmla="val 22112"/>
            </a:avLst>
          </a:prstGeom>
          <a:solidFill>
            <a:srgbClr val="F0D4F7"/>
          </a:solidFill>
          <a:ln/>
        </p:spPr>
      </p:sp>
      <p:sp>
        <p:nvSpPr>
          <p:cNvPr id="6" name="Text 3"/>
          <p:cNvSpPr/>
          <p:nvPr/>
        </p:nvSpPr>
        <p:spPr>
          <a:xfrm>
            <a:off x="7134543" y="1390806"/>
            <a:ext cx="2029469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spc="-31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PROBLEM STATEMENT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269971" y="1727364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b="1" spc="-74" kern="100" dirty="0">
                <a:solidFill>
                  <a:srgbClr val="000000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0"/>
              </a:rPr>
              <a:t>Problem Statement</a:t>
            </a:r>
            <a:endParaRPr lang="en-US" sz="3650" dirty="0"/>
          </a:p>
        </p:txBody>
      </p:sp>
      <p:sp>
        <p:nvSpPr>
          <p:cNvPr id="8" name="Text 5"/>
          <p:cNvSpPr/>
          <p:nvPr/>
        </p:nvSpPr>
        <p:spPr>
          <a:xfrm>
            <a:off x="5269971" y="2594769"/>
            <a:ext cx="6223638" cy="1595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Phishing sites evolve quickly and exploit </a:t>
            </a:r>
            <a:pPr algn="l" indent="0" marL="0">
              <a:lnSpc>
                <a:spcPct val="133000"/>
              </a:lnSpc>
              <a:buNone/>
            </a:pPr>
            <a:r>
              <a:rPr lang="en-US" sz="1550" b="1" spc="-31" kern="10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0"/>
              </a:rPr>
              <a:t>visual deception</a:t>
            </a:r>
            <a:pPr algn="l" indent="0" marL="0">
              <a:lnSpc>
                <a:spcPct val="133000"/>
              </a:lnSpc>
              <a:buNone/>
            </a:pPr>
            <a:r>
              <a:rPr lang="en-US" sz="1550" spc="-31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 (</a:t>
            </a:r>
            <a:pPr algn="l" indent="0" marL="0">
              <a:lnSpc>
                <a:spcPct val="133000"/>
              </a:lnSpc>
              <a:buNone/>
            </a:pPr>
            <a:r>
              <a:rPr lang="en-US" sz="1550" i="1" spc="-31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homographs, punycode, zero-width characters</a:t>
            </a:r>
            <a:pPr algn="l" indent="0" marL="0">
              <a:lnSpc>
                <a:spcPct val="133000"/>
              </a:lnSpc>
              <a:buNone/>
            </a:pPr>
            <a:r>
              <a:rPr lang="en-US" sz="1550" spc="-31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), </a:t>
            </a:r>
            <a:pPr algn="l" indent="0" marL="0">
              <a:lnSpc>
                <a:spcPct val="133000"/>
              </a:lnSpc>
              <a:buNone/>
            </a:pPr>
            <a:r>
              <a:rPr lang="en-US" sz="1550" b="1" spc="-31" kern="10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0"/>
              </a:rPr>
              <a:t>domain perturbations</a:t>
            </a:r>
            <a:pPr algn="l" indent="0" marL="0">
              <a:lnSpc>
                <a:spcPct val="133000"/>
              </a:lnSpc>
              <a:buNone/>
            </a:pPr>
            <a:r>
              <a:rPr lang="en-US" sz="1550" spc="-31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 (</a:t>
            </a:r>
            <a:pPr algn="l" indent="0" marL="0">
              <a:lnSpc>
                <a:spcPct val="133000"/>
              </a:lnSpc>
              <a:buNone/>
            </a:pPr>
            <a:r>
              <a:rPr lang="en-US" sz="1550" i="1" spc="-31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bit‑squatting, combo‑squatting</a:t>
            </a:r>
            <a:pPr algn="l" indent="0" marL="0">
              <a:lnSpc>
                <a:spcPct val="133000"/>
              </a:lnSpc>
              <a:buNone/>
            </a:pPr>
            <a:r>
              <a:rPr lang="en-US" sz="1550" spc="-31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), and </a:t>
            </a:r>
            <a:pPr algn="l" indent="0" marL="0">
              <a:lnSpc>
                <a:spcPct val="133000"/>
              </a:lnSpc>
              <a:buNone/>
            </a:pPr>
            <a:r>
              <a:rPr lang="en-US" sz="1550" b="1" spc="-31" kern="10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0"/>
              </a:rPr>
              <a:t>content tricks</a:t>
            </a:r>
            <a:pPr algn="l" indent="0" marL="0">
              <a:lnSpc>
                <a:spcPct val="133000"/>
              </a:lnSpc>
              <a:buNone/>
            </a:pPr>
            <a:r>
              <a:rPr lang="en-US" sz="1550" spc="-31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 to bypass static detectors and blacklists. Existing systems either stale out or lack explainability and real‑time adaptability.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5269971" y="4415036"/>
            <a:ext cx="6223638" cy="1116905"/>
          </a:xfrm>
          <a:prstGeom prst="roundRect">
            <a:avLst>
              <a:gd name="adj" fmla="val 7501"/>
            </a:avLst>
          </a:prstGeom>
          <a:solidFill>
            <a:srgbClr val="F0D4F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9396" y="4705648"/>
            <a:ext cx="249330" cy="1994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918151" y="4664273"/>
            <a:ext cx="5376033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b="1" spc="-31" kern="100" dirty="0">
                <a:solidFill>
                  <a:srgbClr val="00000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0"/>
              </a:rPr>
              <a:t>Goal:</a:t>
            </a:r>
            <a:pPr algn="l" indent="0" marL="0">
              <a:lnSpc>
                <a:spcPct val="133000"/>
              </a:lnSpc>
              <a:buNone/>
            </a:pPr>
            <a:r>
              <a:rPr lang="en-US" sz="1550" spc="-31" kern="1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 detect new and visually deceptive phishing attacks with explainable, adaptive ML.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657324"/>
            <a:ext cx="1112512" cy="194072"/>
          </a:xfrm>
          <a:prstGeom prst="roundRect">
            <a:avLst>
              <a:gd name="adj" fmla="val 22125"/>
            </a:avLst>
          </a:prstGeom>
          <a:solidFill>
            <a:srgbClr val="F0D4F7"/>
          </a:solidFill>
          <a:ln/>
        </p:spPr>
      </p:sp>
      <p:sp>
        <p:nvSpPr>
          <p:cNvPr id="3" name="Text 1"/>
          <p:cNvSpPr/>
          <p:nvPr/>
        </p:nvSpPr>
        <p:spPr>
          <a:xfrm>
            <a:off x="774681" y="697980"/>
            <a:ext cx="1568907" cy="117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spc="-20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RESEARCH OBJECTIVES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98086" y="894947"/>
            <a:ext cx="10795524" cy="375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spc="-47" kern="10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RESEARCH OBJECTIVES</a:t>
            </a:r>
            <a:endParaRPr lang="en-US" sz="2350" dirty="0"/>
          </a:p>
        </p:txBody>
      </p:sp>
      <p:sp>
        <p:nvSpPr>
          <p:cNvPr id="5" name="Text 3"/>
          <p:cNvSpPr/>
          <p:nvPr/>
        </p:nvSpPr>
        <p:spPr>
          <a:xfrm>
            <a:off x="698086" y="1382713"/>
            <a:ext cx="11405108" cy="167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000" spc="-20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Our research focuses on addressing critical challenges in phishing detection through a comprehensive approach outlined by the following key objectives.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086" y="1642467"/>
            <a:ext cx="10795524" cy="865981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3698" y="1979513"/>
            <a:ext cx="191686" cy="19169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10151" y="1789311"/>
            <a:ext cx="10036618" cy="187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-24" kern="1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01 — Hybrid Feature Integration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1310151" y="2026245"/>
            <a:ext cx="10036618" cy="3353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000" spc="-20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Develop PhishXpert Hybrid by combining 23 engineered URL/HTML security features with 768-dimensional DistilBERT webpage-text embeddings to form a 791-dimensional representation for phishing website detection.</a:t>
            </a:r>
            <a:endParaRPr lang="en-US" sz="10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8086" y="2590304"/>
            <a:ext cx="10795524" cy="865981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3698" y="2927350"/>
            <a:ext cx="191686" cy="19169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310151" y="2737148"/>
            <a:ext cx="10036618" cy="187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-24" kern="1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02 — Hybrid Machine Learning Classification</a:t>
            </a:r>
            <a:endParaRPr lang="en-US" sz="1150" dirty="0"/>
          </a:p>
        </p:txBody>
      </p:sp>
      <p:sp>
        <p:nvSpPr>
          <p:cNvPr id="13" name="Text 7"/>
          <p:cNvSpPr/>
          <p:nvPr/>
        </p:nvSpPr>
        <p:spPr>
          <a:xfrm>
            <a:off x="1310151" y="2974082"/>
            <a:ext cx="10036618" cy="3353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000" spc="-20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Develop and evaluate a LightGBM classifier using the fused URL/HTML and DistilBERT representations, and compare its performance with Random Forest, XGBoost, CatBoost, LightGBM baseline, and DistilBERT-only models.</a:t>
            </a:r>
            <a:endParaRPr lang="en-US" sz="10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8086" y="3538141"/>
            <a:ext cx="10795524" cy="865981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73698" y="3875187"/>
            <a:ext cx="191686" cy="191691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310151" y="3684984"/>
            <a:ext cx="10036618" cy="187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-24" kern="1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03 — Explainable Phishing Detection</a:t>
            </a:r>
            <a:endParaRPr lang="en-US" sz="1150" dirty="0"/>
          </a:p>
        </p:txBody>
      </p:sp>
      <p:sp>
        <p:nvSpPr>
          <p:cNvPr id="17" name="Text 9"/>
          <p:cNvSpPr/>
          <p:nvPr/>
        </p:nvSpPr>
        <p:spPr>
          <a:xfrm>
            <a:off x="1310151" y="3921919"/>
            <a:ext cx="10036618" cy="3353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000" spc="-20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Provide transparent phishing predictions using TreeSHAP feature importance together with URL, webpage, and domain-level evidence so that the system can explain the factors contributing to each prediction.</a:t>
            </a:r>
            <a:endParaRPr lang="en-US" sz="100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98086" y="4485977"/>
            <a:ext cx="10795524" cy="766762"/>
          </a:xfrm>
          <a:prstGeom prst="rect">
            <a:avLst/>
          </a:prstGeom>
        </p:spPr>
      </p:pic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73698" y="4773414"/>
            <a:ext cx="191686" cy="191691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1310151" y="4632821"/>
            <a:ext cx="10036618" cy="187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-24" kern="1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04 — Cross-Dataset Evaluation and Generalization</a:t>
            </a:r>
            <a:endParaRPr lang="en-US" sz="1150" dirty="0"/>
          </a:p>
        </p:txBody>
      </p:sp>
      <p:sp>
        <p:nvSpPr>
          <p:cNvPr id="21" name="Text 11"/>
          <p:cNvSpPr/>
          <p:nvPr/>
        </p:nvSpPr>
        <p:spPr>
          <a:xfrm>
            <a:off x="1310151" y="4869755"/>
            <a:ext cx="10036618" cy="167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000" spc="-20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Evaluate the proposed model on the D1 dataset and perform external validation on the CompPhish dataset to study performance under distribution shift and previously unseen webpage conditions.</a:t>
            </a:r>
            <a:endParaRPr lang="en-US" sz="1000" dirty="0"/>
          </a:p>
        </p:txBody>
      </p:sp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98086" y="5334595"/>
            <a:ext cx="10795524" cy="865981"/>
          </a:xfrm>
          <a:prstGeom prst="rect">
            <a:avLst/>
          </a:prstGeom>
        </p:spPr>
      </p:pic>
      <p:pic>
        <p:nvPicPr>
          <p:cNvPr id="23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73698" y="5671641"/>
            <a:ext cx="191686" cy="191691"/>
          </a:xfrm>
          <a:prstGeom prst="rect">
            <a:avLst/>
          </a:prstGeom>
        </p:spPr>
      </p:pic>
      <p:sp>
        <p:nvSpPr>
          <p:cNvPr id="24" name="Text 12"/>
          <p:cNvSpPr/>
          <p:nvPr/>
        </p:nvSpPr>
        <p:spPr>
          <a:xfrm>
            <a:off x="1310151" y="5481439"/>
            <a:ext cx="10036618" cy="187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-24" kern="1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05 — Practical and Adaptive Detection System</a:t>
            </a:r>
            <a:endParaRPr lang="en-US" sz="1150" dirty="0"/>
          </a:p>
        </p:txBody>
      </p:sp>
      <p:sp>
        <p:nvSpPr>
          <p:cNvPr id="25" name="Text 13"/>
          <p:cNvSpPr/>
          <p:nvPr/>
        </p:nvSpPr>
        <p:spPr>
          <a:xfrm>
            <a:off x="1310151" y="5718373"/>
            <a:ext cx="10036618" cy="3353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000" spc="-20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Develop an end-to-end FastAPI and React-based phishing detection application that supports URL + HTML analysis when webpage content is available and URL-only analysis when HTML retrieval is unavailable, with RAG-based cybersecurity knowledge and Gemini-generated explanations.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625574"/>
            <a:ext cx="829746" cy="203696"/>
          </a:xfrm>
          <a:prstGeom prst="roundRect">
            <a:avLst>
              <a:gd name="adj" fmla="val 22108"/>
            </a:avLst>
          </a:prstGeom>
          <a:solidFill>
            <a:srgbClr val="F0D4F7"/>
          </a:solidFill>
          <a:ln/>
        </p:spPr>
      </p:sp>
      <p:sp>
        <p:nvSpPr>
          <p:cNvPr id="3" name="Text 1"/>
          <p:cNvSpPr/>
          <p:nvPr/>
        </p:nvSpPr>
        <p:spPr>
          <a:xfrm>
            <a:off x="778451" y="666681"/>
            <a:ext cx="1278600" cy="123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spc="-21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RELATED WORK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98086" y="874686"/>
            <a:ext cx="10795524" cy="394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spc="-50" kern="10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RELATED WORK – COMPARATIVE ANALYSIS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698086" y="1394420"/>
            <a:ext cx="11405108" cy="179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1050" spc="-21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Comparative analysis of phishing detection methods based strictly on Table 1 from the PhishXpert_FINAL_FILLED paper.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086" y="1674912"/>
          <a:ext cx="10795524" cy="914400"/>
        </p:xfrm>
        <a:graphic>
          <a:graphicData uri="http://schemas.openxmlformats.org/drawingml/2006/table">
            <a:tbl>
              <a:tblPr/>
              <a:tblGrid>
                <a:gridCol w="647664"/>
                <a:gridCol w="2590954"/>
                <a:gridCol w="2374999"/>
                <a:gridCol w="2590954"/>
                <a:gridCol w="2590954"/>
              </a:tblGrid>
              <a:tr h="2671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spc="-21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S.No.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4025" marR="134025" marT="6350" marB="6350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spc="-21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Research Paper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4025" marR="134025" marT="6350" marB="6350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spc="-21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Method Used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4025" marR="134025" marT="6350" marB="6350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spc="-21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Key Outcome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4025" marR="134025" marT="6350" marB="6350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spc="-21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Main Limitation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4025" marR="134025" marT="6350" marB="6350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37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spc="-21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1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4025" marR="134025" marT="6350" marB="6350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-21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CANTINA [6]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4025" marR="134025" marT="6350" marB="6350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-21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TF-IDF content analysis + heuristics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4025" marR="134025" marT="6350" marB="6350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-21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Correctly labelled approximately 95% of phishing sites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4025" marR="134025" marT="6350" marB="6350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-21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Search-engine/content dependent; heuristic thresholds can produce false positives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4025" marR="134025" marT="6350" marB="6350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37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spc="-21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2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4025" marR="134025" marT="6350" marB="6350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-21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Large-scale Automatic Classification [7]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4025" marR="134025" marT="6350" marB="6350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-21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URL + page-content machine learning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4025" marR="134025" marT="6350" marB="6350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-21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More than 90% of phishing pages correctly classified several weeks after training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4025" marR="134025" marT="6350" marB="6350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-21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Large-scale classifier depends on live training data and periodic retraining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4025" marR="134025" marT="6350" marB="6350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37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spc="-21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3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4025" marR="134025" marT="6350" marB="6350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-21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Rule-based Classification [8]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4025" marR="134025" marT="6350" marB="6350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-21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Rule induction over website features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4025" marR="134025" marT="6350" marB="6350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-21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C4.5 gave the lowest average error among the evaluated rule learners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4025" marR="134025" marT="6350" marB="6350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-21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Performance depends on selected rules and handcrafted website features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4025" marR="134025" marT="6350" marB="6350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709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spc="-21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4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4025" marR="134025" marT="6350" marB="6350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-21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Phishpedia [9]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4025" marR="134025" marT="6350" marB="6350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-21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Logo detection + deep brand matching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4025" marR="134025" marT="6350" marB="6350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-21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High identification accuracy and low runtime; discovered 1,704 real phishing sites in 30 days in its monitoring study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4025" marR="134025" marT="6350" marB="6350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-21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Requires webpage screenshots and a reference brand set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4025" marR="134025" marT="6350" marB="6350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37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spc="-21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5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4025" marR="134025" marT="6350" marB="6350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-21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VisualPhishNet [10]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4025" marR="134025" marT="6350" marB="6350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-21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Triplet-network visual similarity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4025" marR="134025" marT="6350" marB="6350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-21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Reported ROC-AUC of 98.79% on the VisualPhish dataset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4025" marR="134025" marT="6350" marB="6350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-21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Visual changes such as pop-ups can affect similarity-based detection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4025" marR="134025" marT="6350" marB="6350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37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spc="-21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6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4025" marR="134025" marT="6350" marB="6350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-21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PhishStorm [12]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4025" marR="134025" marT="6350" marB="6350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-21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URL relatedness + Random Forest + streaming analytics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4025" marR="134025" marT="6350" marB="6350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-21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94.91% accuracy with 1.44% false-positive rate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4025" marR="134025" marT="6350" marB="6350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-21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Uses search-engine query information and is primarily URL based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4025" marR="134025" marT="6350" marB="6350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37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spc="-21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7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4025" marR="134025" marT="6350" marB="6350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-21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Sahingoz et al. [13]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4025" marR="134025" marT="6350" marB="6350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-21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NLP URL features + multiple classifiers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4025" marR="134025" marT="6350" marB="6350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-21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97.98% accuracy with the reported Random Forest/NLP configuration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4025" marR="134025" marT="6350" marB="6350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-21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URL-only evidence can miss webpage content and shorter/unseen patterns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4025" marR="134025" marT="6350" marB="6350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37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spc="-21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8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4025" marR="134025" marT="6350" marB="6350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-21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Rao and Pais [14]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4025" marR="134025" marT="6350" marB="6350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-21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URL, webpage, and third-party features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4025" marR="134025" marT="6350" marB="6350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-21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98.25% accuracy on the benchmark comparison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4025" marR="134025" marT="6350" marB="6350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-21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Third-party information can reduce portability and availability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4025" marR="134025" marT="6350" marB="6350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37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spc="-21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9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4025" marR="134025" marT="6350" marB="6350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-21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Aljofey et al. [15], [34]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4025" marR="134025" marT="6350" marB="6350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-21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URL character features + hyperlinks + HTML/text + XGBoost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4025" marR="134025" marT="6350" marB="6350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-21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96.76% accuracy on D1 and 98.48% on the benchmark dataset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4025" marR="134025" marT="6350" marB="6350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-21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Requires webpage HTML and includes language-dependent text features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4025" marR="134025" marT="6350" marB="6350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5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spc="-21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10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4025" marR="134025" marT="6350" marB="6350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-21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URLNet [21]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4025" marR="134025" marT="6350" marB="6350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-21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Character- and word-level CNN for URLs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4025" marR="134025" marT="6350" marB="6350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-21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Learns URL representations for malicious-URL detection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4025" marR="134025" marT="6350" marB="6350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-21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URL-only model; does not use webpage text or HTML evidence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4025" marR="134025" marT="6350" marB="6350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712490"/>
            <a:ext cx="986706" cy="246360"/>
          </a:xfrm>
          <a:prstGeom prst="roundRect">
            <a:avLst>
              <a:gd name="adj" fmla="val 22105"/>
            </a:avLst>
          </a:prstGeom>
          <a:solidFill>
            <a:srgbClr val="F0D4F7"/>
          </a:solidFill>
          <a:ln/>
        </p:spPr>
      </p:sp>
      <p:sp>
        <p:nvSpPr>
          <p:cNvPr id="3" name="Text 1"/>
          <p:cNvSpPr/>
          <p:nvPr/>
        </p:nvSpPr>
        <p:spPr>
          <a:xfrm>
            <a:off x="795318" y="765103"/>
            <a:ext cx="1401827" cy="149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spc="-26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RESEARCH GAP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98086" y="1025609"/>
            <a:ext cx="10795524" cy="476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spc="-60" kern="10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RESEARCH GAP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98086" y="1685627"/>
            <a:ext cx="11405108" cy="23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spc="-26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PhishXpert identifies five key gaps in existing phishing detection research and shows how its design addresses them.</a:t>
            </a:r>
            <a:endParaRPr lang="en-US" sz="12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086" y="2068810"/>
            <a:ext cx="3510668" cy="209004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356188" y="2190353"/>
            <a:ext cx="194464" cy="2430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spc="-26" kern="100" dirty="0">
                <a:solidFill>
                  <a:srgbClr val="FFFFFF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79155" y="2717006"/>
            <a:ext cx="3148529" cy="238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spc="-30" kern="1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01 LIMITED SEMANTIC EVIDENCE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79155" y="3034308"/>
            <a:ext cx="3148529" cy="9401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spc="-26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Many detectors focus on URLs or structural cues, while transformer-based studies often emphasize URL patterns rather than webpage meaning.</a:t>
            </a:r>
            <a:endParaRPr lang="en-US" sz="12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0414" y="2068810"/>
            <a:ext cx="3510768" cy="209004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998516" y="2190353"/>
            <a:ext cx="194464" cy="2430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spc="-26" kern="100" dirty="0">
                <a:solidFill>
                  <a:srgbClr val="FFFFFF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2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521484" y="2717006"/>
            <a:ext cx="3148628" cy="238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spc="-30" kern="1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02 LIMITED EVIDENCE FUSION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21484" y="3034308"/>
            <a:ext cx="3148628" cy="9401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spc="-26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URL, HTML, visual, and semantic evidence are often treated separately; explicit cybersecurity features should be combined with semantic webpage representation.</a:t>
            </a:r>
            <a:endParaRPr lang="en-US" sz="12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82842" y="2068810"/>
            <a:ext cx="3510768" cy="209004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640944" y="2190353"/>
            <a:ext cx="194464" cy="2430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spc="-26" kern="100" dirty="0">
                <a:solidFill>
                  <a:srgbClr val="FFFFFF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3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8163911" y="2717006"/>
            <a:ext cx="3148628" cy="4766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spc="-30" kern="1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03 LIMITED EXPLANATION BEYOND A SCORE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8163911" y="3272631"/>
            <a:ext cx="3148628" cy="705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spc="-26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A probability score alone does not explain why a webpage is phishing; practical detection needs feature attribution plus contextual evidence.</a:t>
            </a:r>
            <a:endParaRPr lang="en-US" sz="12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8086" y="4290516"/>
            <a:ext cx="5331882" cy="185499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266795" y="4412059"/>
            <a:ext cx="194464" cy="2430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spc="-26" kern="100" dirty="0">
                <a:solidFill>
                  <a:srgbClr val="FFFFFF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4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879155" y="4938713"/>
            <a:ext cx="4969743" cy="238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spc="-30" kern="1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04 LIMITED CONTROLLED COMPARISON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879155" y="5256014"/>
            <a:ext cx="4969743" cy="470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spc="-26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Different datasets, sampling strategies, and evaluation protocols make published results hard to compare fairly.</a:t>
            </a:r>
            <a:endParaRPr lang="en-US" sz="125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61628" y="4290516"/>
            <a:ext cx="5331981" cy="185499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730337" y="4412059"/>
            <a:ext cx="194464" cy="2430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spc="-26" kern="100" dirty="0">
                <a:solidFill>
                  <a:srgbClr val="FFFFFF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5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6342698" y="4938713"/>
            <a:ext cx="4969842" cy="4766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spc="-30" kern="1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05 LIMITED HANDLING OF UNAVAILABLE WEBPAGE CONTENT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6342698" y="5494338"/>
            <a:ext cx="4969842" cy="470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spc="-26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Real-world URLs may be unreachable or incomplete, so a practical detector should include a URL-only fallback when retrieval fails.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591939"/>
            <a:ext cx="946325" cy="184646"/>
          </a:xfrm>
          <a:prstGeom prst="roundRect">
            <a:avLst>
              <a:gd name="adj" fmla="val 22120"/>
            </a:avLst>
          </a:prstGeom>
          <a:solidFill>
            <a:srgbClr val="F0D4F7"/>
          </a:solidFill>
          <a:ln/>
        </p:spPr>
      </p:sp>
      <p:sp>
        <p:nvSpPr>
          <p:cNvPr id="3" name="Text 1"/>
          <p:cNvSpPr/>
          <p:nvPr/>
        </p:nvSpPr>
        <p:spPr>
          <a:xfrm>
            <a:off x="771010" y="632143"/>
            <a:ext cx="1410062" cy="111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spc="-19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DATASET SELECTION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98086" y="818370"/>
            <a:ext cx="10795524" cy="357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spc="-45" kern="10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DATASET SELECTION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698086" y="1274663"/>
            <a:ext cx="11405108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50" spc="-19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PhishXpert uses </a:t>
            </a:r>
            <a:pPr algn="l" indent="0" marL="0">
              <a:lnSpc>
                <a:spcPct val="107000"/>
              </a:lnSpc>
              <a:buNone/>
            </a:pPr>
            <a:r>
              <a:rPr lang="en-US" sz="950" b="1" spc="-19" kern="10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0"/>
              </a:rPr>
              <a:t>D1</a:t>
            </a:r>
            <a:pPr algn="l" indent="0" marL="0">
              <a:lnSpc>
                <a:spcPct val="107000"/>
              </a:lnSpc>
              <a:buNone/>
            </a:pPr>
            <a:r>
              <a:rPr lang="en-US" sz="950" spc="-19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 for controlled model development and in-distribution evaluation, and </a:t>
            </a:r>
            <a:pPr algn="l" indent="0" marL="0">
              <a:lnSpc>
                <a:spcPct val="107000"/>
              </a:lnSpc>
              <a:buNone/>
            </a:pPr>
            <a:r>
              <a:rPr lang="en-US" sz="950" b="1" spc="-19" kern="10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0"/>
              </a:rPr>
              <a:t>CompPhish</a:t>
            </a:r>
            <a:pPr algn="l" indent="0" marL="0">
              <a:lnSpc>
                <a:spcPct val="107000"/>
              </a:lnSpc>
              <a:buNone/>
            </a:pPr>
            <a:r>
              <a:rPr lang="en-US" sz="950" spc="-19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 for external validation under distribution shift.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086" y="1597620"/>
            <a:ext cx="5249533" cy="15698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83124" y="1731863"/>
            <a:ext cx="4930255" cy="178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-23" kern="1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D1 — Primary Training &amp; Evaluation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83124" y="1984573"/>
            <a:ext cx="4930255" cy="1048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spcAft>
                <a:spcPts val="500"/>
              </a:spcAft>
              <a:buNone/>
            </a:pPr>
            <a:r>
              <a:rPr lang="en-US" sz="950" b="1" spc="-19" kern="10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0"/>
              </a:rPr>
              <a:t>Source:</a:t>
            </a:r>
            <a:pPr algn="l" indent="0" marL="0">
              <a:lnSpc>
                <a:spcPct val="107000"/>
              </a:lnSpc>
              <a:spcAft>
                <a:spcPts val="500"/>
              </a:spcAft>
              <a:buNone/>
            </a:pPr>
            <a:r>
              <a:rPr lang="en-US" sz="950" spc="-19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 Aljofey et al. phishing website dataset</a:t>
            </a:r>
            <a:endParaRPr lang="en-US" sz="950" dirty="0"/>
          </a:p>
          <a:p>
            <a:pPr algn="l" indent="0" marL="0">
              <a:lnSpc>
                <a:spcPct val="107000"/>
              </a:lnSpc>
              <a:spcAft>
                <a:spcPts val="500"/>
              </a:spcAft>
              <a:buNone/>
            </a:pPr>
            <a:r>
              <a:rPr lang="en-US" sz="950" b="1" spc="-19" kern="10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0"/>
              </a:rPr>
              <a:t>Total webpages:</a:t>
            </a:r>
            <a:pPr algn="l" indent="0" marL="0">
              <a:lnSpc>
                <a:spcPct val="107000"/>
              </a:lnSpc>
              <a:spcAft>
                <a:spcPts val="500"/>
              </a:spcAft>
              <a:buNone/>
            </a:pPr>
            <a:r>
              <a:rPr lang="en-US" sz="950" spc="-19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 60,252</a:t>
            </a:r>
            <a:endParaRPr lang="en-US" sz="950" dirty="0"/>
          </a:p>
          <a:p>
            <a:pPr algn="l" indent="0" marL="0">
              <a:lnSpc>
                <a:spcPct val="107000"/>
              </a:lnSpc>
              <a:spcAft>
                <a:spcPts val="500"/>
              </a:spcAft>
              <a:buNone/>
            </a:pPr>
            <a:r>
              <a:rPr lang="en-US" sz="950" b="1" spc="-19" kern="10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0"/>
              </a:rPr>
              <a:t>Class balance:</a:t>
            </a:r>
            <a:pPr algn="l" indent="0" marL="0">
              <a:lnSpc>
                <a:spcPct val="107000"/>
              </a:lnSpc>
              <a:spcAft>
                <a:spcPts val="500"/>
              </a:spcAft>
              <a:buNone/>
            </a:pPr>
            <a:r>
              <a:rPr lang="en-US" sz="950" spc="-19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 27,280 phishing | 32,972 benign</a:t>
            </a:r>
            <a:endParaRPr lang="en-US" sz="950" dirty="0"/>
          </a:p>
          <a:p>
            <a:pPr algn="l" indent="0" marL="0">
              <a:lnSpc>
                <a:spcPct val="107000"/>
              </a:lnSpc>
              <a:spcAft>
                <a:spcPts val="500"/>
              </a:spcAft>
              <a:buNone/>
            </a:pPr>
            <a:r>
              <a:rPr lang="en-US" sz="950" b="1" spc="-19" kern="10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0"/>
              </a:rPr>
              <a:t>Balanced subset:</a:t>
            </a:r>
            <a:pPr algn="l" indent="0" marL="0">
              <a:lnSpc>
                <a:spcPct val="107000"/>
              </a:lnSpc>
              <a:spcAft>
                <a:spcPts val="500"/>
              </a:spcAft>
              <a:buNone/>
            </a:pPr>
            <a:r>
              <a:rPr lang="en-US" sz="950" spc="-19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 </a:t>
            </a:r>
            <a:pPr algn="l" indent="0" marL="0">
              <a:lnSpc>
                <a:spcPct val="107000"/>
              </a:lnSpc>
              <a:spcAft>
                <a:spcPts val="500"/>
              </a:spcAft>
              <a:buNone/>
            </a:pPr>
            <a:r>
              <a:rPr lang="en-US" sz="950" b="1" spc="-19" kern="10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0"/>
              </a:rPr>
              <a:t>5,000 webpages</a:t>
            </a:r>
            <a:pPr algn="l" indent="0" marL="0">
              <a:lnSpc>
                <a:spcPct val="107000"/>
              </a:lnSpc>
              <a:spcAft>
                <a:spcPts val="500"/>
              </a:spcAft>
              <a:buNone/>
            </a:pPr>
            <a:r>
              <a:rPr lang="en-US" sz="950" spc="-19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 (2,500 benign + 2,500 phishing)</a:t>
            </a:r>
            <a:endParaRPr lang="en-US" sz="95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950" b="1" spc="-19" kern="10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0"/>
              </a:rPr>
              <a:t>Split:</a:t>
            </a:r>
            <a:pPr algn="l" indent="0" marL="0">
              <a:lnSpc>
                <a:spcPct val="107000"/>
              </a:lnSpc>
              <a:buNone/>
            </a:pPr>
            <a:r>
              <a:rPr lang="en-US" sz="950" spc="-19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 </a:t>
            </a:r>
            <a:pPr algn="l" indent="0" marL="0">
              <a:lnSpc>
                <a:spcPct val="107000"/>
              </a:lnSpc>
              <a:buNone/>
            </a:pPr>
            <a:r>
              <a:rPr lang="en-US" sz="950" b="1" spc="-19" kern="10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0"/>
              </a:rPr>
              <a:t>4,000 train</a:t>
            </a:r>
            <a:pPr algn="l" indent="0" marL="0">
              <a:lnSpc>
                <a:spcPct val="107000"/>
              </a:lnSpc>
              <a:buNone/>
            </a:pPr>
            <a:r>
              <a:rPr lang="en-US" sz="950" spc="-19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 | </a:t>
            </a:r>
            <a:pPr algn="l" indent="0" marL="0">
              <a:lnSpc>
                <a:spcPct val="107000"/>
              </a:lnSpc>
              <a:buNone/>
            </a:pPr>
            <a:r>
              <a:rPr lang="en-US" sz="950" b="1" spc="-19" kern="10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0"/>
              </a:rPr>
              <a:t>1,000 test</a:t>
            </a:r>
            <a:pPr algn="l" indent="0" marL="0">
              <a:lnSpc>
                <a:spcPct val="107000"/>
              </a:lnSpc>
              <a:buNone/>
            </a:pPr>
            <a:r>
              <a:rPr lang="en-US" sz="950" spc="-19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 (stratified 80:20, random state 42)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98086" y="3250704"/>
            <a:ext cx="5249533" cy="312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50" b="1" spc="-19" kern="10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0"/>
              </a:rPr>
              <a:t>Important:</a:t>
            </a:r>
            <a:pPr algn="l" indent="0" marL="0">
              <a:lnSpc>
                <a:spcPct val="107000"/>
              </a:lnSpc>
              <a:buNone/>
            </a:pPr>
            <a:r>
              <a:rPr lang="en-US" sz="950" spc="-19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 In-distribution results are based on the balanced </a:t>
            </a:r>
            <a:pPr algn="l" indent="0" marL="0">
              <a:lnSpc>
                <a:spcPct val="107000"/>
              </a:lnSpc>
              <a:buNone/>
            </a:pPr>
            <a:r>
              <a:rPr lang="en-US" sz="950" b="1" spc="-19" kern="10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0"/>
              </a:rPr>
              <a:t>5,000-page subset</a:t>
            </a:r>
            <a:pPr algn="l" indent="0" marL="0">
              <a:lnSpc>
                <a:spcPct val="107000"/>
              </a:lnSpc>
              <a:buNone/>
            </a:pPr>
            <a:r>
              <a:rPr lang="en-US" sz="950" spc="-19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, not the full 60,252 webpages.</a:t>
            </a:r>
            <a:endParaRPr lang="en-US" sz="9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50426" y="1597620"/>
            <a:ext cx="5249533" cy="156983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35465" y="1731863"/>
            <a:ext cx="4930255" cy="178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-23" kern="1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CompPhish — External Validation Only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6435465" y="1984573"/>
            <a:ext cx="4930255" cy="1048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spcAft>
                <a:spcPts val="500"/>
              </a:spcAft>
              <a:buNone/>
            </a:pPr>
            <a:r>
              <a:rPr lang="en-US" sz="950" b="1" spc="-19" kern="10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0"/>
              </a:rPr>
              <a:t>Total labelled webpages:</a:t>
            </a:r>
            <a:pPr algn="l" indent="0" marL="0">
              <a:lnSpc>
                <a:spcPct val="107000"/>
              </a:lnSpc>
              <a:spcAft>
                <a:spcPts val="500"/>
              </a:spcAft>
              <a:buNone/>
            </a:pPr>
            <a:r>
              <a:rPr lang="en-US" sz="950" spc="-19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 15,358</a:t>
            </a:r>
            <a:endParaRPr lang="en-US" sz="950" dirty="0"/>
          </a:p>
          <a:p>
            <a:pPr algn="l" indent="0" marL="0">
              <a:lnSpc>
                <a:spcPct val="107000"/>
              </a:lnSpc>
              <a:spcAft>
                <a:spcPts val="500"/>
              </a:spcAft>
              <a:buNone/>
            </a:pPr>
            <a:r>
              <a:rPr lang="en-US" sz="950" b="1" spc="-19" kern="10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0"/>
              </a:rPr>
              <a:t>Evaluation sample:</a:t>
            </a:r>
            <a:pPr algn="l" indent="0" marL="0">
              <a:lnSpc>
                <a:spcPct val="107000"/>
              </a:lnSpc>
              <a:spcAft>
                <a:spcPts val="500"/>
              </a:spcAft>
              <a:buNone/>
            </a:pPr>
            <a:r>
              <a:rPr lang="en-US" sz="950" spc="-19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 </a:t>
            </a:r>
            <a:pPr algn="l" indent="0" marL="0">
              <a:lnSpc>
                <a:spcPct val="107000"/>
              </a:lnSpc>
              <a:spcAft>
                <a:spcPts val="500"/>
              </a:spcAft>
              <a:buNone/>
            </a:pPr>
            <a:r>
              <a:rPr lang="en-US" sz="950" b="1" spc="-19" kern="10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0"/>
              </a:rPr>
              <a:t>3,000 pages</a:t>
            </a:r>
            <a:pPr algn="l" indent="0" marL="0">
              <a:lnSpc>
                <a:spcPct val="107000"/>
              </a:lnSpc>
              <a:spcAft>
                <a:spcPts val="500"/>
              </a:spcAft>
              <a:buNone/>
            </a:pPr>
            <a:r>
              <a:rPr lang="en-US" sz="950" spc="-19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 with usable HTML</a:t>
            </a:r>
            <a:endParaRPr lang="en-US" sz="950" dirty="0"/>
          </a:p>
          <a:p>
            <a:pPr algn="l" indent="0" marL="0">
              <a:lnSpc>
                <a:spcPct val="107000"/>
              </a:lnSpc>
              <a:spcAft>
                <a:spcPts val="500"/>
              </a:spcAft>
              <a:buNone/>
            </a:pPr>
            <a:r>
              <a:rPr lang="en-US" sz="950" b="1" spc="-19" kern="10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0"/>
              </a:rPr>
              <a:t>Composition:</a:t>
            </a:r>
            <a:pPr algn="l" indent="0" marL="0">
              <a:lnSpc>
                <a:spcPct val="107000"/>
              </a:lnSpc>
              <a:spcAft>
                <a:spcPts val="500"/>
              </a:spcAft>
              <a:buNone/>
            </a:pPr>
            <a:r>
              <a:rPr lang="en-US" sz="950" spc="-19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 1,500 benign + 1,500 phishing</a:t>
            </a:r>
            <a:endParaRPr lang="en-US" sz="950" dirty="0"/>
          </a:p>
          <a:p>
            <a:pPr algn="l" indent="0" marL="0">
              <a:lnSpc>
                <a:spcPct val="107000"/>
              </a:lnSpc>
              <a:spcAft>
                <a:spcPts val="500"/>
              </a:spcAft>
              <a:buNone/>
            </a:pPr>
            <a:r>
              <a:rPr lang="en-US" sz="950" b="1" spc="-19" kern="10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0"/>
              </a:rPr>
              <a:t>Purpose:</a:t>
            </a:r>
            <a:pPr algn="l" indent="0" marL="0">
              <a:lnSpc>
                <a:spcPct val="107000"/>
              </a:lnSpc>
              <a:spcAft>
                <a:spcPts val="500"/>
              </a:spcAft>
              <a:buNone/>
            </a:pPr>
            <a:r>
              <a:rPr lang="en-US" sz="950" spc="-19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 Evaluate performance under distribution shift</a:t>
            </a:r>
            <a:endParaRPr lang="en-US" sz="95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950" b="1" spc="-19" kern="10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0"/>
              </a:rPr>
              <a:t>Note:</a:t>
            </a:r>
            <a:pPr algn="l" indent="0" marL="0">
              <a:lnSpc>
                <a:spcPct val="107000"/>
              </a:lnSpc>
              <a:buNone/>
            </a:pPr>
            <a:r>
              <a:rPr lang="en-US" sz="950" spc="-19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 No model retraining on CompPhish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6250426" y="3250704"/>
            <a:ext cx="5249533" cy="350341"/>
          </a:xfrm>
          <a:prstGeom prst="roundRect">
            <a:avLst>
              <a:gd name="adj" fmla="val 14573"/>
            </a:avLst>
          </a:prstGeom>
          <a:solidFill>
            <a:srgbClr val="F0D4F7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1966" y="3363020"/>
            <a:ext cx="151900" cy="12154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645406" y="3347641"/>
            <a:ext cx="5342598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50" spc="-19" kern="1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CompPhish is reserved for independent external validation and generalization analysis.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698086" y="3803184"/>
            <a:ext cx="10795524" cy="285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6" kern="10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Flow Overview</a:t>
            </a:r>
            <a:endParaRPr lang="en-US" sz="18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8086" y="4192290"/>
            <a:ext cx="2643320" cy="99982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32325" y="4678363"/>
            <a:ext cx="2374841" cy="178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-23" kern="1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D1: 60,252 webpages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832325" y="4901406"/>
            <a:ext cx="2374841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50" spc="-19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Primary dataset</a:t>
            </a:r>
            <a:endParaRPr lang="en-US" sz="95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415421" y="4192290"/>
            <a:ext cx="2643419" cy="999827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549660" y="4678363"/>
            <a:ext cx="2374940" cy="178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-23" kern="1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Balanced sampling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3549660" y="4901406"/>
            <a:ext cx="2374940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50" spc="-19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5,000 webpages</a:t>
            </a:r>
            <a:endParaRPr lang="en-US" sz="95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132855" y="4192290"/>
            <a:ext cx="2643320" cy="999827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267095" y="4678363"/>
            <a:ext cx="2374841" cy="178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-23" kern="1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4,000 train | 1,000 test</a:t>
            </a:r>
            <a:endParaRPr lang="en-US" sz="1100" dirty="0"/>
          </a:p>
        </p:txBody>
      </p:sp>
      <p:sp>
        <p:nvSpPr>
          <p:cNvPr id="25" name="Text 17"/>
          <p:cNvSpPr/>
          <p:nvPr/>
        </p:nvSpPr>
        <p:spPr>
          <a:xfrm>
            <a:off x="6267095" y="4901406"/>
            <a:ext cx="2374841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50" spc="-19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Stratified 80:20 split</a:t>
            </a:r>
            <a:endParaRPr lang="en-US" sz="95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850190" y="4192290"/>
            <a:ext cx="2643419" cy="999827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8984430" y="4678363"/>
            <a:ext cx="2374940" cy="178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-23" kern="1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CompPhish: 15,358 webpages</a:t>
            </a:r>
            <a:endParaRPr lang="en-US" sz="1100" dirty="0"/>
          </a:p>
        </p:txBody>
      </p:sp>
      <p:sp>
        <p:nvSpPr>
          <p:cNvPr id="28" name="Text 19"/>
          <p:cNvSpPr/>
          <p:nvPr/>
        </p:nvSpPr>
        <p:spPr>
          <a:xfrm>
            <a:off x="8984430" y="4901406"/>
            <a:ext cx="2374940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50" spc="-19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External validation</a:t>
            </a:r>
            <a:endParaRPr lang="en-US" sz="95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98086" y="5266134"/>
            <a:ext cx="5360754" cy="999827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832325" y="5752207"/>
            <a:ext cx="5092275" cy="178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-23" kern="1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3,000 webpages</a:t>
            </a:r>
            <a:endParaRPr lang="en-US" sz="1100" dirty="0"/>
          </a:p>
        </p:txBody>
      </p:sp>
      <p:sp>
        <p:nvSpPr>
          <p:cNvPr id="31" name="Text 21"/>
          <p:cNvSpPr/>
          <p:nvPr/>
        </p:nvSpPr>
        <p:spPr>
          <a:xfrm>
            <a:off x="832325" y="5975251"/>
            <a:ext cx="5092275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50" spc="-19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Usable HTML only</a:t>
            </a:r>
            <a:endParaRPr lang="en-US" sz="950" dirty="0"/>
          </a:p>
        </p:txBody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132855" y="5266134"/>
            <a:ext cx="5360754" cy="999827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6267095" y="5752207"/>
            <a:ext cx="5092275" cy="178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-23" kern="1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Distribution shift analysis</a:t>
            </a:r>
            <a:endParaRPr lang="en-US" sz="1100" dirty="0"/>
          </a:p>
        </p:txBody>
      </p:sp>
      <p:sp>
        <p:nvSpPr>
          <p:cNvPr id="34" name="Text 23"/>
          <p:cNvSpPr/>
          <p:nvPr/>
        </p:nvSpPr>
        <p:spPr>
          <a:xfrm>
            <a:off x="6267095" y="5975251"/>
            <a:ext cx="5092275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50" spc="-19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No retraining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556419"/>
            <a:ext cx="1869532" cy="194072"/>
          </a:xfrm>
          <a:prstGeom prst="roundRect">
            <a:avLst>
              <a:gd name="adj" fmla="val 22125"/>
            </a:avLst>
          </a:prstGeom>
          <a:solidFill>
            <a:srgbClr val="F0D4F7"/>
          </a:solidFill>
          <a:ln/>
        </p:spPr>
      </p:sp>
      <p:sp>
        <p:nvSpPr>
          <p:cNvPr id="3" name="Text 1"/>
          <p:cNvSpPr/>
          <p:nvPr/>
        </p:nvSpPr>
        <p:spPr>
          <a:xfrm>
            <a:off x="774681" y="597074"/>
            <a:ext cx="2325927" cy="117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spc="-20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FUTURE ENHANCEMENTS / FUTURE WORK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98086" y="794041"/>
            <a:ext cx="10795524" cy="375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spc="-47" kern="10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ENHANCEMENTS TO PHISHXPERT</a:t>
            </a:r>
            <a:endParaRPr lang="en-US" sz="2350" dirty="0"/>
          </a:p>
        </p:txBody>
      </p:sp>
      <p:sp>
        <p:nvSpPr>
          <p:cNvPr id="5" name="Text 3"/>
          <p:cNvSpPr/>
          <p:nvPr/>
        </p:nvSpPr>
        <p:spPr>
          <a:xfrm>
            <a:off x="698086" y="1281807"/>
            <a:ext cx="11405108" cy="167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000" b="1" spc="-20" kern="10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0"/>
              </a:rPr>
              <a:t>A clearer, stronger pipeline</a:t>
            </a:r>
            <a:pPr algn="l" indent="0" marL="0">
              <a:lnSpc>
                <a:spcPct val="109000"/>
              </a:lnSpc>
              <a:buNone/>
            </a:pPr>
            <a:r>
              <a:rPr lang="en-US" sz="1000" spc="-20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 for future work that improves generalization, calibration, robustness, and human-centered explainability.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98086" y="1541562"/>
            <a:ext cx="2637466" cy="1389162"/>
          </a:xfrm>
          <a:prstGeom prst="roundRect">
            <a:avLst>
              <a:gd name="adj" fmla="val 3864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6BA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4926" y="1688405"/>
            <a:ext cx="2343786" cy="3756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-24" kern="1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01 — BROADER DATASET VALIDATION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44926" y="2113161"/>
            <a:ext cx="2343786" cy="6707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000" spc="-20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Expand evaluation to larger multi-source datasets with diverse phishing campaigns, webpage structures, languages, and legitimate websites.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17405" y="1541562"/>
            <a:ext cx="2637466" cy="1389162"/>
          </a:xfrm>
          <a:prstGeom prst="roundRect">
            <a:avLst>
              <a:gd name="adj" fmla="val 3864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6BA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4245" y="1688405"/>
            <a:ext cx="2343786" cy="3756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-24" kern="1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02 — DOMAIN &amp; TEMPORAL GENERALIZATION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564245" y="2113161"/>
            <a:ext cx="2343786" cy="6707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000" spc="-20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Perform domain-separated and temporal testing to measure performance on previously unseen domains and future phishing campaigns.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36725" y="1541562"/>
            <a:ext cx="2637466" cy="1389162"/>
          </a:xfrm>
          <a:prstGeom prst="roundRect">
            <a:avLst>
              <a:gd name="adj" fmla="val 3864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6BA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83565" y="1688405"/>
            <a:ext cx="2343786" cy="187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-24" kern="1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03 — MODEL CALIBRATION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283565" y="1925340"/>
            <a:ext cx="2343786" cy="6707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000" spc="-20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Improve probability calibration and study thresholds that balance phishing recall with false-positive reduction under distribution shift.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856044" y="1541562"/>
            <a:ext cx="2637565" cy="1389162"/>
          </a:xfrm>
          <a:prstGeom prst="roundRect">
            <a:avLst>
              <a:gd name="adj" fmla="val 3864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6BA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02884" y="1688405"/>
            <a:ext cx="2343885" cy="3756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-24" kern="1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04 — ADVERSARIAL ROBUSTNESS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002884" y="2113161"/>
            <a:ext cx="2343885" cy="503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000" spc="-20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Evaluate the framework against adversarially modified URLs, HTML structures, webpage text, and other evasion techniques.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98086" y="3012579"/>
            <a:ext cx="5356786" cy="865981"/>
          </a:xfrm>
          <a:prstGeom prst="roundRect">
            <a:avLst>
              <a:gd name="adj" fmla="val 6198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6BA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4926" y="3159423"/>
            <a:ext cx="5063105" cy="187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-24" kern="1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05 — EXPLAINABILITY USER STUDY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44926" y="3396357"/>
            <a:ext cx="5063105" cy="3353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000" spc="-20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Conduct a formal user study to assess whether TreeSHAP, webpage evidence, domain verification, and RAG-generated explanations improve understanding and trust.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36725" y="3012579"/>
            <a:ext cx="5356885" cy="865981"/>
          </a:xfrm>
          <a:prstGeom prst="roundRect">
            <a:avLst>
              <a:gd name="adj" fmla="val 6198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6BA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83565" y="3159423"/>
            <a:ext cx="5063205" cy="187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-24" kern="1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06 — LARGER MULTI-SOURCE TRAINING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283565" y="3396357"/>
            <a:ext cx="5063205" cy="3353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000" spc="-20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Investigate training with broader multi-source datasets to reduce distribution-shift effects observed during external CompPhish validation.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8086" y="4008671"/>
            <a:ext cx="10795524" cy="300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spc="-38" kern="10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CURRENT FINDINGS → FUTURE ENHANCEMENT FOCUS</a:t>
            </a:r>
            <a:endParaRPr lang="en-US" sz="185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086" y="4516735"/>
            <a:ext cx="3464731" cy="972344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921124" y="4663579"/>
            <a:ext cx="3094853" cy="187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-24" kern="1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D1 In-Distribution Performance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921124" y="4933255"/>
            <a:ext cx="3094853" cy="408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spcAft>
                <a:spcPts val="550"/>
              </a:spcAft>
              <a:buNone/>
            </a:pPr>
            <a:r>
              <a:rPr lang="en-US" sz="1000" b="1" spc="-20" kern="10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0"/>
              </a:rPr>
              <a:t>88.30%</a:t>
            </a:r>
            <a:pPr algn="l" indent="0" marL="0">
              <a:lnSpc>
                <a:spcPct val="109000"/>
              </a:lnSpc>
              <a:spcAft>
                <a:spcPts val="550"/>
              </a:spcAft>
              <a:buNone/>
            </a:pPr>
            <a:r>
              <a:rPr lang="en-US" sz="1000" spc="-20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 Accuracy</a:t>
            </a:r>
            <a:endParaRPr lang="en-US" sz="1000" dirty="0"/>
          </a:p>
          <a:p>
            <a:pPr algn="l" indent="0" marL="0">
              <a:lnSpc>
                <a:spcPct val="109000"/>
              </a:lnSpc>
              <a:buNone/>
            </a:pPr>
            <a:r>
              <a:rPr lang="en-US" sz="1000" b="1" spc="-20" kern="10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0"/>
              </a:rPr>
              <a:t>95.54%</a:t>
            </a:r>
            <a:pPr algn="l" indent="0" marL="0">
              <a:lnSpc>
                <a:spcPct val="109000"/>
              </a:lnSpc>
              <a:buNone/>
            </a:pPr>
            <a:r>
              <a:rPr lang="en-US" sz="1000" spc="-20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 ROC-AUC</a:t>
            </a:r>
            <a:endParaRPr lang="en-US" sz="1000" dirty="0"/>
          </a:p>
        </p:txBody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80904" y="4516735"/>
            <a:ext cx="3242586" cy="1213644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4703942" y="4663579"/>
            <a:ext cx="2872708" cy="187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-24" kern="1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CompPhish External Validation</a:t>
            </a:r>
            <a:endParaRPr lang="en-US" sz="1150" dirty="0"/>
          </a:p>
        </p:txBody>
      </p:sp>
      <p:sp>
        <p:nvSpPr>
          <p:cNvPr id="30" name="Text 26"/>
          <p:cNvSpPr/>
          <p:nvPr/>
        </p:nvSpPr>
        <p:spPr>
          <a:xfrm>
            <a:off x="4703942" y="4933255"/>
            <a:ext cx="2872708" cy="65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spcAft>
                <a:spcPts val="550"/>
              </a:spcAft>
              <a:buNone/>
            </a:pPr>
            <a:r>
              <a:rPr lang="en-US" sz="1000" b="1" spc="-20" kern="10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0"/>
              </a:rPr>
              <a:t>68.80%</a:t>
            </a:r>
            <a:pPr algn="l" indent="0" marL="0">
              <a:lnSpc>
                <a:spcPct val="109000"/>
              </a:lnSpc>
              <a:spcAft>
                <a:spcPts val="550"/>
              </a:spcAft>
              <a:buNone/>
            </a:pPr>
            <a:r>
              <a:rPr lang="en-US" sz="1000" spc="-20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 Accuracy</a:t>
            </a:r>
            <a:endParaRPr lang="en-US" sz="1000" dirty="0"/>
          </a:p>
          <a:p>
            <a:pPr algn="l" indent="0" marL="0">
              <a:lnSpc>
                <a:spcPct val="109000"/>
              </a:lnSpc>
              <a:spcAft>
                <a:spcPts val="550"/>
              </a:spcAft>
              <a:buNone/>
            </a:pPr>
            <a:r>
              <a:rPr lang="en-US" sz="1000" b="1" spc="-20" kern="10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0"/>
              </a:rPr>
              <a:t>98.40%</a:t>
            </a:r>
            <a:pPr algn="l" indent="0" marL="0">
              <a:lnSpc>
                <a:spcPct val="109000"/>
              </a:lnSpc>
              <a:spcAft>
                <a:spcPts val="550"/>
              </a:spcAft>
              <a:buNone/>
            </a:pPr>
            <a:r>
              <a:rPr lang="en-US" sz="1000" spc="-20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 Recall</a:t>
            </a:r>
            <a:endParaRPr lang="en-US" sz="1000" dirty="0"/>
          </a:p>
          <a:p>
            <a:pPr algn="l" indent="0" marL="0">
              <a:lnSpc>
                <a:spcPct val="109000"/>
              </a:lnSpc>
              <a:buNone/>
            </a:pPr>
            <a:r>
              <a:rPr lang="en-US" sz="1000" b="1" spc="-20" kern="10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0"/>
              </a:rPr>
              <a:t>39.20%</a:t>
            </a:r>
            <a:pPr algn="l" indent="0" marL="0">
              <a:lnSpc>
                <a:spcPct val="109000"/>
              </a:lnSpc>
              <a:buNone/>
            </a:pPr>
            <a:r>
              <a:rPr lang="en-US" sz="1000" spc="-20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 Specificity</a:t>
            </a:r>
            <a:endParaRPr lang="en-US" sz="1000" dirty="0"/>
          </a:p>
        </p:txBody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41578" y="4516735"/>
            <a:ext cx="3464731" cy="731044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8264616" y="4663579"/>
            <a:ext cx="3094853" cy="187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-24" kern="1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Enhancement Focus Areas</a:t>
            </a:r>
            <a:endParaRPr lang="en-US" sz="1150" dirty="0"/>
          </a:p>
        </p:txBody>
      </p:sp>
      <p:sp>
        <p:nvSpPr>
          <p:cNvPr id="33" name="Text 28"/>
          <p:cNvSpPr/>
          <p:nvPr/>
        </p:nvSpPr>
        <p:spPr>
          <a:xfrm>
            <a:off x="8264616" y="4933255"/>
            <a:ext cx="3094853" cy="167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000" b="1" spc="-20" kern="10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0"/>
              </a:rPr>
              <a:t>Generalization</a:t>
            </a:r>
            <a:pPr algn="l" indent="0" marL="0">
              <a:lnSpc>
                <a:spcPct val="109000"/>
              </a:lnSpc>
              <a:buNone/>
            </a:pPr>
            <a:r>
              <a:rPr lang="en-US" sz="1000" spc="-20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 + </a:t>
            </a:r>
            <a:pPr algn="l" indent="0" marL="0">
              <a:lnSpc>
                <a:spcPct val="109000"/>
              </a:lnSpc>
              <a:buNone/>
            </a:pPr>
            <a:r>
              <a:rPr lang="en-US" sz="1000" b="1" spc="-20" kern="10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0"/>
              </a:rPr>
              <a:t>Calibration</a:t>
            </a:r>
            <a:pPr algn="l" indent="0" marL="0">
              <a:lnSpc>
                <a:spcPct val="109000"/>
              </a:lnSpc>
              <a:buNone/>
            </a:pPr>
            <a:r>
              <a:rPr lang="en-US" sz="1000" spc="-20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 + </a:t>
            </a:r>
            <a:pPr algn="l" indent="0" marL="0">
              <a:lnSpc>
                <a:spcPct val="109000"/>
              </a:lnSpc>
              <a:buNone/>
            </a:pPr>
            <a:r>
              <a:rPr lang="en-US" sz="1000" b="1" spc="-20" kern="10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0"/>
              </a:rPr>
              <a:t>Robustness</a:t>
            </a:r>
            <a:pPr algn="l" indent="0" marL="0">
              <a:lnSpc>
                <a:spcPct val="109000"/>
              </a:lnSpc>
              <a:buNone/>
            </a:pPr>
            <a:r>
              <a:rPr lang="en-US" sz="1000" spc="-20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 + </a:t>
            </a:r>
            <a:pPr algn="l" indent="0" marL="0">
              <a:lnSpc>
                <a:spcPct val="109000"/>
              </a:lnSpc>
              <a:buNone/>
            </a:pPr>
            <a:r>
              <a:rPr lang="en-US" sz="1000" b="1" spc="-20" kern="10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0"/>
              </a:rPr>
              <a:t>Explainability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698086" y="5914529"/>
            <a:ext cx="10795524" cy="387052"/>
          </a:xfrm>
          <a:prstGeom prst="roundRect">
            <a:avLst>
              <a:gd name="adj" fmla="val 13867"/>
            </a:avLst>
          </a:prstGeom>
          <a:solidFill>
            <a:srgbClr val="F0D4F7"/>
          </a:solidFill>
          <a:ln/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876" y="6030813"/>
            <a:ext cx="159738" cy="127794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1113405" y="6028333"/>
            <a:ext cx="10861999" cy="167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000" spc="-20" kern="1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Future enhancements focus on improving generalization, calibration, robustness, and human-centered explainability rather than claiming universal superiority.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755198"/>
            <a:ext cx="10795524" cy="51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spc="-65" kern="10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WHY THIS SOLUTION STANDS OUT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98086" y="1559322"/>
            <a:ext cx="2584286" cy="4557911"/>
          </a:xfrm>
          <a:prstGeom prst="roundRect">
            <a:avLst>
              <a:gd name="adj" fmla="val 2837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6BA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91657" y="1752898"/>
            <a:ext cx="2197144" cy="308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spc="-39" kern="100" dirty="0">
                <a:solidFill>
                  <a:srgbClr val="272525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0"/>
              </a:rPr>
              <a:t>INNOVATION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91657" y="2152551"/>
            <a:ext cx="2197144" cy="2724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74320" indent="-274320">
              <a:lnSpc>
                <a:spcPct val="125000"/>
              </a:lnSpc>
              <a:buSzPct val="100000"/>
              <a:buChar char="•"/>
            </a:pPr>
            <a:r>
              <a:rPr lang="en-US" sz="1350" spc="-27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Hybrid evidence fusion: 23 engineered URL/HTML features + 768-D DistilBERT</a:t>
            </a:r>
            <a:endParaRPr lang="en-US" sz="1350" dirty="0"/>
          </a:p>
          <a:p>
            <a:pPr algn="l" marL="274320" indent="-274320">
              <a:lnSpc>
                <a:spcPct val="125000"/>
              </a:lnSpc>
              <a:buSzPct val="100000"/>
              <a:buChar char="•"/>
            </a:pPr>
            <a:r>
              <a:rPr lang="en-US" sz="1350" spc="-27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Single 791-dimensional representation combining structural and semantic signals</a:t>
            </a:r>
            <a:endParaRPr lang="en-US" sz="1350" dirty="0"/>
          </a:p>
          <a:p>
            <a:pPr algn="l" marL="274320" indent="-274320">
              <a:lnSpc>
                <a:spcPct val="125000"/>
              </a:lnSpc>
              <a:buSzPct val="100000"/>
              <a:buChar char="•"/>
            </a:pPr>
            <a:r>
              <a:rPr lang="en-US" sz="1350" spc="-27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LightGBM classification with TreeSHAP explainability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435066" y="1559322"/>
            <a:ext cx="2584385" cy="4557911"/>
          </a:xfrm>
          <a:prstGeom prst="roundRect">
            <a:avLst>
              <a:gd name="adj" fmla="val 2837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6BA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28637" y="1752898"/>
            <a:ext cx="2197243" cy="308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spc="-39" kern="100" dirty="0">
                <a:solidFill>
                  <a:srgbClr val="272525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0"/>
              </a:rPr>
              <a:t>NOVELTY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3628637" y="2152551"/>
            <a:ext cx="2197243" cy="37711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74320" indent="-274320">
              <a:lnSpc>
                <a:spcPct val="125000"/>
              </a:lnSpc>
              <a:buSzPct val="100000"/>
              <a:buChar char="•"/>
            </a:pPr>
            <a:r>
              <a:rPr lang="en-US" sz="1350" spc="-27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Controlled comparison: Random Forest, XGBoost, CatBoost, LightGBM, DistilBERT-only, and Hybrid on the same D1 test split</a:t>
            </a:r>
            <a:endParaRPr lang="en-US" sz="1350" dirty="0"/>
          </a:p>
          <a:p>
            <a:pPr algn="l" marL="274320" indent="-274320">
              <a:lnSpc>
                <a:spcPct val="125000"/>
              </a:lnSpc>
              <a:buSzPct val="100000"/>
              <a:buChar char="•"/>
            </a:pPr>
            <a:r>
              <a:rPr lang="en-US" sz="1350" spc="-27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Cross-dataset evaluation: D1 in-distribution + CompPhish external validation</a:t>
            </a:r>
            <a:endParaRPr lang="en-US" sz="1350" dirty="0"/>
          </a:p>
          <a:p>
            <a:pPr algn="l" marL="274320" indent="-274320">
              <a:lnSpc>
                <a:spcPct val="125000"/>
              </a:lnSpc>
              <a:buSzPct val="100000"/>
              <a:buChar char="•"/>
            </a:pPr>
            <a:r>
              <a:rPr lang="en-US" sz="1350" spc="-27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Evidence-grounded explanations: domain verification + webpage evidence + RAG-based cybersecurity knowledge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72145" y="1559322"/>
            <a:ext cx="2584385" cy="4557911"/>
          </a:xfrm>
          <a:prstGeom prst="roundRect">
            <a:avLst>
              <a:gd name="adj" fmla="val 2837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6BA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65716" y="1752898"/>
            <a:ext cx="2197243" cy="308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spc="-39" kern="100" dirty="0">
                <a:solidFill>
                  <a:srgbClr val="272525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0"/>
              </a:rPr>
              <a:t>CREATIVITY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365716" y="2152551"/>
            <a:ext cx="2197243" cy="2985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74320" indent="-274320">
              <a:lnSpc>
                <a:spcPct val="125000"/>
              </a:lnSpc>
              <a:buSzPct val="100000"/>
              <a:buChar char="•"/>
            </a:pPr>
            <a:r>
              <a:rPr lang="en-US" sz="1350" spc="-27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Three-tier decision output: Benign / Suspicious / Phishing</a:t>
            </a:r>
            <a:endParaRPr lang="en-US" sz="1350" dirty="0"/>
          </a:p>
          <a:p>
            <a:pPr algn="l" marL="274320" indent="-274320">
              <a:lnSpc>
                <a:spcPct val="125000"/>
              </a:lnSpc>
              <a:buSzPct val="100000"/>
              <a:buChar char="•"/>
            </a:pPr>
            <a:r>
              <a:rPr lang="en-US" sz="1350" spc="-27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Confidence scores paired with feature attribution and contextual evidence</a:t>
            </a:r>
            <a:endParaRPr lang="en-US" sz="1350" dirty="0"/>
          </a:p>
          <a:p>
            <a:pPr algn="l" marL="274320" indent="-274320">
              <a:lnSpc>
                <a:spcPct val="125000"/>
              </a:lnSpc>
              <a:buSzPct val="100000"/>
              <a:buChar char="•"/>
            </a:pPr>
            <a:r>
              <a:rPr lang="en-US" sz="1350" spc="-27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Gemini-powered natural-language explanations that explain the factors contributing to each prediction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909224" y="1559322"/>
            <a:ext cx="2584385" cy="4557911"/>
          </a:xfrm>
          <a:prstGeom prst="roundRect">
            <a:avLst>
              <a:gd name="adj" fmla="val 2837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6BA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02795" y="1752898"/>
            <a:ext cx="2197243" cy="308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spc="-39" kern="100" dirty="0">
                <a:solidFill>
                  <a:srgbClr val="272525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0"/>
              </a:rPr>
              <a:t>FEASIBILITY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9102795" y="2152551"/>
            <a:ext cx="2197243" cy="2462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74320" indent="-274320">
              <a:lnSpc>
                <a:spcPct val="125000"/>
              </a:lnSpc>
              <a:buSzPct val="100000"/>
              <a:buChar char="•"/>
            </a:pPr>
            <a:r>
              <a:rPr lang="en-US" sz="1350" spc="-27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FastAPI backend + interactive React web interface</a:t>
            </a:r>
            <a:endParaRPr lang="en-US" sz="1350" dirty="0"/>
          </a:p>
          <a:p>
            <a:pPr algn="l" marL="274320" indent="-274320">
              <a:lnSpc>
                <a:spcPct val="125000"/>
              </a:lnSpc>
              <a:buSzPct val="100000"/>
              <a:buChar char="•"/>
            </a:pPr>
            <a:r>
              <a:rPr lang="en-US" sz="1350" spc="-27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Practical URL-only fallback when webpage content cannot be retrieved</a:t>
            </a:r>
            <a:endParaRPr lang="en-US" sz="1350" dirty="0"/>
          </a:p>
          <a:p>
            <a:pPr algn="l" marL="274320" indent="-274320">
              <a:lnSpc>
                <a:spcPct val="125000"/>
              </a:lnSpc>
              <a:buSzPct val="100000"/>
              <a:buChar char="•"/>
            </a:pPr>
            <a:r>
              <a:rPr lang="en-US" sz="1350" spc="-27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Deployable end-to-end system with real-time analysis capability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801084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spc="-74" kern="10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Clients &amp; Application Areas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98086" y="2668488"/>
            <a:ext cx="1140510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Where phishing detection creates the most value across industries and user groups.</a:t>
            </a:r>
            <a:endParaRPr lang="en-US" sz="1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086" y="3212009"/>
            <a:ext cx="498661" cy="49867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46077" y="3212009"/>
            <a:ext cx="452505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7" kern="1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Banks &amp; Financial Institutions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446077" y="3624957"/>
            <a:ext cx="4525056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Detect </a:t>
            </a:r>
            <a:pPr algn="l" indent="0" marL="0">
              <a:lnSpc>
                <a:spcPct val="133000"/>
              </a:lnSpc>
              <a:buNone/>
            </a:pPr>
            <a:r>
              <a:rPr lang="en-US" sz="1550" b="1" spc="-31" kern="10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0"/>
              </a:rPr>
              <a:t>fake banking and payment websites</a:t>
            </a:r>
            <a:pPr algn="l" indent="0" marL="0">
              <a:lnSpc>
                <a:spcPct val="133000"/>
              </a:lnSpc>
              <a:buNone/>
            </a:pPr>
            <a:r>
              <a:rPr lang="en-US" sz="1550" spc="-31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.</a:t>
            </a:r>
            <a:endParaRPr lang="en-US" sz="15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20463" y="3212009"/>
            <a:ext cx="498661" cy="49867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68455" y="3212009"/>
            <a:ext cx="4525155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7" kern="1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E-commerce Companies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6968455" y="3624957"/>
            <a:ext cx="4525155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Identify </a:t>
            </a:r>
            <a:pPr algn="l" indent="0" marL="0">
              <a:lnSpc>
                <a:spcPct val="133000"/>
              </a:lnSpc>
              <a:buNone/>
            </a:pPr>
            <a:r>
              <a:rPr lang="en-US" sz="1550" b="1" spc="-31" kern="10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0"/>
              </a:rPr>
              <a:t>fraudulent shopping and payment pages</a:t>
            </a:r>
            <a:pPr algn="l" indent="0" marL="0">
              <a:lnSpc>
                <a:spcPct val="133000"/>
              </a:lnSpc>
              <a:buNone/>
            </a:pPr>
            <a:r>
              <a:rPr lang="en-US" sz="1550" spc="-31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.</a:t>
            </a:r>
            <a:endParaRPr lang="en-US" sz="15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8086" y="4343102"/>
            <a:ext cx="498661" cy="49867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46077" y="4343102"/>
            <a:ext cx="452505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7" kern="1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Cybersecurity Organizations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1446077" y="4756051"/>
            <a:ext cx="4525056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Monitor and detect </a:t>
            </a:r>
            <a:pPr algn="l" indent="0" marL="0">
              <a:lnSpc>
                <a:spcPct val="133000"/>
              </a:lnSpc>
              <a:buNone/>
            </a:pPr>
            <a:r>
              <a:rPr lang="en-US" sz="1550" b="1" spc="-31" kern="10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0"/>
              </a:rPr>
              <a:t>phishing threats</a:t>
            </a:r>
            <a:pPr algn="l" indent="0" marL="0">
              <a:lnSpc>
                <a:spcPct val="133000"/>
              </a:lnSpc>
              <a:buNone/>
            </a:pPr>
            <a:r>
              <a:rPr lang="en-US" sz="1550" spc="-31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.</a:t>
            </a:r>
            <a:endParaRPr lang="en-US" sz="15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20463" y="4343102"/>
            <a:ext cx="498661" cy="49867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968455" y="4343102"/>
            <a:ext cx="4525155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7" kern="1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Educational Institutions &amp; Students</a:t>
            </a:r>
            <a:endParaRPr lang="en-US" sz="1800" dirty="0"/>
          </a:p>
        </p:txBody>
      </p:sp>
      <p:sp>
        <p:nvSpPr>
          <p:cNvPr id="15" name="Text 9"/>
          <p:cNvSpPr/>
          <p:nvPr/>
        </p:nvSpPr>
        <p:spPr>
          <a:xfrm>
            <a:off x="6968455" y="4756051"/>
            <a:ext cx="4525155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Improve awareness and protection against </a:t>
            </a:r>
            <a:pPr algn="l" indent="0" marL="0">
              <a:lnSpc>
                <a:spcPct val="133000"/>
              </a:lnSpc>
              <a:buNone/>
            </a:pPr>
            <a:r>
              <a:rPr lang="en-US" sz="1550" b="1" spc="-31" kern="10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0"/>
              </a:rPr>
              <a:t>phishing</a:t>
            </a:r>
            <a:pPr algn="l" indent="0" marL="0">
              <a:lnSpc>
                <a:spcPct val="133000"/>
              </a:lnSpc>
              <a:buNone/>
            </a:pPr>
            <a:r>
              <a:rPr lang="en-US" sz="1550" spc="-31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687388"/>
            <a:ext cx="967656" cy="5024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1511314"/>
            <a:ext cx="10795524" cy="449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spc="-57" kern="10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PROJECT PLAN</a:t>
            </a:r>
            <a:endParaRPr lang="en-US" sz="28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086" y="2121098"/>
            <a:ext cx="3960317" cy="418097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05688" y="219075"/>
            <a:ext cx="349837" cy="100409"/>
          </a:xfrm>
          <a:prstGeom prst="roundRect">
            <a:avLst>
              <a:gd name="adj" fmla="val 22137"/>
            </a:avLst>
          </a:prstGeom>
          <a:solidFill>
            <a:srgbClr val="F0D4F7"/>
          </a:solidFill>
          <a:ln/>
        </p:spPr>
      </p:sp>
      <p:sp>
        <p:nvSpPr>
          <p:cNvPr id="3" name="Text 1"/>
          <p:cNvSpPr/>
          <p:nvPr/>
        </p:nvSpPr>
        <p:spPr>
          <a:xfrm>
            <a:off x="4345375" y="240550"/>
            <a:ext cx="880048" cy="60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400" spc="-10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PHISHXPERT</a:t>
            </a:r>
            <a:endParaRPr lang="en-US" sz="400" dirty="0"/>
          </a:p>
        </p:txBody>
      </p:sp>
      <p:sp>
        <p:nvSpPr>
          <p:cNvPr id="4" name="Shape 2"/>
          <p:cNvSpPr/>
          <p:nvPr/>
        </p:nvSpPr>
        <p:spPr>
          <a:xfrm>
            <a:off x="4688564" y="219075"/>
            <a:ext cx="440719" cy="100409"/>
          </a:xfrm>
          <a:prstGeom prst="roundRect">
            <a:avLst>
              <a:gd name="adj" fmla="val 22137"/>
            </a:avLst>
          </a:prstGeom>
          <a:noFill/>
          <a:ln w="6350">
            <a:solidFill>
              <a:srgbClr val="BE49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28250" y="240550"/>
            <a:ext cx="970930" cy="60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400" spc="-10" kern="100" dirty="0">
                <a:solidFill>
                  <a:srgbClr val="BE49DF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HYBRID PIPELINE</a:t>
            </a:r>
            <a:endParaRPr lang="en-US" sz="400" dirty="0"/>
          </a:p>
        </p:txBody>
      </p:sp>
      <p:sp>
        <p:nvSpPr>
          <p:cNvPr id="6" name="Text 4"/>
          <p:cNvSpPr/>
          <p:nvPr/>
        </p:nvSpPr>
        <p:spPr>
          <a:xfrm>
            <a:off x="4305688" y="351986"/>
            <a:ext cx="3580219" cy="389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-25" kern="10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PROPOSED METHODOLOGY — PHISHXPERT HYBRID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05688" y="834231"/>
            <a:ext cx="4189804" cy="105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500" spc="-10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Clean left-to-right workflow from URL input to final verdict, with fallback handling when webpage retrieval is unavailable.</a:t>
            </a:r>
            <a:endParaRPr lang="en-US" sz="5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05688" y="1014512"/>
            <a:ext cx="1193373" cy="26461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371766" y="1345208"/>
            <a:ext cx="1061217" cy="97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spc="-12" kern="1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1. Input URL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4371766" y="1482130"/>
            <a:ext cx="1061217" cy="3175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500" spc="-10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Receive the target URL and attempt webpage retrieval. If retrieval fails, switch to URL-only analysis.</a:t>
            </a:r>
            <a:endParaRPr lang="en-US" sz="5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9062" y="1014512"/>
            <a:ext cx="1193373" cy="2646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65140" y="1345208"/>
            <a:ext cx="1061217" cy="194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spc="-12" kern="1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2. URL + HTML Feature Extraction</a:t>
            </a:r>
            <a:endParaRPr lang="en-US" sz="600" dirty="0"/>
          </a:p>
        </p:txBody>
      </p:sp>
      <p:sp>
        <p:nvSpPr>
          <p:cNvPr id="13" name="Text 9"/>
          <p:cNvSpPr/>
          <p:nvPr/>
        </p:nvSpPr>
        <p:spPr>
          <a:xfrm>
            <a:off x="5565140" y="1579364"/>
            <a:ext cx="1061217" cy="3175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500" spc="-10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Extract 23 engineered features: 13 URL, 2 HTML content, 3 hyperlink, and 5 form features.</a:t>
            </a:r>
            <a:endParaRPr lang="en-US" sz="5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2435" y="1014512"/>
            <a:ext cx="1193373" cy="26461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758513" y="1345208"/>
            <a:ext cx="1061217" cy="97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spc="-12" kern="1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3. Webpage Text Encoding</a:t>
            </a:r>
            <a:endParaRPr lang="en-US" sz="600" dirty="0"/>
          </a:p>
        </p:txBody>
      </p:sp>
      <p:sp>
        <p:nvSpPr>
          <p:cNvPr id="16" name="Text 11"/>
          <p:cNvSpPr/>
          <p:nvPr/>
        </p:nvSpPr>
        <p:spPr>
          <a:xfrm>
            <a:off x="6758513" y="1482130"/>
            <a:ext cx="1061217" cy="423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500" spc="-10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Extract visible webpage text, pass the first 512 characters to a frozen DistilBERT encoder, and obtain a 768-dimensional first-token representation.</a:t>
            </a:r>
            <a:endParaRPr lang="en-US" sz="5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5688" y="1971675"/>
            <a:ext cx="1193373" cy="26461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371766" y="2302371"/>
            <a:ext cx="1061217" cy="97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spc="-12" kern="1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4. Hybrid Feature Fusion</a:t>
            </a:r>
            <a:endParaRPr lang="en-US" sz="600" dirty="0"/>
          </a:p>
        </p:txBody>
      </p:sp>
      <p:sp>
        <p:nvSpPr>
          <p:cNvPr id="19" name="Text 13"/>
          <p:cNvSpPr/>
          <p:nvPr/>
        </p:nvSpPr>
        <p:spPr>
          <a:xfrm>
            <a:off x="4371766" y="2439293"/>
            <a:ext cx="1061217" cy="3175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500" spc="-10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Concatenate engineered features and DistilBERT embedding to form </a:t>
            </a:r>
            <a:pPr algn="l" indent="0" marL="0">
              <a:lnSpc>
                <a:spcPct val="133000"/>
              </a:lnSpc>
              <a:buNone/>
            </a:pPr>
            <a:r>
              <a:rPr lang="en-US" sz="500" b="1" spc="-10" kern="10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0"/>
              </a:rPr>
              <a:t>z = [x ; e] ∈ R791</a:t>
            </a:r>
            <a:pPr algn="l" indent="0" marL="0">
              <a:lnSpc>
                <a:spcPct val="133000"/>
              </a:lnSpc>
              <a:buNone/>
            </a:pPr>
            <a:r>
              <a:rPr lang="en-US" sz="500" spc="-10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.</a:t>
            </a:r>
            <a:endParaRPr lang="en-US" sz="5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9062" y="1971675"/>
            <a:ext cx="1193373" cy="26461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565140" y="2302371"/>
            <a:ext cx="1061217" cy="97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spc="-12" kern="1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5. LightGBM Classification</a:t>
            </a:r>
            <a:endParaRPr lang="en-US" sz="600" dirty="0"/>
          </a:p>
        </p:txBody>
      </p:sp>
      <p:sp>
        <p:nvSpPr>
          <p:cNvPr id="22" name="Text 15"/>
          <p:cNvSpPr/>
          <p:nvPr/>
        </p:nvSpPr>
        <p:spPr>
          <a:xfrm>
            <a:off x="5565140" y="2439293"/>
            <a:ext cx="1061217" cy="3175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500" spc="-10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Pass the 791-dimensional vector to LightGBM to obtain the phishing probability and final ML prediction.</a:t>
            </a:r>
            <a:endParaRPr lang="en-US" sz="5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2435" y="1971675"/>
            <a:ext cx="1193373" cy="264616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758513" y="2302371"/>
            <a:ext cx="1061217" cy="97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spc="-12" kern="1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6. Explainability &amp; Evidence</a:t>
            </a:r>
            <a:endParaRPr lang="en-US" sz="600" dirty="0"/>
          </a:p>
        </p:txBody>
      </p:sp>
      <p:sp>
        <p:nvSpPr>
          <p:cNvPr id="25" name="Text 17"/>
          <p:cNvSpPr/>
          <p:nvPr/>
        </p:nvSpPr>
        <p:spPr>
          <a:xfrm>
            <a:off x="6758513" y="2439293"/>
            <a:ext cx="1061217" cy="529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500" spc="-10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TreeSHAP provides feature attribution, domain verification checks trusted-domain information, webpage evidence captures forms and password fields, and RAG retrieves cybersecurity knowledge.</a:t>
            </a:r>
            <a:endParaRPr lang="en-US" sz="50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05688" y="3034705"/>
            <a:ext cx="1193373" cy="264616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4371766" y="3365401"/>
            <a:ext cx="1061217" cy="194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spc="-12" kern="1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7. Final Verdict &amp; Explanation</a:t>
            </a:r>
            <a:endParaRPr lang="en-US" sz="600" dirty="0"/>
          </a:p>
        </p:txBody>
      </p:sp>
      <p:sp>
        <p:nvSpPr>
          <p:cNvPr id="28" name="Text 19"/>
          <p:cNvSpPr/>
          <p:nvPr/>
        </p:nvSpPr>
        <p:spPr>
          <a:xfrm>
            <a:off x="4371766" y="3599557"/>
            <a:ext cx="1061217" cy="529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500" spc="-10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Combine prediction, confidence, and available evidence; Gemini generates the natural-language explanation without changing the classification outcome.</a:t>
            </a:r>
            <a:endParaRPr lang="en-US" sz="500" dirty="0"/>
          </a:p>
        </p:txBody>
      </p:sp>
      <p:sp>
        <p:nvSpPr>
          <p:cNvPr id="29" name="Shape 20"/>
          <p:cNvSpPr/>
          <p:nvPr/>
        </p:nvSpPr>
        <p:spPr>
          <a:xfrm>
            <a:off x="4258065" y="4269383"/>
            <a:ext cx="1804645" cy="1376859"/>
          </a:xfrm>
          <a:prstGeom prst="roundRect">
            <a:avLst>
              <a:gd name="adj" fmla="val 3459"/>
            </a:avLst>
          </a:prstGeom>
          <a:solidFill>
            <a:srgbClr val="F3EEFF">
              <a:alpha val="95000"/>
            </a:srgbClr>
          </a:solidFill>
          <a:ln/>
        </p:spPr>
      </p:sp>
      <p:sp>
        <p:nvSpPr>
          <p:cNvPr id="30" name="Shape 21"/>
          <p:cNvSpPr/>
          <p:nvPr/>
        </p:nvSpPr>
        <p:spPr>
          <a:xfrm>
            <a:off x="4324143" y="4343797"/>
            <a:ext cx="553726" cy="100409"/>
          </a:xfrm>
          <a:prstGeom prst="roundRect">
            <a:avLst>
              <a:gd name="adj" fmla="val 22137"/>
            </a:avLst>
          </a:prstGeom>
          <a:solidFill>
            <a:srgbClr val="F0D4F7"/>
          </a:solidFill>
          <a:ln/>
        </p:spPr>
      </p:sp>
      <p:sp>
        <p:nvSpPr>
          <p:cNvPr id="31" name="Text 22"/>
          <p:cNvSpPr/>
          <p:nvPr/>
        </p:nvSpPr>
        <p:spPr>
          <a:xfrm>
            <a:off x="4363829" y="4365272"/>
            <a:ext cx="1083938" cy="60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400" spc="-10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MODEL FORMULATION</a:t>
            </a:r>
            <a:endParaRPr lang="en-US" sz="400" dirty="0"/>
          </a:p>
        </p:txBody>
      </p:sp>
      <p:sp>
        <p:nvSpPr>
          <p:cNvPr id="32" name="Text 23"/>
          <p:cNvSpPr/>
          <p:nvPr/>
        </p:nvSpPr>
        <p:spPr>
          <a:xfrm>
            <a:off x="4324143" y="4473653"/>
            <a:ext cx="1672489" cy="97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spc="-12" kern="10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791-D Hybrid Representation</a:t>
            </a:r>
            <a:endParaRPr lang="en-US" sz="600" dirty="0"/>
          </a:p>
        </p:txBody>
      </p:sp>
      <p:sp>
        <p:nvSpPr>
          <p:cNvPr id="33" name="Text 24"/>
          <p:cNvSpPr/>
          <p:nvPr/>
        </p:nvSpPr>
        <p:spPr>
          <a:xfrm>
            <a:off x="4324143" y="4633912"/>
            <a:ext cx="1672489" cy="952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500" b="1" spc="-10" kern="10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0"/>
              </a:rPr>
              <a:t>23 Engineered Features</a:t>
            </a:r>
            <a:endParaRPr lang="en-US" sz="5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500" spc="-10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+</a:t>
            </a:r>
            <a:endParaRPr lang="en-US" sz="5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500" b="1" spc="-10" kern="10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0"/>
              </a:rPr>
              <a:t>768-D DistilBERT Embedding</a:t>
            </a:r>
            <a:endParaRPr lang="en-US" sz="5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500" spc="-10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=</a:t>
            </a:r>
            <a:endParaRPr lang="en-US" sz="5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500" b="1" spc="-10" kern="10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0"/>
              </a:rPr>
              <a:t>791-D Hybrid Representation</a:t>
            </a:r>
            <a:endParaRPr lang="en-US" sz="5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500" spc="-10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↓</a:t>
            </a:r>
            <a:endParaRPr lang="en-US" sz="5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500" b="1" spc="-10" kern="10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0"/>
              </a:rPr>
              <a:t>LightGBM</a:t>
            </a:r>
            <a:endParaRPr lang="en-US" sz="5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500" spc="-10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↓</a:t>
            </a:r>
            <a:endParaRPr lang="en-US" sz="5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500" b="1" spc="-10" kern="10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0"/>
              </a:rPr>
              <a:t>Phishing Probability</a:t>
            </a:r>
            <a:endParaRPr lang="en-US" sz="500" dirty="0"/>
          </a:p>
        </p:txBody>
      </p:sp>
      <p:sp>
        <p:nvSpPr>
          <p:cNvPr id="34" name="Shape 25"/>
          <p:cNvSpPr/>
          <p:nvPr/>
        </p:nvSpPr>
        <p:spPr>
          <a:xfrm>
            <a:off x="6178495" y="4343797"/>
            <a:ext cx="565037" cy="100409"/>
          </a:xfrm>
          <a:prstGeom prst="roundRect">
            <a:avLst>
              <a:gd name="adj" fmla="val 22137"/>
            </a:avLst>
          </a:prstGeom>
          <a:noFill/>
          <a:ln w="6350">
            <a:solidFill>
              <a:srgbClr val="BE49DF"/>
            </a:solidFill>
            <a:prstDash val="solid"/>
          </a:ln>
        </p:spPr>
      </p:sp>
      <p:sp>
        <p:nvSpPr>
          <p:cNvPr id="35" name="Text 26"/>
          <p:cNvSpPr/>
          <p:nvPr/>
        </p:nvSpPr>
        <p:spPr>
          <a:xfrm>
            <a:off x="6218181" y="4365272"/>
            <a:ext cx="1095248" cy="60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400" spc="-10" kern="100" dirty="0">
                <a:solidFill>
                  <a:srgbClr val="BE49DF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FALLBACK MECHANISM</a:t>
            </a:r>
            <a:endParaRPr lang="en-US" sz="400" dirty="0"/>
          </a:p>
        </p:txBody>
      </p:sp>
      <p:sp>
        <p:nvSpPr>
          <p:cNvPr id="36" name="Text 27"/>
          <p:cNvSpPr/>
          <p:nvPr/>
        </p:nvSpPr>
        <p:spPr>
          <a:xfrm>
            <a:off x="6178495" y="4473653"/>
            <a:ext cx="1709397" cy="97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spc="-12" kern="10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Retrieval Failure Handling</a:t>
            </a:r>
            <a:endParaRPr lang="en-US" sz="600" dirty="0"/>
          </a:p>
        </p:txBody>
      </p:sp>
      <p:sp>
        <p:nvSpPr>
          <p:cNvPr id="37" name="Text 28"/>
          <p:cNvSpPr/>
          <p:nvPr/>
        </p:nvSpPr>
        <p:spPr>
          <a:xfrm>
            <a:off x="6178495" y="4633912"/>
            <a:ext cx="1709397" cy="529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500" spc="-10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WEBPAGE RETRIEVAL FAILURE</a:t>
            </a:r>
            <a:endParaRPr lang="en-US" sz="5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500" spc="-10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↓</a:t>
            </a:r>
            <a:endParaRPr lang="en-US" sz="5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500" spc="-10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URL-ONLY ANALYSIS</a:t>
            </a:r>
            <a:endParaRPr lang="en-US" sz="5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500" spc="-10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↓</a:t>
            </a:r>
            <a:endParaRPr lang="en-US" sz="5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500" spc="-10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Reduced evidence availability is explicitly reported.</a:t>
            </a:r>
            <a:endParaRPr lang="en-US" sz="500" dirty="0"/>
          </a:p>
        </p:txBody>
      </p:sp>
      <p:sp>
        <p:nvSpPr>
          <p:cNvPr id="38" name="Shape 29"/>
          <p:cNvSpPr/>
          <p:nvPr/>
        </p:nvSpPr>
        <p:spPr>
          <a:xfrm>
            <a:off x="4305688" y="5737126"/>
            <a:ext cx="3580219" cy="8334"/>
          </a:xfrm>
          <a:prstGeom prst="roundRect">
            <a:avLst>
              <a:gd name="adj" fmla="val 50001"/>
            </a:avLst>
          </a:prstGeom>
          <a:solidFill>
            <a:srgbClr val="272525">
              <a:alpha val="50000"/>
            </a:srgbClr>
          </a:solidFill>
          <a:ln/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303704" y="5834360"/>
            <a:ext cx="1151306" cy="806450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4411850" y="5908774"/>
            <a:ext cx="970732" cy="97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spc="-12" kern="1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Feature Extraction</a:t>
            </a:r>
            <a:endParaRPr lang="en-US" sz="600" dirty="0"/>
          </a:p>
        </p:txBody>
      </p:sp>
      <p:sp>
        <p:nvSpPr>
          <p:cNvPr id="41" name="Text 31"/>
          <p:cNvSpPr/>
          <p:nvPr/>
        </p:nvSpPr>
        <p:spPr>
          <a:xfrm>
            <a:off x="4411850" y="6045696"/>
            <a:ext cx="970732" cy="3175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500" spc="-10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URL, HTML, hyperlink, and form indicators distilled into 23 engineered features.</a:t>
            </a:r>
            <a:endParaRPr lang="en-US" sz="500" dirty="0"/>
          </a:p>
        </p:txBody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519103" y="5834360"/>
            <a:ext cx="1151306" cy="806450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5627249" y="5908774"/>
            <a:ext cx="970732" cy="97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spc="-12" kern="1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Semantic Encoding</a:t>
            </a:r>
            <a:endParaRPr lang="en-US" sz="600" dirty="0"/>
          </a:p>
        </p:txBody>
      </p:sp>
      <p:sp>
        <p:nvSpPr>
          <p:cNvPr id="44" name="Text 33"/>
          <p:cNvSpPr/>
          <p:nvPr/>
        </p:nvSpPr>
        <p:spPr>
          <a:xfrm>
            <a:off x="5627249" y="6045696"/>
            <a:ext cx="970732" cy="3175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500" spc="-10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Frozen DistilBERT encodes the first 512 characters of visible webpage text into a 768-D vector.</a:t>
            </a:r>
            <a:endParaRPr lang="en-US" sz="500" dirty="0"/>
          </a:p>
        </p:txBody>
      </p:sp>
      <p:pic>
        <p:nvPicPr>
          <p:cNvPr id="45" name="Image 9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734503" y="5834360"/>
            <a:ext cx="1151306" cy="806450"/>
          </a:xfrm>
          <a:prstGeom prst="rect">
            <a:avLst/>
          </a:prstGeom>
        </p:spPr>
      </p:pic>
      <p:sp>
        <p:nvSpPr>
          <p:cNvPr id="46" name="Text 34"/>
          <p:cNvSpPr/>
          <p:nvPr/>
        </p:nvSpPr>
        <p:spPr>
          <a:xfrm>
            <a:off x="6842648" y="5908774"/>
            <a:ext cx="970732" cy="194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spc="-12" kern="1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Classification + Explainability</a:t>
            </a:r>
            <a:endParaRPr lang="en-US" sz="600" dirty="0"/>
          </a:p>
        </p:txBody>
      </p:sp>
      <p:sp>
        <p:nvSpPr>
          <p:cNvPr id="47" name="Text 35"/>
          <p:cNvSpPr/>
          <p:nvPr/>
        </p:nvSpPr>
        <p:spPr>
          <a:xfrm>
            <a:off x="6842648" y="6142930"/>
            <a:ext cx="970732" cy="423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500" spc="-10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LightGBM produces the prediction; TreeSHAP, domain verification, webpage evidence, RAG, and Gemini support the explanation.</a:t>
            </a:r>
            <a:endParaRPr lang="en-US" sz="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86300" y="476626"/>
            <a:ext cx="8419096" cy="457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50" spc="-58" kern="10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SYSTEM ARCHITECTURE</a:t>
            </a:r>
            <a:endParaRPr lang="en-US" sz="2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6300" y="1230809"/>
            <a:ext cx="8419096" cy="474116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89006"/>
            <a:ext cx="10795524" cy="421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spc="-53" kern="10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MODERN TOOLS &amp; TECHNOLOGIES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698086" y="1204714"/>
            <a:ext cx="11405108" cy="197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spc="-23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Core technologies used across feature engineering, evidence fusion, inference, explanation, and deployment.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086" y="1517650"/>
          <a:ext cx="10795524" cy="914400"/>
        </p:xfrm>
        <a:graphic>
          <a:graphicData uri="http://schemas.openxmlformats.org/drawingml/2006/table">
            <a:tbl>
              <a:tblPr/>
              <a:tblGrid>
                <a:gridCol w="3022735"/>
                <a:gridCol w="7772789"/>
              </a:tblGrid>
              <a:tr h="33654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spc="-23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Category</a:t>
                      </a:r>
                      <a:endParaRPr lang="en-US" sz="11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43376" marR="143376" marT="6350" marB="6350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spc="-23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Technologies</a:t>
                      </a:r>
                      <a:endParaRPr lang="en-US" sz="11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43376" marR="143376" marT="6350" marB="6350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97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spc="-23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Programming &amp; Data Processing</a:t>
                      </a:r>
                      <a:endParaRPr lang="en-US" sz="11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43376" marR="143376" marT="6350" marB="6350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spc="-23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Python, TypeScript, Pandas, NumPy, Scikit-learn</a:t>
                      </a:r>
                      <a:endParaRPr lang="en-US" sz="11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43376" marR="143376" marT="6350" marB="6350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6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spc="-23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Feature Extraction</a:t>
                      </a:r>
                      <a:endParaRPr lang="en-US" sz="11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43376" marR="143376" marT="6350" marB="6350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spc="-23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BeautifulSoup, Requests, </a:t>
                      </a:r>
                      <a:pPr algn="l" indent="0" marL="0">
                        <a:buNone/>
                      </a:pPr>
                      <a:r>
                        <a:rPr lang="en-US" sz="1100" b="1" spc="-23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23 Engineered Features</a:t>
                      </a:r>
                      <a:pPr algn="l" indent="0" marL="0">
                        <a:buNone/>
                      </a:pPr>
                      <a:r>
                        <a:rPr lang="en-US" sz="1100" spc="-23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 (URL structure, entropy, suspicious keywords, hyperlinks, external links, forms, password fields, login indicators)</a:t>
                      </a:r>
                      <a:endParaRPr lang="en-US" sz="11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43376" marR="143376" marT="6350" marB="6350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97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spc="-23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Semantic Encoding</a:t>
                      </a:r>
                      <a:endParaRPr lang="en-US" sz="11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43376" marR="143376" marT="6350" marB="6350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spc="-23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DistilBERT</a:t>
                      </a:r>
                      <a:pPr algn="l" indent="0" marL="0">
                        <a:buNone/>
                      </a:pPr>
                      <a:r>
                        <a:rPr lang="en-US" sz="1100" b="1" spc="-23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 (distilbert-base-uncased, frozen encoder, 768-dimensional embedding)</a:t>
                      </a:r>
                      <a:endParaRPr lang="en-US" sz="11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43376" marR="143376" marT="6350" marB="6350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97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spc="-23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Proposed ML Model</a:t>
                      </a:r>
                      <a:endParaRPr lang="en-US" sz="11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43376" marR="143376" marT="6350" marB="6350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spc="-23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LightGBM</a:t>
                      </a:r>
                      <a:pPr algn="l" indent="0" marL="0">
                        <a:buNone/>
                      </a:pPr>
                      <a:r>
                        <a:rPr lang="en-US" sz="1100" b="1" spc="-23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 (300 estimators, learning rate 0.05, 31 leaves, random state 42)</a:t>
                      </a:r>
                      <a:endParaRPr lang="en-US" sz="11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43376" marR="143376" marT="6350" marB="6350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97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spc="-23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Model Explainability</a:t>
                      </a:r>
                      <a:endParaRPr lang="en-US" sz="11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43376" marR="143376" marT="6350" marB="6350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spc="-23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TreeSHAP</a:t>
                      </a:r>
                      <a:pPr algn="l" indent="0" marL="0">
                        <a:buNone/>
                      </a:pPr>
                      <a:r>
                        <a:rPr lang="en-US" sz="1100" b="1" spc="-23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 (feature-level attribution, global importance analysis)</a:t>
                      </a:r>
                      <a:endParaRPr lang="en-US" sz="11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43376" marR="143376" marT="6350" marB="6350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97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spc="-23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Baseline ML Models</a:t>
                      </a:r>
                      <a:endParaRPr lang="en-US" sz="11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43376" marR="143376" marT="6350" marB="6350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spc="-23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Random Forest, XGBoost, CatBoost</a:t>
                      </a:r>
                      <a:endParaRPr lang="en-US" sz="11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43376" marR="143376" marT="6350" marB="6350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97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spc="-23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Security Intelligence</a:t>
                      </a:r>
                      <a:endParaRPr lang="en-US" sz="11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43376" marR="143376" marT="6350" marB="6350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spc="-23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RAG / TF-IDF (cybersecurity knowledge retrieval), Domain Verification (trusted-domain checking)</a:t>
                      </a:r>
                      <a:endParaRPr lang="en-US" sz="11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43376" marR="143376" marT="6350" marB="6350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6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spc="-23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LLM Explanation</a:t>
                      </a:r>
                      <a:endParaRPr lang="en-US" sz="11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43376" marR="143376" marT="6350" marB="6350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spc="-23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Gemini (natural-language explanation generation, uses model prediction and retrieved evidence, does NOT change classifier decision)</a:t>
                      </a:r>
                      <a:endParaRPr lang="en-US" sz="11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43376" marR="143376" marT="6350" marB="6350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97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spc="-23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Backend &amp; API</a:t>
                      </a:r>
                      <a:endParaRPr lang="en-US" sz="11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43376" marR="143376" marT="6350" marB="6350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spc="-23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FastAPI</a:t>
                      </a:r>
                      <a:pPr algn="l" indent="0" marL="0">
                        <a:buNone/>
                      </a:pPr>
                      <a:r>
                        <a:rPr lang="en-US" sz="1100" b="1" spc="-23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 (REST API, prediction endpoint, model inference, feature extraction, webpage retrieval, URL-only fallback)</a:t>
                      </a:r>
                      <a:endParaRPr lang="en-US" sz="11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43376" marR="143376" marT="6350" marB="6350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654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spc="-23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Frontend</a:t>
                      </a:r>
                      <a:endParaRPr lang="en-US" sz="11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43376" marR="143376" marT="6350" marB="6350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spc="-23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React</a:t>
                      </a:r>
                      <a:pPr algn="l" indent="0" marL="0">
                        <a:buNone/>
                      </a:pPr>
                      <a:r>
                        <a:rPr lang="en-US" sz="1100" b="1" spc="-23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 (interactive web interface), TypeScript (frontend logic), Vite (development/build tooling), Tailwind CSS (UI styling)</a:t>
                      </a:r>
                      <a:endParaRPr lang="en-US" sz="11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43376" marR="143376" marT="6350" marB="6350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98086" y="5770959"/>
            <a:ext cx="10795524" cy="509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100" b="1" spc="-23" kern="10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0"/>
              </a:rPr>
              <a:t>URL + HTML → 23 Features + DistilBERT → 791-D Fusion → LightGBM → TreeSHAP + Evidence → RAG + Gemini → FastAPI → React / TypeScript / Vite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b="1" spc="-23" kern="10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0"/>
              </a:rPr>
              <a:t>23 + 768 = 791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52885" y="250256"/>
            <a:ext cx="4085825" cy="221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28" kern="10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IMPLEMENTATION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052885" y="616148"/>
            <a:ext cx="150908" cy="943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spc="-12" kern="1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01</a:t>
            </a:r>
            <a:endParaRPr lang="en-US" sz="550" dirty="0"/>
          </a:p>
        </p:txBody>
      </p:sp>
      <p:sp>
        <p:nvSpPr>
          <p:cNvPr id="4" name="Shape 2"/>
          <p:cNvSpPr/>
          <p:nvPr/>
        </p:nvSpPr>
        <p:spPr>
          <a:xfrm>
            <a:off x="4052885" y="734913"/>
            <a:ext cx="2005161" cy="9525"/>
          </a:xfrm>
          <a:prstGeom prst="rect">
            <a:avLst/>
          </a:prstGeom>
          <a:solidFill>
            <a:srgbClr val="BE49DF"/>
          </a:solidFill>
          <a:ln/>
        </p:spPr>
      </p:sp>
      <p:sp>
        <p:nvSpPr>
          <p:cNvPr id="5" name="Text 3"/>
          <p:cNvSpPr/>
          <p:nvPr/>
        </p:nvSpPr>
        <p:spPr>
          <a:xfrm>
            <a:off x="4052885" y="791666"/>
            <a:ext cx="2005161" cy="110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spc="-14" kern="1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Stage 01 — Data &amp; Preprocessing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4052885" y="947837"/>
            <a:ext cx="2005161" cy="709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11760" indent="-111760">
              <a:lnSpc>
                <a:spcPct val="133000"/>
              </a:lnSpc>
              <a:buSzPct val="100000"/>
              <a:buChar char="•"/>
            </a:pPr>
            <a:r>
              <a:rPr lang="en-US" sz="550" spc="-12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D1 dataset for controlled development</a:t>
            </a:r>
            <a:endParaRPr lang="en-US" sz="550" dirty="0"/>
          </a:p>
          <a:p>
            <a:pPr algn="l" marL="111760" indent="-111760">
              <a:lnSpc>
                <a:spcPct val="133000"/>
              </a:lnSpc>
              <a:buSzPct val="100000"/>
              <a:buChar char="•"/>
            </a:pPr>
            <a:r>
              <a:rPr lang="en-US" sz="550" spc="-12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Balanced 5,000-page subset: 2,500 benign + 2,500 phishing</a:t>
            </a:r>
            <a:endParaRPr lang="en-US" sz="550" dirty="0"/>
          </a:p>
          <a:p>
            <a:pPr algn="l" marL="111760" indent="-111760">
              <a:lnSpc>
                <a:spcPct val="133000"/>
              </a:lnSpc>
              <a:buSzPct val="100000"/>
              <a:buChar char="•"/>
            </a:pPr>
            <a:r>
              <a:rPr lang="en-US" sz="550" spc="-12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Stratified 80:20 split: 4,000 training / 1,000 testing</a:t>
            </a:r>
            <a:endParaRPr lang="en-US" sz="550" dirty="0"/>
          </a:p>
          <a:p>
            <a:pPr algn="l" marL="111760" indent="-111760">
              <a:lnSpc>
                <a:spcPct val="133000"/>
              </a:lnSpc>
              <a:buSzPct val="100000"/>
              <a:buChar char="•"/>
            </a:pPr>
            <a:r>
              <a:rPr lang="en-US" sz="550" spc="-12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Normalize URLs and extract visible webpage text</a:t>
            </a:r>
            <a:endParaRPr lang="en-US" sz="550" dirty="0"/>
          </a:p>
          <a:p>
            <a:pPr algn="l" marL="111760" indent="-111760">
              <a:lnSpc>
                <a:spcPct val="133000"/>
              </a:lnSpc>
              <a:buSzPct val="100000"/>
              <a:buChar char="•"/>
            </a:pPr>
            <a:r>
              <a:rPr lang="en-US" sz="550" spc="-12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Handle missing or empty webpage content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6133450" y="616148"/>
            <a:ext cx="150908" cy="943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spc="-12" kern="1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02</a:t>
            </a:r>
            <a:endParaRPr lang="en-US" sz="550" dirty="0"/>
          </a:p>
        </p:txBody>
      </p:sp>
      <p:sp>
        <p:nvSpPr>
          <p:cNvPr id="8" name="Shape 6"/>
          <p:cNvSpPr/>
          <p:nvPr/>
        </p:nvSpPr>
        <p:spPr>
          <a:xfrm>
            <a:off x="6133450" y="734913"/>
            <a:ext cx="2005260" cy="9525"/>
          </a:xfrm>
          <a:prstGeom prst="rect">
            <a:avLst/>
          </a:prstGeom>
          <a:solidFill>
            <a:srgbClr val="BE49DF"/>
          </a:solidFill>
          <a:ln/>
        </p:spPr>
      </p:sp>
      <p:sp>
        <p:nvSpPr>
          <p:cNvPr id="9" name="Text 7"/>
          <p:cNvSpPr/>
          <p:nvPr/>
        </p:nvSpPr>
        <p:spPr>
          <a:xfrm>
            <a:off x="6133450" y="791666"/>
            <a:ext cx="2005260" cy="110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spc="-14" kern="1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Stage 02 — Feature Engineering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6133450" y="947837"/>
            <a:ext cx="2005260" cy="5621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11760" indent="-111760">
              <a:lnSpc>
                <a:spcPct val="133000"/>
              </a:lnSpc>
              <a:buSzPct val="100000"/>
              <a:buChar char="•"/>
            </a:pPr>
            <a:r>
              <a:rPr lang="en-US" sz="550" spc="-12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Extract 23 engineered URL/HTML features</a:t>
            </a:r>
            <a:endParaRPr lang="en-US" sz="550" dirty="0"/>
          </a:p>
          <a:p>
            <a:pPr algn="l" marL="111760" indent="-111760">
              <a:lnSpc>
                <a:spcPct val="133000"/>
              </a:lnSpc>
              <a:buSzPct val="100000"/>
              <a:buChar char="•"/>
            </a:pPr>
            <a:r>
              <a:rPr lang="en-US" sz="550" spc="-12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URL length, structure, entropy, HTTPS, IP, suspicious keywords</a:t>
            </a:r>
            <a:endParaRPr lang="en-US" sz="550" dirty="0"/>
          </a:p>
          <a:p>
            <a:pPr algn="l" marL="111760" indent="-111760">
              <a:lnSpc>
                <a:spcPct val="133000"/>
              </a:lnSpc>
              <a:buSzPct val="100000"/>
              <a:buChar char="•"/>
            </a:pPr>
            <a:r>
              <a:rPr lang="en-US" sz="550" spc="-12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HTML text length, hyperlink ratio, external links</a:t>
            </a:r>
            <a:endParaRPr lang="en-US" sz="550" dirty="0"/>
          </a:p>
          <a:p>
            <a:pPr algn="l" marL="111760" indent="-111760">
              <a:lnSpc>
                <a:spcPct val="133000"/>
              </a:lnSpc>
              <a:buSzPct val="100000"/>
              <a:buChar char="•"/>
            </a:pPr>
            <a:r>
              <a:rPr lang="en-US" sz="550" spc="-12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Forms, password fields, and login indicators</a:t>
            </a:r>
            <a:endParaRPr lang="en-US" sz="550" dirty="0"/>
          </a:p>
        </p:txBody>
      </p:sp>
      <p:sp>
        <p:nvSpPr>
          <p:cNvPr id="11" name="Text 9"/>
          <p:cNvSpPr/>
          <p:nvPr/>
        </p:nvSpPr>
        <p:spPr>
          <a:xfrm>
            <a:off x="4052885" y="1789113"/>
            <a:ext cx="150908" cy="943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spc="-12" kern="1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03</a:t>
            </a:r>
            <a:endParaRPr lang="en-US" sz="550" dirty="0"/>
          </a:p>
        </p:txBody>
      </p:sp>
      <p:sp>
        <p:nvSpPr>
          <p:cNvPr id="12" name="Shape 10"/>
          <p:cNvSpPr/>
          <p:nvPr/>
        </p:nvSpPr>
        <p:spPr>
          <a:xfrm>
            <a:off x="4052885" y="1907877"/>
            <a:ext cx="2005161" cy="9525"/>
          </a:xfrm>
          <a:prstGeom prst="rect">
            <a:avLst/>
          </a:prstGeom>
          <a:solidFill>
            <a:srgbClr val="BE49DF"/>
          </a:solidFill>
          <a:ln/>
        </p:spPr>
      </p:sp>
      <p:sp>
        <p:nvSpPr>
          <p:cNvPr id="13" name="Text 11"/>
          <p:cNvSpPr/>
          <p:nvPr/>
        </p:nvSpPr>
        <p:spPr>
          <a:xfrm>
            <a:off x="4052885" y="1964630"/>
            <a:ext cx="2005161" cy="110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spc="-14" kern="1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Stage 03 — DistilBERT Semantic Encoding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4052885" y="2120801"/>
            <a:ext cx="2005161" cy="7156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11760" indent="-111760">
              <a:lnSpc>
                <a:spcPct val="133000"/>
              </a:lnSpc>
              <a:buSzPct val="100000"/>
              <a:buChar char="•"/>
            </a:pPr>
            <a:r>
              <a:rPr lang="en-US" sz="550" spc="-12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Frozen </a:t>
            </a:r>
            <a:pPr algn="l" marL="111760" indent="-111760">
              <a:lnSpc>
                <a:spcPct val="133000"/>
              </a:lnSpc>
              <a:buSzPct val="100000"/>
              <a:buChar char="•"/>
            </a:pPr>
            <a:r>
              <a:rPr lang="en-US" sz="550" spc="-12" kern="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distilbert-base-uncased</a:t>
            </a:r>
            <a:endParaRPr lang="en-US" sz="550" dirty="0"/>
          </a:p>
          <a:p>
            <a:pPr algn="l" marL="111760" indent="-111760">
              <a:lnSpc>
                <a:spcPct val="133000"/>
              </a:lnSpc>
              <a:buSzPct val="100000"/>
              <a:buChar char="•"/>
            </a:pPr>
            <a:r>
              <a:rPr lang="en-US" sz="550" spc="-12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Encode visible webpage text</a:t>
            </a:r>
            <a:endParaRPr lang="en-US" sz="550" dirty="0"/>
          </a:p>
          <a:p>
            <a:pPr algn="l" marL="111760" indent="-111760">
              <a:lnSpc>
                <a:spcPct val="133000"/>
              </a:lnSpc>
              <a:buSzPct val="100000"/>
              <a:buChar char="•"/>
            </a:pPr>
            <a:r>
              <a:rPr lang="en-US" sz="550" spc="-12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Use the first 512 characters</a:t>
            </a:r>
            <a:endParaRPr lang="en-US" sz="550" dirty="0"/>
          </a:p>
          <a:p>
            <a:pPr algn="l" marL="111760" indent="-111760">
              <a:lnSpc>
                <a:spcPct val="133000"/>
              </a:lnSpc>
              <a:buSzPct val="100000"/>
              <a:buChar char="•"/>
            </a:pPr>
            <a:r>
              <a:rPr lang="en-US" sz="550" spc="-12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Extract the first-token representation</a:t>
            </a:r>
            <a:endParaRPr lang="en-US" sz="550" dirty="0"/>
          </a:p>
          <a:p>
            <a:pPr algn="l" marL="111760" indent="-111760">
              <a:lnSpc>
                <a:spcPct val="133000"/>
              </a:lnSpc>
              <a:buSzPct val="100000"/>
              <a:buChar char="•"/>
            </a:pPr>
            <a:r>
              <a:rPr lang="en-US" sz="550" spc="-12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Generate a 768-dimensional semantic embedding</a:t>
            </a:r>
            <a:endParaRPr lang="en-US" sz="550" dirty="0"/>
          </a:p>
        </p:txBody>
      </p:sp>
      <p:sp>
        <p:nvSpPr>
          <p:cNvPr id="15" name="Text 13"/>
          <p:cNvSpPr/>
          <p:nvPr/>
        </p:nvSpPr>
        <p:spPr>
          <a:xfrm>
            <a:off x="6133450" y="1789113"/>
            <a:ext cx="150908" cy="943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spc="-12" kern="1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04</a:t>
            </a:r>
            <a:endParaRPr lang="en-US" sz="550" dirty="0"/>
          </a:p>
        </p:txBody>
      </p:sp>
      <p:sp>
        <p:nvSpPr>
          <p:cNvPr id="16" name="Shape 14"/>
          <p:cNvSpPr/>
          <p:nvPr/>
        </p:nvSpPr>
        <p:spPr>
          <a:xfrm>
            <a:off x="6133450" y="1907877"/>
            <a:ext cx="2005260" cy="9525"/>
          </a:xfrm>
          <a:prstGeom prst="rect">
            <a:avLst/>
          </a:prstGeom>
          <a:solidFill>
            <a:srgbClr val="BE49DF"/>
          </a:solidFill>
          <a:ln/>
        </p:spPr>
      </p:sp>
      <p:sp>
        <p:nvSpPr>
          <p:cNvPr id="17" name="Text 15"/>
          <p:cNvSpPr/>
          <p:nvPr/>
        </p:nvSpPr>
        <p:spPr>
          <a:xfrm>
            <a:off x="6133450" y="1964630"/>
            <a:ext cx="2005260" cy="110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spc="-14" kern="1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Stage 04 — Hybrid Model Implementation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6133450" y="2120801"/>
            <a:ext cx="2005260" cy="6829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11760" indent="-111760">
              <a:lnSpc>
                <a:spcPct val="133000"/>
              </a:lnSpc>
              <a:buSzPct val="100000"/>
              <a:buChar char="•"/>
            </a:pPr>
            <a:r>
              <a:rPr lang="en-US" sz="550" spc="-12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Concatenate 23 engineered features + 768-D DistilBERT embedding</a:t>
            </a:r>
            <a:endParaRPr lang="en-US" sz="550" dirty="0"/>
          </a:p>
          <a:p>
            <a:pPr algn="l" marL="111760" indent="-111760">
              <a:lnSpc>
                <a:spcPct val="133000"/>
              </a:lnSpc>
              <a:buSzPct val="100000"/>
              <a:buChar char="•"/>
            </a:pPr>
            <a:r>
              <a:rPr lang="en-US" sz="550" b="1" spc="-12" kern="10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0"/>
              </a:rPr>
              <a:t>791-dimensional hybrid feature vector</a:t>
            </a:r>
            <a:endParaRPr lang="en-US" sz="550" dirty="0"/>
          </a:p>
          <a:p>
            <a:pPr algn="l" marL="111760" indent="-111760">
              <a:lnSpc>
                <a:spcPct val="133000"/>
              </a:lnSpc>
              <a:buSzPct val="100000"/>
              <a:buChar char="•"/>
            </a:pPr>
            <a:r>
              <a:rPr lang="en-US" sz="550" spc="-12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Train LightGBM as the proposed classifier</a:t>
            </a:r>
            <a:endParaRPr lang="en-US" sz="550" dirty="0"/>
          </a:p>
          <a:p>
            <a:pPr algn="l" marL="111760" indent="-111760">
              <a:lnSpc>
                <a:spcPct val="133000"/>
              </a:lnSpc>
              <a:buSzPct val="100000"/>
              <a:buChar char="•"/>
            </a:pPr>
            <a:r>
              <a:rPr lang="en-US" sz="550" spc="-12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300 estimators, learning rate 0.05, 31 leaves, random_state 42</a:t>
            </a:r>
            <a:endParaRPr lang="en-US" sz="550" dirty="0"/>
          </a:p>
        </p:txBody>
      </p:sp>
      <p:sp>
        <p:nvSpPr>
          <p:cNvPr id="19" name="Text 17"/>
          <p:cNvSpPr/>
          <p:nvPr/>
        </p:nvSpPr>
        <p:spPr>
          <a:xfrm>
            <a:off x="4052885" y="2968427"/>
            <a:ext cx="150908" cy="943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spc="-12" kern="1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05</a:t>
            </a:r>
            <a:endParaRPr lang="en-US" sz="550" dirty="0"/>
          </a:p>
        </p:txBody>
      </p:sp>
      <p:sp>
        <p:nvSpPr>
          <p:cNvPr id="20" name="Shape 18"/>
          <p:cNvSpPr/>
          <p:nvPr/>
        </p:nvSpPr>
        <p:spPr>
          <a:xfrm>
            <a:off x="4052885" y="3087191"/>
            <a:ext cx="2005161" cy="9525"/>
          </a:xfrm>
          <a:prstGeom prst="rect">
            <a:avLst/>
          </a:prstGeom>
          <a:solidFill>
            <a:srgbClr val="BE49DF"/>
          </a:solidFill>
          <a:ln/>
        </p:spPr>
      </p:sp>
      <p:sp>
        <p:nvSpPr>
          <p:cNvPr id="21" name="Text 19"/>
          <p:cNvSpPr/>
          <p:nvPr/>
        </p:nvSpPr>
        <p:spPr>
          <a:xfrm>
            <a:off x="4052885" y="3143945"/>
            <a:ext cx="2005161" cy="110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spc="-14" kern="1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Stage 05 — Explainability &amp; Security Intelligence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4052885" y="3300115"/>
            <a:ext cx="2005161" cy="977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11760" indent="-111760">
              <a:lnSpc>
                <a:spcPct val="133000"/>
              </a:lnSpc>
              <a:buSzPct val="100000"/>
              <a:buChar char="•"/>
            </a:pPr>
            <a:r>
              <a:rPr lang="en-US" sz="550" spc="-12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Apply TreeSHAP to the trained LightGBM model</a:t>
            </a:r>
            <a:endParaRPr lang="en-US" sz="550" dirty="0"/>
          </a:p>
          <a:p>
            <a:pPr algn="l" marL="111760" indent="-111760">
              <a:lnSpc>
                <a:spcPct val="133000"/>
              </a:lnSpc>
              <a:buSzPct val="100000"/>
              <a:buChar char="•"/>
            </a:pPr>
            <a:r>
              <a:rPr lang="en-US" sz="550" spc="-12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Verify trusted domains</a:t>
            </a:r>
            <a:endParaRPr lang="en-US" sz="550" dirty="0"/>
          </a:p>
          <a:p>
            <a:pPr algn="l" marL="111760" indent="-111760">
              <a:lnSpc>
                <a:spcPct val="133000"/>
              </a:lnSpc>
              <a:buSzPct val="100000"/>
              <a:buChar char="•"/>
            </a:pPr>
            <a:r>
              <a:rPr lang="en-US" sz="550" spc="-12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Collect webpage evidence such as forms and password fields</a:t>
            </a:r>
            <a:endParaRPr lang="en-US" sz="550" dirty="0"/>
          </a:p>
          <a:p>
            <a:pPr algn="l" marL="111760" indent="-111760">
              <a:lnSpc>
                <a:spcPct val="133000"/>
              </a:lnSpc>
              <a:buSzPct val="100000"/>
              <a:buChar char="•"/>
            </a:pPr>
            <a:r>
              <a:rPr lang="en-US" sz="550" spc="-12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Retrieve cybersecurity knowledge with TF-IDF-based RAG</a:t>
            </a:r>
            <a:endParaRPr lang="en-US" sz="550" dirty="0"/>
          </a:p>
          <a:p>
            <a:pPr algn="l" marL="111760" indent="-111760">
              <a:lnSpc>
                <a:spcPct val="133000"/>
              </a:lnSpc>
              <a:buSzPct val="100000"/>
              <a:buChar char="•"/>
            </a:pPr>
            <a:r>
              <a:rPr lang="en-US" sz="550" spc="-12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Generate a natural-language explanation using Gemini</a:t>
            </a:r>
            <a:endParaRPr lang="en-US" sz="550" dirty="0"/>
          </a:p>
          <a:p>
            <a:pPr algn="l" marL="111760" indent="-111760">
              <a:lnSpc>
                <a:spcPct val="133000"/>
              </a:lnSpc>
              <a:buSzPct val="100000"/>
              <a:buChar char="•"/>
            </a:pPr>
            <a:r>
              <a:rPr lang="en-US" sz="550" spc="-12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Gemini explains the result but does not change the classifier's decision</a:t>
            </a:r>
            <a:endParaRPr lang="en-US" sz="550" dirty="0"/>
          </a:p>
        </p:txBody>
      </p:sp>
      <p:sp>
        <p:nvSpPr>
          <p:cNvPr id="23" name="Text 21"/>
          <p:cNvSpPr/>
          <p:nvPr/>
        </p:nvSpPr>
        <p:spPr>
          <a:xfrm>
            <a:off x="6133450" y="2968427"/>
            <a:ext cx="150908" cy="943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spc="-12" kern="1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06</a:t>
            </a:r>
            <a:endParaRPr lang="en-US" sz="550" dirty="0"/>
          </a:p>
        </p:txBody>
      </p:sp>
      <p:sp>
        <p:nvSpPr>
          <p:cNvPr id="24" name="Shape 22"/>
          <p:cNvSpPr/>
          <p:nvPr/>
        </p:nvSpPr>
        <p:spPr>
          <a:xfrm>
            <a:off x="6133450" y="3087191"/>
            <a:ext cx="2005260" cy="9525"/>
          </a:xfrm>
          <a:prstGeom prst="rect">
            <a:avLst/>
          </a:prstGeom>
          <a:solidFill>
            <a:srgbClr val="BE49DF"/>
          </a:solidFill>
          <a:ln/>
        </p:spPr>
      </p:sp>
      <p:sp>
        <p:nvSpPr>
          <p:cNvPr id="25" name="Text 23"/>
          <p:cNvSpPr/>
          <p:nvPr/>
        </p:nvSpPr>
        <p:spPr>
          <a:xfrm>
            <a:off x="6133450" y="3143945"/>
            <a:ext cx="2005260" cy="110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spc="-14" kern="1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Stage 06 — Web Application Implementation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6133450" y="3300115"/>
            <a:ext cx="2005260" cy="830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11760" indent="-111760">
              <a:lnSpc>
                <a:spcPct val="133000"/>
              </a:lnSpc>
              <a:buSzPct val="100000"/>
              <a:buChar char="•"/>
            </a:pPr>
            <a:r>
              <a:rPr lang="en-US" sz="550" spc="-12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FastAPI backend for prediction and inference</a:t>
            </a:r>
            <a:endParaRPr lang="en-US" sz="550" dirty="0"/>
          </a:p>
          <a:p>
            <a:pPr algn="l" marL="111760" indent="-111760">
              <a:lnSpc>
                <a:spcPct val="133000"/>
              </a:lnSpc>
              <a:buSzPct val="100000"/>
              <a:buChar char="•"/>
            </a:pPr>
            <a:r>
              <a:rPr lang="en-US" sz="550" spc="-12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React + TypeScript + Vite frontend</a:t>
            </a:r>
            <a:endParaRPr lang="en-US" sz="550" dirty="0"/>
          </a:p>
          <a:p>
            <a:pPr algn="l" marL="111760" indent="-111760">
              <a:lnSpc>
                <a:spcPct val="133000"/>
              </a:lnSpc>
              <a:buSzPct val="100000"/>
              <a:buChar char="•"/>
            </a:pPr>
            <a:r>
              <a:rPr lang="en-US" sz="550" spc="-12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URL + HTML analysis when webpage content is available</a:t>
            </a:r>
            <a:endParaRPr lang="en-US" sz="550" dirty="0"/>
          </a:p>
          <a:p>
            <a:pPr algn="l" marL="111760" indent="-111760">
              <a:lnSpc>
                <a:spcPct val="133000"/>
              </a:lnSpc>
              <a:buSzPct val="100000"/>
              <a:buChar char="•"/>
            </a:pPr>
            <a:r>
              <a:rPr lang="en-US" sz="550" spc="-12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URL-only fallback when webpage retrieval fails</a:t>
            </a:r>
            <a:endParaRPr lang="en-US" sz="550" dirty="0"/>
          </a:p>
          <a:p>
            <a:pPr algn="l" marL="111760" indent="-111760">
              <a:lnSpc>
                <a:spcPct val="133000"/>
              </a:lnSpc>
              <a:buSzPct val="100000"/>
              <a:buChar char="•"/>
            </a:pPr>
            <a:r>
              <a:rPr lang="en-US" sz="550" spc="-12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Display verdict, confidence, domain status, evidence, and explanation</a:t>
            </a:r>
            <a:endParaRPr lang="en-US" sz="55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2885" y="4503737"/>
            <a:ext cx="2676656" cy="1270595"/>
          </a:xfrm>
          <a:prstGeom prst="rect">
            <a:avLst/>
          </a:prstGeom>
        </p:spPr>
      </p:pic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6068" y="4503737"/>
            <a:ext cx="1224924" cy="183743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34739" y="226363"/>
            <a:ext cx="3922019" cy="213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-27" kern="10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MODEL COMPARISON &amp; EXTERNAL VALIDATION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134739" y="466426"/>
            <a:ext cx="3922019" cy="170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-21" kern="10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SECTION 1 — CONTROLLED MODEL COMPARISON</a:t>
            </a:r>
            <a:endParaRPr lang="en-US" sz="10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34739" y="740866"/>
          <a:ext cx="3922019" cy="914400"/>
        </p:xfrm>
        <a:graphic>
          <a:graphicData uri="http://schemas.openxmlformats.org/drawingml/2006/table">
            <a:tbl>
              <a:tblPr/>
              <a:tblGrid>
                <a:gridCol w="1333487"/>
                <a:gridCol w="862844"/>
                <a:gridCol w="862844"/>
                <a:gridCol w="862844"/>
              </a:tblGrid>
              <a:tr h="2105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spc="-11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Model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72471" marR="72471" marT="2307" marB="2307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spc="-11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Accuracy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72471" marR="72471" marT="2307" marB="2307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spc="-11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F1-score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72471" marR="72471" marT="2307" marB="2307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spc="-11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ROC-AUC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72471" marR="72471" marT="2307" marB="2307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37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-11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Random Forest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72471" marR="72471" marT="2307" marB="2307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-11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84.40%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72471" marR="72471" marT="2307" marB="2307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-11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84.62%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72471" marR="72471" marT="2307" marB="2307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-11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92.78%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72471" marR="72471" marT="2307" marB="2307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37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-11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XGBoost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72471" marR="72471" marT="2307" marB="2307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-11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85.30%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72471" marR="72471" marT="2307" marB="2307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-11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85.49%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72471" marR="72471" marT="2307" marB="2307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-11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93.64%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72471" marR="72471" marT="2307" marB="2307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37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-11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CatBoost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72471" marR="72471" marT="2307" marB="2307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-11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85.00%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72471" marR="72471" marT="2307" marB="2307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-11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85.18%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72471" marR="72471" marT="2307" marB="2307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-11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93.78%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72471" marR="72471" marT="2307" marB="2307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37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-11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LightGBM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72471" marR="72471" marT="2307" marB="2307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-11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85.90%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72471" marR="72471" marT="2307" marB="2307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-11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86.00%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72471" marR="72471" marT="2307" marB="2307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-11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93.78%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72471" marR="72471" marT="2307" marB="2307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37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-11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DistilBERT-only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72471" marR="72471" marT="2307" marB="2307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-11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82.20%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72471" marR="72471" marT="2307" marB="2307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-11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82.72%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72471" marR="72471" marT="2307" marB="2307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-11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90.73%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72471" marR="72471" marT="2307" marB="2307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5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spc="-11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PhishXpert Hybrid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72471" marR="72471" marT="2307" marB="2307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spc="-11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88.30%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72471" marR="72471" marT="2307" marB="2307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spc="-11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88.52%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72471" marR="72471" marT="2307" marB="2307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spc="-11" kern="1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95.54%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72471" marR="72471" marT="2307" marB="2307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134739" y="2324695"/>
            <a:ext cx="3922019" cy="1013916"/>
          </a:xfrm>
          <a:prstGeom prst="roundRect">
            <a:avLst>
              <a:gd name="adj" fmla="val 3002"/>
            </a:avLst>
          </a:prstGeom>
          <a:solidFill>
            <a:srgbClr val="F0D4F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7167" y="2427982"/>
            <a:ext cx="90584" cy="7243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70179" y="2415183"/>
            <a:ext cx="3614151" cy="840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500"/>
              </a:spcAft>
              <a:buNone/>
            </a:pPr>
            <a:r>
              <a:rPr lang="en-US" sz="550" b="1" spc="-11" kern="100" dirty="0">
                <a:solidFill>
                  <a:srgbClr val="00000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0"/>
              </a:rPr>
              <a:t>HYBRID vs LIGHTGBM BASELINE</a:t>
            </a:r>
            <a:endParaRPr lang="en-US" sz="550" dirty="0"/>
          </a:p>
          <a:p>
            <a:pPr algn="l" indent="0" marL="0">
              <a:lnSpc>
                <a:spcPct val="133000"/>
              </a:lnSpc>
              <a:spcAft>
                <a:spcPts val="500"/>
              </a:spcAft>
              <a:buNone/>
            </a:pPr>
            <a:r>
              <a:rPr lang="en-US" sz="550" spc="-11" kern="1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+2.40 pp Accuracy</a:t>
            </a:r>
            <a:endParaRPr lang="en-US" sz="550" dirty="0"/>
          </a:p>
          <a:p>
            <a:pPr algn="l" indent="0" marL="0">
              <a:lnSpc>
                <a:spcPct val="133000"/>
              </a:lnSpc>
              <a:spcAft>
                <a:spcPts val="500"/>
              </a:spcAft>
              <a:buNone/>
            </a:pPr>
            <a:r>
              <a:rPr lang="en-US" sz="550" spc="-11" kern="1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+2.52 pp F1-score</a:t>
            </a:r>
            <a:endParaRPr lang="en-US" sz="550" dirty="0"/>
          </a:p>
          <a:p>
            <a:pPr algn="l" indent="0" marL="0">
              <a:lnSpc>
                <a:spcPct val="133000"/>
              </a:lnSpc>
              <a:spcAft>
                <a:spcPts val="500"/>
              </a:spcAft>
              <a:buNone/>
            </a:pPr>
            <a:r>
              <a:rPr lang="en-US" sz="550" spc="-11" kern="1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+1.76 pp ROC-AUC</a:t>
            </a:r>
            <a:endParaRPr lang="en-US" sz="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550" spc="-11" kern="1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+3.60 pp Recall</a:t>
            </a:r>
            <a:endParaRPr lang="en-US" sz="550" dirty="0"/>
          </a:p>
        </p:txBody>
      </p:sp>
      <p:sp>
        <p:nvSpPr>
          <p:cNvPr id="8" name="Shape 4"/>
          <p:cNvSpPr/>
          <p:nvPr/>
        </p:nvSpPr>
        <p:spPr>
          <a:xfrm>
            <a:off x="4134739" y="3438128"/>
            <a:ext cx="3922019" cy="9227"/>
          </a:xfrm>
          <a:prstGeom prst="roundRect">
            <a:avLst>
              <a:gd name="adj" fmla="val 50001"/>
            </a:avLst>
          </a:prstGeom>
          <a:solidFill>
            <a:srgbClr val="272525">
              <a:alpha val="50000"/>
            </a:srgbClr>
          </a:solidFill>
          <a:ln/>
        </p:spPr>
      </p:sp>
      <p:sp>
        <p:nvSpPr>
          <p:cNvPr id="9" name="Text 5"/>
          <p:cNvSpPr/>
          <p:nvPr/>
        </p:nvSpPr>
        <p:spPr>
          <a:xfrm>
            <a:off x="4134739" y="3578720"/>
            <a:ext cx="3922019" cy="170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-21" kern="10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SECTION 2 — EXTERNAL VALIDATION: COMPPHISH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4134739" y="3853160"/>
            <a:ext cx="3922019" cy="510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600"/>
              </a:spcAft>
              <a:buNone/>
            </a:pPr>
            <a:r>
              <a:rPr lang="en-US" sz="550" spc="-11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Dataset: 3,000 usable HTML pages</a:t>
            </a:r>
            <a:endParaRPr lang="en-US" sz="550" dirty="0"/>
          </a:p>
          <a:p>
            <a:pPr algn="l" indent="0" marL="0">
              <a:lnSpc>
                <a:spcPct val="133000"/>
              </a:lnSpc>
              <a:spcAft>
                <a:spcPts val="600"/>
              </a:spcAft>
              <a:buNone/>
            </a:pPr>
            <a:r>
              <a:rPr lang="en-US" sz="550" spc="-11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Composition: 1,500 benign + 1,500 phishing</a:t>
            </a:r>
            <a:endParaRPr lang="en-US" sz="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550" spc="-11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Status: D1-trained model — NO RETRAINING</a:t>
            </a:r>
            <a:endParaRPr lang="en-US" sz="550" dirty="0"/>
          </a:p>
        </p:txBody>
      </p:sp>
      <p:sp>
        <p:nvSpPr>
          <p:cNvPr id="11" name="Text 7"/>
          <p:cNvSpPr/>
          <p:nvPr/>
        </p:nvSpPr>
        <p:spPr>
          <a:xfrm>
            <a:off x="4134739" y="4475730"/>
            <a:ext cx="3922019" cy="10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spc="-13" kern="10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Metrics:</a:t>
            </a:r>
            <a:endParaRPr lang="en-US" sz="650" dirty="0"/>
          </a:p>
        </p:txBody>
      </p:sp>
      <p:sp>
        <p:nvSpPr>
          <p:cNvPr id="12" name="Text 8"/>
          <p:cNvSpPr/>
          <p:nvPr/>
        </p:nvSpPr>
        <p:spPr>
          <a:xfrm>
            <a:off x="4134739" y="4723705"/>
            <a:ext cx="1246950" cy="239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850" spc="-38" kern="1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68.80%</a:t>
            </a:r>
            <a:endParaRPr lang="en-US" sz="1850" dirty="0"/>
          </a:p>
        </p:txBody>
      </p:sp>
      <p:sp>
        <p:nvSpPr>
          <p:cNvPr id="13" name="Text 9"/>
          <p:cNvSpPr/>
          <p:nvPr/>
        </p:nvSpPr>
        <p:spPr>
          <a:xfrm>
            <a:off x="4134689" y="5053310"/>
            <a:ext cx="1246950" cy="10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spc="-13" kern="1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Accuracy</a:t>
            </a:r>
            <a:endParaRPr lang="en-US" sz="650" dirty="0"/>
          </a:p>
        </p:txBody>
      </p:sp>
      <p:sp>
        <p:nvSpPr>
          <p:cNvPr id="14" name="Text 10"/>
          <p:cNvSpPr/>
          <p:nvPr/>
        </p:nvSpPr>
        <p:spPr>
          <a:xfrm>
            <a:off x="5472273" y="4723705"/>
            <a:ext cx="1246950" cy="239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850" spc="-38" kern="1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61.81%</a:t>
            </a:r>
            <a:endParaRPr lang="en-US" sz="1850" dirty="0"/>
          </a:p>
        </p:txBody>
      </p:sp>
      <p:sp>
        <p:nvSpPr>
          <p:cNvPr id="15" name="Text 11"/>
          <p:cNvSpPr/>
          <p:nvPr/>
        </p:nvSpPr>
        <p:spPr>
          <a:xfrm>
            <a:off x="5472224" y="5053310"/>
            <a:ext cx="1246950" cy="10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spc="-13" kern="1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Precision</a:t>
            </a:r>
            <a:endParaRPr lang="en-US" sz="650" dirty="0"/>
          </a:p>
        </p:txBody>
      </p:sp>
      <p:sp>
        <p:nvSpPr>
          <p:cNvPr id="16" name="Text 12"/>
          <p:cNvSpPr/>
          <p:nvPr/>
        </p:nvSpPr>
        <p:spPr>
          <a:xfrm>
            <a:off x="6809808" y="4723705"/>
            <a:ext cx="1246950" cy="239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850" spc="-38" kern="1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98.40%</a:t>
            </a:r>
            <a:endParaRPr lang="en-US" sz="1850" dirty="0"/>
          </a:p>
        </p:txBody>
      </p:sp>
      <p:sp>
        <p:nvSpPr>
          <p:cNvPr id="17" name="Text 13"/>
          <p:cNvSpPr/>
          <p:nvPr/>
        </p:nvSpPr>
        <p:spPr>
          <a:xfrm>
            <a:off x="6809758" y="5053310"/>
            <a:ext cx="1246950" cy="10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spc="-13" kern="1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Recall</a:t>
            </a:r>
            <a:endParaRPr lang="en-US" sz="650" dirty="0"/>
          </a:p>
        </p:txBody>
      </p:sp>
      <p:sp>
        <p:nvSpPr>
          <p:cNvPr id="18" name="Text 14"/>
          <p:cNvSpPr/>
          <p:nvPr/>
        </p:nvSpPr>
        <p:spPr>
          <a:xfrm>
            <a:off x="4134739" y="5277445"/>
            <a:ext cx="1246950" cy="239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850" spc="-38" kern="1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75.93%</a:t>
            </a:r>
            <a:endParaRPr lang="en-US" sz="1850" dirty="0"/>
          </a:p>
        </p:txBody>
      </p:sp>
      <p:sp>
        <p:nvSpPr>
          <p:cNvPr id="19" name="Text 15"/>
          <p:cNvSpPr/>
          <p:nvPr/>
        </p:nvSpPr>
        <p:spPr>
          <a:xfrm>
            <a:off x="4134689" y="5607050"/>
            <a:ext cx="1246950" cy="10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spc="-13" kern="1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F1-score</a:t>
            </a:r>
            <a:endParaRPr lang="en-US" sz="650" dirty="0"/>
          </a:p>
        </p:txBody>
      </p:sp>
      <p:sp>
        <p:nvSpPr>
          <p:cNvPr id="20" name="Text 16"/>
          <p:cNvSpPr/>
          <p:nvPr/>
        </p:nvSpPr>
        <p:spPr>
          <a:xfrm>
            <a:off x="5472273" y="5277445"/>
            <a:ext cx="1246950" cy="239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850" spc="-38" kern="1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83.50%</a:t>
            </a:r>
            <a:endParaRPr lang="en-US" sz="1850" dirty="0"/>
          </a:p>
        </p:txBody>
      </p:sp>
      <p:sp>
        <p:nvSpPr>
          <p:cNvPr id="21" name="Text 17"/>
          <p:cNvSpPr/>
          <p:nvPr/>
        </p:nvSpPr>
        <p:spPr>
          <a:xfrm>
            <a:off x="5472224" y="5607050"/>
            <a:ext cx="1246950" cy="10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spc="-13" kern="1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ROC-AUC</a:t>
            </a:r>
            <a:endParaRPr lang="en-US" sz="650" dirty="0"/>
          </a:p>
        </p:txBody>
      </p:sp>
      <p:sp>
        <p:nvSpPr>
          <p:cNvPr id="22" name="Text 18"/>
          <p:cNvSpPr/>
          <p:nvPr/>
        </p:nvSpPr>
        <p:spPr>
          <a:xfrm>
            <a:off x="6809808" y="5277445"/>
            <a:ext cx="1246950" cy="239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850" spc="-38" kern="1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78.37%</a:t>
            </a:r>
            <a:endParaRPr lang="en-US" sz="1850" dirty="0"/>
          </a:p>
        </p:txBody>
      </p:sp>
      <p:sp>
        <p:nvSpPr>
          <p:cNvPr id="23" name="Text 19"/>
          <p:cNvSpPr/>
          <p:nvPr/>
        </p:nvSpPr>
        <p:spPr>
          <a:xfrm>
            <a:off x="6809758" y="5607050"/>
            <a:ext cx="1246950" cy="10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spc="-13" kern="1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PR-AUC</a:t>
            </a:r>
            <a:endParaRPr lang="en-US" sz="650" dirty="0"/>
          </a:p>
        </p:txBody>
      </p:sp>
      <p:sp>
        <p:nvSpPr>
          <p:cNvPr id="24" name="Text 20"/>
          <p:cNvSpPr/>
          <p:nvPr/>
        </p:nvSpPr>
        <p:spPr>
          <a:xfrm>
            <a:off x="4134739" y="5831185"/>
            <a:ext cx="3922019" cy="239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850" spc="-38" kern="1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39.20%</a:t>
            </a:r>
            <a:endParaRPr lang="en-US" sz="1850" dirty="0"/>
          </a:p>
        </p:txBody>
      </p:sp>
      <p:sp>
        <p:nvSpPr>
          <p:cNvPr id="25" name="Text 21"/>
          <p:cNvSpPr/>
          <p:nvPr/>
        </p:nvSpPr>
        <p:spPr>
          <a:xfrm>
            <a:off x="4134689" y="6160790"/>
            <a:ext cx="3922019" cy="10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spc="-13" kern="1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Specificity</a:t>
            </a:r>
            <a:endParaRPr lang="en-US" sz="650" dirty="0"/>
          </a:p>
        </p:txBody>
      </p:sp>
      <p:sp>
        <p:nvSpPr>
          <p:cNvPr id="26" name="Shape 22"/>
          <p:cNvSpPr/>
          <p:nvPr/>
        </p:nvSpPr>
        <p:spPr>
          <a:xfrm>
            <a:off x="4134739" y="6348710"/>
            <a:ext cx="3922019" cy="289620"/>
          </a:xfrm>
          <a:prstGeom prst="roundRect">
            <a:avLst>
              <a:gd name="adj" fmla="val 10510"/>
            </a:avLst>
          </a:prstGeom>
          <a:solidFill>
            <a:srgbClr val="F0D4F7"/>
          </a:solidFill>
          <a:ln/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7167" y="6451997"/>
            <a:ext cx="90584" cy="7243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4370179" y="6439198"/>
            <a:ext cx="4223736" cy="115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550" spc="-11" kern="1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"High phishing recall but reduced benign specificity indicates distribution shift between D1 and CompPhish."</a:t>
            </a:r>
            <a:endParaRPr lang="en-US" sz="5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16074"/>
            <a:ext cx="10795524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spc="-67" kern="10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PERFORMANCE EVALUATION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98086" y="1553185"/>
            <a:ext cx="5177303" cy="318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spc="-40" kern="10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D1 CONTROLLED TEST RESULTS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086" y="2044105"/>
            <a:ext cx="2506699" cy="331390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55" y="2250281"/>
            <a:ext cx="1992759" cy="7977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spc="-33" kern="1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PHISHXPERT HYBRID PERFORMANCE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005855" y="3211810"/>
            <a:ext cx="1992759" cy="1940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27000"/>
              </a:lnSpc>
              <a:buSzPct val="100000"/>
              <a:buChar char="•"/>
            </a:pPr>
            <a:r>
              <a:rPr lang="en-US" sz="1400" spc="-28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Accuracy: 88.30%</a:t>
            </a:r>
            <a:endParaRPr lang="en-US" sz="1400" dirty="0"/>
          </a:p>
          <a:p>
            <a:pPr algn="l" marL="284480" indent="-284480">
              <a:lnSpc>
                <a:spcPct val="127000"/>
              </a:lnSpc>
              <a:buSzPct val="100000"/>
              <a:buChar char="•"/>
            </a:pPr>
            <a:r>
              <a:rPr lang="en-US" sz="1400" spc="-28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Precision: 86.90%</a:t>
            </a:r>
            <a:endParaRPr lang="en-US" sz="1400" dirty="0"/>
          </a:p>
          <a:p>
            <a:pPr algn="l" marL="284480" indent="-284480">
              <a:lnSpc>
                <a:spcPct val="127000"/>
              </a:lnSpc>
              <a:buSzPct val="100000"/>
              <a:buChar char="•"/>
            </a:pPr>
            <a:r>
              <a:rPr lang="en-US" sz="1400" spc="-28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Recall: 90.20%</a:t>
            </a:r>
            <a:endParaRPr lang="en-US" sz="1400" dirty="0"/>
          </a:p>
          <a:p>
            <a:pPr algn="l" marL="284480" indent="-284480">
              <a:lnSpc>
                <a:spcPct val="127000"/>
              </a:lnSpc>
              <a:buSzPct val="100000"/>
              <a:buChar char="•"/>
            </a:pPr>
            <a:r>
              <a:rPr lang="en-US" sz="1400" spc="-28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F1-score: 88.52%</a:t>
            </a:r>
            <a:endParaRPr lang="en-US" sz="1400" dirty="0"/>
          </a:p>
          <a:p>
            <a:pPr algn="l" marL="284480" indent="-284480">
              <a:lnSpc>
                <a:spcPct val="127000"/>
              </a:lnSpc>
              <a:buSzPct val="100000"/>
              <a:buChar char="•"/>
            </a:pPr>
            <a:r>
              <a:rPr lang="en-US" sz="1400" spc="-28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ROC-AUC: 95.54%</a:t>
            </a:r>
            <a:endParaRPr lang="en-US" sz="1400" dirty="0"/>
          </a:p>
          <a:p>
            <a:pPr algn="l" marL="284480" indent="-284480">
              <a:lnSpc>
                <a:spcPct val="127000"/>
              </a:lnSpc>
              <a:buSzPct val="100000"/>
              <a:buChar char="•"/>
            </a:pPr>
            <a:r>
              <a:rPr lang="en-US" sz="1400" spc="-28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PR-AUC: 96.07%</a:t>
            </a:r>
            <a:endParaRPr lang="en-US" sz="1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68591" y="2044105"/>
            <a:ext cx="2506798" cy="331390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676360" y="2250281"/>
            <a:ext cx="1992858" cy="5318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spc="-33" kern="1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VS LIGHTGBM BASELINE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3676360" y="2945904"/>
            <a:ext cx="1992858" cy="1274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27000"/>
              </a:lnSpc>
              <a:buSzPct val="100000"/>
              <a:buChar char="•"/>
            </a:pPr>
            <a:r>
              <a:rPr lang="en-US" sz="1400" spc="-28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+2.40 pp Accuracy</a:t>
            </a:r>
            <a:endParaRPr lang="en-US" sz="1400" dirty="0"/>
          </a:p>
          <a:p>
            <a:pPr algn="l" marL="284480" indent="-284480">
              <a:lnSpc>
                <a:spcPct val="127000"/>
              </a:lnSpc>
              <a:buSzPct val="100000"/>
              <a:buChar char="•"/>
            </a:pPr>
            <a:r>
              <a:rPr lang="en-US" sz="1400" spc="-28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+2.52 pp F1-score</a:t>
            </a:r>
            <a:endParaRPr lang="en-US" sz="1400" dirty="0"/>
          </a:p>
          <a:p>
            <a:pPr algn="l" marL="284480" indent="-284480">
              <a:lnSpc>
                <a:spcPct val="127000"/>
              </a:lnSpc>
              <a:buSzPct val="100000"/>
              <a:buChar char="•"/>
            </a:pPr>
            <a:r>
              <a:rPr lang="en-US" sz="1400" spc="-28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+1.76 pp ROC-AUC</a:t>
            </a:r>
            <a:endParaRPr lang="en-US" sz="1400" dirty="0"/>
          </a:p>
          <a:p>
            <a:pPr algn="l" marL="284480" indent="-284480">
              <a:lnSpc>
                <a:spcPct val="127000"/>
              </a:lnSpc>
              <a:buSzPct val="100000"/>
              <a:buChar char="•"/>
            </a:pPr>
            <a:r>
              <a:rPr lang="en-US" sz="1400" spc="-28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+3.60 pp Recall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98086" y="5542260"/>
            <a:ext cx="5786888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00" b="1" spc="-28" kern="10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0"/>
              </a:rPr>
              <a:t>Dataset:</a:t>
            </a:r>
            <a:pPr algn="l" indent="0" marL="0">
              <a:lnSpc>
                <a:spcPct val="127000"/>
              </a:lnSpc>
              <a:buNone/>
            </a:pPr>
            <a:r>
              <a:rPr lang="en-US" sz="1400" spc="-28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 5,000 webpages (4,000 train / 1,000 test)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322656" y="1553185"/>
            <a:ext cx="5177303" cy="318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spc="-40" kern="10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EXTERNAL VALIDATION: COMPPHISH</a:t>
            </a:r>
            <a:endParaRPr lang="en-US" sz="2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22656" y="2044105"/>
            <a:ext cx="5177303" cy="244921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630425" y="2250281"/>
            <a:ext cx="4663363" cy="265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spc="-33" kern="1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COMPPHISH RESULTS </a:t>
            </a:r>
            <a:pPr algn="l" indent="0" marL="0">
              <a:lnSpc>
                <a:spcPct val="104000"/>
              </a:lnSpc>
              <a:buNone/>
            </a:pPr>
            <a:r>
              <a:rPr lang="en-US" sz="1650" spc="-33" kern="10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(NO RETRAINING)</a:t>
            </a:r>
            <a:endParaRPr lang="en-US" sz="1650" dirty="0"/>
          </a:p>
        </p:txBody>
      </p:sp>
      <p:sp>
        <p:nvSpPr>
          <p:cNvPr id="14" name="Text 9"/>
          <p:cNvSpPr/>
          <p:nvPr/>
        </p:nvSpPr>
        <p:spPr>
          <a:xfrm>
            <a:off x="6630425" y="2679998"/>
            <a:ext cx="4663363" cy="1607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27000"/>
              </a:lnSpc>
              <a:buSzPct val="100000"/>
              <a:buChar char="•"/>
            </a:pPr>
            <a:r>
              <a:rPr lang="en-US" sz="1400" spc="-28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Accuracy: 68.80%</a:t>
            </a:r>
            <a:endParaRPr lang="en-US" sz="1400" dirty="0"/>
          </a:p>
          <a:p>
            <a:pPr algn="l" marL="284480" indent="-284480">
              <a:lnSpc>
                <a:spcPct val="127000"/>
              </a:lnSpc>
              <a:buSzPct val="100000"/>
              <a:buChar char="•"/>
            </a:pPr>
            <a:r>
              <a:rPr lang="en-US" sz="1400" spc="-28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Recall: 98.40%</a:t>
            </a:r>
            <a:endParaRPr lang="en-US" sz="1400" dirty="0"/>
          </a:p>
          <a:p>
            <a:pPr algn="l" marL="284480" indent="-284480">
              <a:lnSpc>
                <a:spcPct val="127000"/>
              </a:lnSpc>
              <a:buSzPct val="100000"/>
              <a:buChar char="•"/>
            </a:pPr>
            <a:r>
              <a:rPr lang="en-US" sz="1400" spc="-28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F1-score: 75.93%</a:t>
            </a:r>
            <a:endParaRPr lang="en-US" sz="1400" dirty="0"/>
          </a:p>
          <a:p>
            <a:pPr algn="l" marL="284480" indent="-284480">
              <a:lnSpc>
                <a:spcPct val="127000"/>
              </a:lnSpc>
              <a:buSzPct val="100000"/>
              <a:buChar char="•"/>
            </a:pPr>
            <a:r>
              <a:rPr lang="en-US" sz="1400" spc="-28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ROC-AUC: 83.50%</a:t>
            </a:r>
            <a:endParaRPr lang="en-US" sz="1400" dirty="0"/>
          </a:p>
          <a:p>
            <a:pPr algn="l" marL="284480" indent="-284480">
              <a:lnSpc>
                <a:spcPct val="127000"/>
              </a:lnSpc>
              <a:buSzPct val="100000"/>
              <a:buChar char="•"/>
            </a:pPr>
            <a:r>
              <a:rPr lang="en-US" sz="1400" spc="-28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Specificity: 39.20%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322656" y="4677569"/>
            <a:ext cx="5786888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00" b="1" spc="-28" kern="10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0"/>
              </a:rPr>
              <a:t>Dataset:</a:t>
            </a:r>
            <a:pPr algn="l" indent="0" marL="0">
              <a:lnSpc>
                <a:spcPct val="127000"/>
              </a:lnSpc>
              <a:buNone/>
            </a:pPr>
            <a:r>
              <a:rPr lang="en-US" sz="1400" spc="-28" kern="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 3,000 usable HTML pages (1,500 benign / 1,500 phishing)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322656" y="5137448"/>
            <a:ext cx="5177303" cy="936427"/>
          </a:xfrm>
          <a:prstGeom prst="roundRect">
            <a:avLst>
              <a:gd name="adj" fmla="val 8108"/>
            </a:avLst>
          </a:prstGeom>
          <a:solidFill>
            <a:srgbClr val="F0D4F7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3428" y="5378648"/>
            <a:ext cx="225915" cy="18077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10115" y="5330031"/>
            <a:ext cx="4409072" cy="551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00" spc="-28" kern="1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High phishing recall but reduced benign specificity indicates distribution shift between D1 and CompPhish.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71821"/>
            <a:ext cx="10795524" cy="348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spc="-44" kern="10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0"/>
              </a:rPr>
              <a:t>COMPARATIVE ANALYSIS</a:t>
            </a:r>
            <a:endParaRPr lang="en-US" sz="2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1052612"/>
            <a:ext cx="9475253" cy="501163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2026-10-29T08:25:32Z</dcterms:created>
  <dcterms:modified xsi:type="dcterms:W3CDTF">2026-10-29T08:25:32Z</dcterms:modified>
</cp:coreProperties>
</file>